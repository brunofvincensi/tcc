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89" r:id="rId4"/>
    <p:sldId id="259" r:id="rId5"/>
    <p:sldId id="272" r:id="rId6"/>
    <p:sldId id="271" r:id="rId7"/>
    <p:sldId id="260" r:id="rId8"/>
    <p:sldId id="269" r:id="rId9"/>
    <p:sldId id="276" r:id="rId10"/>
    <p:sldId id="263" r:id="rId11"/>
    <p:sldId id="273" r:id="rId12"/>
    <p:sldId id="277" r:id="rId13"/>
    <p:sldId id="274" r:id="rId14"/>
    <p:sldId id="264" r:id="rId15"/>
    <p:sldId id="265" r:id="rId16"/>
    <p:sldId id="278" r:id="rId17"/>
    <p:sldId id="267" r:id="rId18"/>
    <p:sldId id="279" r:id="rId19"/>
    <p:sldId id="280" r:id="rId20"/>
    <p:sldId id="281" r:id="rId21"/>
    <p:sldId id="282" r:id="rId22"/>
    <p:sldId id="290" r:id="rId23"/>
    <p:sldId id="283" r:id="rId24"/>
    <p:sldId id="284" r:id="rId25"/>
    <p:sldId id="285" r:id="rId26"/>
    <p:sldId id="286" r:id="rId27"/>
    <p:sldId id="287" r:id="rId28"/>
    <p:sldId id="288" r:id="rId2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6" autoAdjust="0"/>
    <p:restoredTop sz="94660"/>
  </p:normalViewPr>
  <p:slideViewPr>
    <p:cSldViewPr>
      <p:cViewPr varScale="1">
        <p:scale>
          <a:sx n="78" d="100"/>
          <a:sy n="78" d="100"/>
        </p:scale>
        <p:origin x="14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Capobianco Lopes" userId="e2602793-81ee-4f40-ac4e-f7a7f9d1e175" providerId="ADAL" clId="{7F704396-5C0A-4773-8443-574AD5DF6845}"/>
    <pc:docChg chg="modSld">
      <pc:chgData name="Mauricio Capobianco Lopes" userId="e2602793-81ee-4f40-ac4e-f7a7f9d1e175" providerId="ADAL" clId="{7F704396-5C0A-4773-8443-574AD5DF6845}" dt="2020-02-27T15:12:44.677" v="4" actId="20577"/>
      <pc:docMkLst>
        <pc:docMk/>
      </pc:docMkLst>
      <pc:sldChg chg="modSp">
        <pc:chgData name="Mauricio Capobianco Lopes" userId="e2602793-81ee-4f40-ac4e-f7a7f9d1e175" providerId="ADAL" clId="{7F704396-5C0A-4773-8443-574AD5DF6845}" dt="2020-02-27T15:12:35.257" v="1" actId="20577"/>
        <pc:sldMkLst>
          <pc:docMk/>
          <pc:sldMk cId="2489010789" sldId="261"/>
        </pc:sldMkLst>
        <pc:spChg chg="mod">
          <ac:chgData name="Mauricio Capobianco Lopes" userId="e2602793-81ee-4f40-ac4e-f7a7f9d1e175" providerId="ADAL" clId="{7F704396-5C0A-4773-8443-574AD5DF6845}" dt="2020-02-27T15:12:35.257" v="1" actId="20577"/>
          <ac:spMkLst>
            <pc:docMk/>
            <pc:sldMk cId="2489010789" sldId="261"/>
            <ac:spMk id="3" creationId="{00000000-0000-0000-0000-000000000000}"/>
          </ac:spMkLst>
        </pc:spChg>
      </pc:sldChg>
      <pc:sldChg chg="modSp">
        <pc:chgData name="Mauricio Capobianco Lopes" userId="e2602793-81ee-4f40-ac4e-f7a7f9d1e175" providerId="ADAL" clId="{7F704396-5C0A-4773-8443-574AD5DF6845}" dt="2020-02-27T15:12:44.677" v="4" actId="20577"/>
        <pc:sldMkLst>
          <pc:docMk/>
          <pc:sldMk cId="1958979546" sldId="262"/>
        </pc:sldMkLst>
        <pc:spChg chg="mod">
          <ac:chgData name="Mauricio Capobianco Lopes" userId="e2602793-81ee-4f40-ac4e-f7a7f9d1e175" providerId="ADAL" clId="{7F704396-5C0A-4773-8443-574AD5DF6845}" dt="2020-02-27T15:12:44.677" v="4" actId="20577"/>
          <ac:spMkLst>
            <pc:docMk/>
            <pc:sldMk cId="1958979546" sldId="262"/>
            <ac:spMk id="3" creationId="{00000000-0000-0000-0000-000000000000}"/>
          </ac:spMkLst>
        </pc:spChg>
      </pc:sldChg>
    </pc:docChg>
  </pc:docChgLst>
  <pc:docChgLst>
    <pc:chgData name="Mauricio Capobianco Lopes" userId="e2602793-81ee-4f40-ac4e-f7a7f9d1e175" providerId="ADAL" clId="{5E4B7503-6885-43C1-8A95-77DFDBD689BD}"/>
    <pc:docChg chg="custSel modSld">
      <pc:chgData name="Mauricio Capobianco Lopes" userId="e2602793-81ee-4f40-ac4e-f7a7f9d1e175" providerId="ADAL" clId="{5E4B7503-6885-43C1-8A95-77DFDBD689BD}" dt="2019-11-21T21:38:28.451" v="70" actId="20577"/>
      <pc:docMkLst>
        <pc:docMk/>
      </pc:docMkLst>
      <pc:sldChg chg="modSp">
        <pc:chgData name="Mauricio Capobianco Lopes" userId="e2602793-81ee-4f40-ac4e-f7a7f9d1e175" providerId="ADAL" clId="{5E4B7503-6885-43C1-8A95-77DFDBD689BD}" dt="2019-11-21T21:38:28.451" v="70" actId="20577"/>
        <pc:sldMkLst>
          <pc:docMk/>
          <pc:sldMk cId="2007070856" sldId="264"/>
        </pc:sldMkLst>
        <pc:spChg chg="mod">
          <ac:chgData name="Mauricio Capobianco Lopes" userId="e2602793-81ee-4f40-ac4e-f7a7f9d1e175" providerId="ADAL" clId="{5E4B7503-6885-43C1-8A95-77DFDBD689BD}" dt="2019-11-21T21:38:28.451" v="70" actId="20577"/>
          <ac:spMkLst>
            <pc:docMk/>
            <pc:sldMk cId="2007070856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96437-F7D9-40B8-A35B-D87DF8836B3E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50F01-1D47-4D35-BBD8-DAC2146C93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17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50F01-1D47-4D35-BBD8-DAC2146C9345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146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C80D-3DC6-4F60-1226-F3195BC8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10F99C-9BCC-B651-2FC4-4CCE21E31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CB865A-50A8-C629-6A21-90905990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5EC36D-C89A-2BA4-3D53-210006117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50F01-1D47-4D35-BBD8-DAC2146C934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32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51E00-8267-4604-A477-06D690F3831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80520"/>
          </a:xfrm>
        </p:spPr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8E297-6CBE-4718-A55E-559A2615A1B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6A142-61B5-4E3D-90E3-37CCCA5B8200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46EF70-771F-4125-BD92-2CF85D34D26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55F65-09CC-47BE-B43C-09A283D2E9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2316F-EB17-4252-8A8C-611AED72FBAB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138E0-A9D7-4867-995F-585EB895710D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F3198-B843-4265-ABF0-65946D3BF37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879FC-8726-479C-A2CE-57C987F54908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B5B2E-7B09-42BA-B78A-718198AF402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A41635-D202-4D10-8FA9-DA258B96F66E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277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F5D6D9-064D-480F-AE44-1D22C9D85F98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352928" cy="1470025"/>
          </a:xfrm>
        </p:spPr>
        <p:txBody>
          <a:bodyPr/>
          <a:lstStyle/>
          <a:p>
            <a:r>
              <a:rPr lang="pt-BR" sz="3200" dirty="0"/>
              <a:t>OTIMIZAÇÃO DE PORTFÓLIOS PERSONALIZADOS COM ALGORITMO GENÉTICO MULTIOBJETIVO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Aluno(a): Bruno F. Vincensi e Alexandre S. Zabel</a:t>
            </a:r>
          </a:p>
          <a:p>
            <a:endParaRPr lang="pt-BR" dirty="0"/>
          </a:p>
          <a:p>
            <a:r>
              <a:rPr lang="pt-BR" dirty="0"/>
              <a:t>Orientador: Aurélio Faustino </a:t>
            </a:r>
            <a:r>
              <a:rPr lang="pt-BR" dirty="0" err="1"/>
              <a:t>Hoppe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 </a:t>
            </a:r>
          </a:p>
          <a:p>
            <a:r>
              <a:rPr lang="pt-BR" dirty="0"/>
              <a:t>Objetivos</a:t>
            </a:r>
          </a:p>
          <a:p>
            <a:r>
              <a:rPr lang="pt-BR" dirty="0"/>
              <a:t>Fundamentação Teórica</a:t>
            </a:r>
          </a:p>
          <a:p>
            <a:r>
              <a:rPr lang="pt-BR" dirty="0"/>
              <a:t>Revisão sistemática</a:t>
            </a:r>
          </a:p>
          <a:p>
            <a:r>
              <a:rPr lang="pt-BR" dirty="0"/>
              <a:t>Trabalhos Correlatos</a:t>
            </a:r>
          </a:p>
          <a:p>
            <a:r>
              <a:rPr lang="pt-BR" dirty="0"/>
              <a:t>Desenvolvimento</a:t>
            </a:r>
          </a:p>
          <a:p>
            <a:r>
              <a:rPr lang="pt-BR" dirty="0"/>
              <a:t>Conclusões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99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DA50-FD8C-ACA8-CE39-671DAE74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B3C06-DE97-5DB8-28A8-7184D1B0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pic>
        <p:nvPicPr>
          <p:cNvPr id="9218" name="Picture 2" descr="Introdução aos Algoritmos Genéticos">
            <a:extLst>
              <a:ext uri="{FF2B5EF4-FFF2-40B4-BE49-F238E27FC236}">
                <a16:creationId xmlns:a16="http://schemas.microsoft.com/office/drawing/2014/main" id="{C320D7D8-50FB-1E7B-4082-9DC751E00F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" y="1412776"/>
            <a:ext cx="7019925" cy="467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349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(1/2)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b="1" dirty="0"/>
              <a:t>Contexto do Investidor Brasileiro</a:t>
            </a:r>
          </a:p>
          <a:p>
            <a:r>
              <a:rPr lang="pt-BR" b="1" dirty="0"/>
              <a:t>64% dos brasileiros </a:t>
            </a:r>
            <a:r>
              <a:rPr lang="pt-BR" dirty="0"/>
              <a:t>não sabem reconhecer um bom investimento</a:t>
            </a:r>
          </a:p>
          <a:p>
            <a:r>
              <a:rPr lang="pt-BR" dirty="0"/>
              <a:t>produtos adequados.</a:t>
            </a:r>
          </a:p>
          <a:p>
            <a:r>
              <a:rPr lang="pt-BR" dirty="0"/>
              <a:t>A maioria depende de opiniões de terceiros</a:t>
            </a:r>
          </a:p>
          <a:p>
            <a:r>
              <a:rPr lang="pt-BR" dirty="0"/>
              <a:t>Assessores de investimentos gastam muito tempo para construir portifólios personalizados para seus clientes.</a:t>
            </a:r>
          </a:p>
          <a:p>
            <a:r>
              <a:rPr lang="pt-BR" dirty="0"/>
              <a:t>Internet com diversos meios de propagação de recomendações de ativos específicos.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b="1" dirty="0"/>
              <a:t>Desafios Atuais</a:t>
            </a:r>
          </a:p>
          <a:p>
            <a:r>
              <a:rPr lang="pt-BR" dirty="0"/>
              <a:t>Excesso de informações e recomendações conflitantes online.</a:t>
            </a:r>
          </a:p>
          <a:p>
            <a:r>
              <a:rPr lang="pt-BR" dirty="0"/>
              <a:t>Dificuldade em filtrar análises confiáveis.</a:t>
            </a:r>
          </a:p>
          <a:p>
            <a:r>
              <a:rPr lang="pt-BR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Compreensão simultânea de retorno, volatilidade e risco</a:t>
            </a:r>
            <a:endParaRPr lang="pt-BR" dirty="0">
              <a:latin typeface="Arial (Corpo)"/>
            </a:endParaRPr>
          </a:p>
          <a:p>
            <a:r>
              <a:rPr lang="pt-BR" dirty="0"/>
              <a:t>Falta de ferramentas acessíveis para montar carteiras alinhadas ao perfil pessoal.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19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E724-15A8-BFF6-D5EA-9A379078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850A2-1E05-6545-04A1-4B85E884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(1/2)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0877E-592A-9D62-7C50-78F8597D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/>
              <a:t>A construção de carteiras de investimento constitui um dos principais desafios enfrentados por investidores que buscam conciliar retorno e controle de risco em um ambiente financeiro cada vez mais dinâmico e complexo. </a:t>
            </a:r>
          </a:p>
          <a:p>
            <a:pPr marL="0" indent="0">
              <a:buNone/>
            </a:pPr>
            <a:r>
              <a:rPr lang="pt-BR" dirty="0"/>
              <a:t>A necessidade de selecionar ativos de forma estratégica, adequá-los ao perfil do investidor e lidar com incertezas de mercado torna o processo decisório exigente e, muitas vezes, inacessível ao público geral.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inteligência artificial tem transformado o mercado financeiro ao permitir análises mais rápidas, precisas e automatizadas. </a:t>
            </a:r>
            <a:r>
              <a:rPr lang="pt-BR"/>
              <a:t>Ferramentas de IA identificam padrões, avaliam riscos e apoiam decisões com maior eficiência, reduzindo o viés humano e ampliando a confiabilidade das recomendações (Garcez, 2022; Públio, 2022).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(Contextualizar o trabalho – Como ele surgiu? Por que é importante?)</a:t>
            </a:r>
          </a:p>
          <a:p>
            <a:r>
              <a:rPr lang="pt-BR" dirty="0"/>
              <a:t>(Tempo estimado – 2 minutos)</a:t>
            </a:r>
          </a:p>
          <a:p>
            <a:endParaRPr lang="pt-BR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Desafios na construção de uma carteira:</a:t>
            </a:r>
          </a:p>
          <a:p>
            <a: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Universo muito grande de ativos para seleção manual</a:t>
            </a:r>
          </a:p>
          <a:p>
            <a: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Compreensão simultânea de retorno, volatilidade e risco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8531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10B7-F21A-297C-3436-DFA49875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0E439-4F4C-FBAC-1EBF-E63C14EF9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(2/2)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7ADA4-4B3E-4F6A-1E39-E6CE73BC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A construção de carteiras de investimento constitui um dos principais desafios enfrentados por investidores que buscam conciliar retorno e controle de risco em um ambiente financeiro cada vez mais dinâmico e complexo. </a:t>
            </a:r>
          </a:p>
          <a:p>
            <a:pPr marL="0" indent="0">
              <a:buNone/>
            </a:pPr>
            <a:r>
              <a:rPr lang="pt-BR" dirty="0"/>
              <a:t>A necessidade de selecionar ativos de forma estratégica, adequá-los ao perfil do investidor e lidar com incertezas de mercado torna o processo decisório exigente e, muitas vezes, inacessível ao público geral.</a:t>
            </a:r>
          </a:p>
          <a:p>
            <a:endParaRPr lang="pt-BR" dirty="0"/>
          </a:p>
          <a:p>
            <a:r>
              <a:rPr lang="pt-BR" dirty="0"/>
              <a:t>(Contextualizar o trabalho – Como ele surgiu? Por que é importante?)</a:t>
            </a:r>
          </a:p>
          <a:p>
            <a:r>
              <a:rPr lang="pt-BR" dirty="0"/>
              <a:t>(Tempo estimado – 2 minutos)</a:t>
            </a:r>
          </a:p>
          <a:p>
            <a:endParaRPr lang="pt-BR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Desafios na construção de uma carteira:</a:t>
            </a:r>
          </a:p>
          <a:p>
            <a: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Universo muito grande de ativos para seleção manual</a:t>
            </a:r>
          </a:p>
          <a:p>
            <a: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Compreensão simultânea de retorno, volatilidade e risco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740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(1/2)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/>
              <a:t>Objetivo geral: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200" dirty="0"/>
              <a:t>Disponibilizar uma plataforma web para a otimização de portfólios de investimento utilizando Algoritmos Genéticos </a:t>
            </a:r>
            <a:r>
              <a:rPr lang="pt-BR" sz="2200" dirty="0" err="1"/>
              <a:t>MultiObjetivo</a:t>
            </a:r>
            <a:r>
              <a:rPr lang="pt-BR" sz="2200" dirty="0"/>
              <a:t> (AGMO), capaz de considerar simultaneamente múltiplos critérios de decisão (retorno esperado, risco, diversificação e restrições do investidor) e personalizar recomendações de acordo com o perfil individual do usuário.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695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A4D37-31A5-910B-86D9-07AF4F99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7AD36-AA95-7DE6-1A45-FFE243E0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(2/2)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0AEE0B-0D65-D3D6-4889-59057369B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b="1" dirty="0"/>
              <a:t>Objetivo específicos:</a:t>
            </a:r>
          </a:p>
          <a:p>
            <a:pPr marL="0" indent="0">
              <a:buNone/>
            </a:pPr>
            <a:endParaRPr lang="pt-BR" sz="1800" dirty="0"/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1800" dirty="0"/>
              <a:t>Modelar o problema da alocação de ativos como um problema de otimização multiobjetivo, considerando funções de retorno, risco e diversificação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1800" dirty="0"/>
              <a:t>Implementar e testar diferentes configurações do algoritmo genético multiobjetivo, analisando impacto de parâmetros como tamanho da população, taxas de cruzamento e mutação, e número de gerações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1800" dirty="0"/>
              <a:t>Validar o desempenho do aplicativo por meio de </a:t>
            </a:r>
            <a:r>
              <a:rPr lang="pt-BR" sz="1800" dirty="0" err="1"/>
              <a:t>backtesting</a:t>
            </a:r>
            <a:r>
              <a:rPr lang="pt-BR" sz="1800" dirty="0"/>
              <a:t> histórico e comparação com benchmarks relevantes como o Ibovespa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1800" dirty="0"/>
              <a:t>Avaliar diferentes critérios de decisão e restrições de portfólio, incluindo limites de ativos, ativos indesejados e horizonte de investimento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r>
              <a:rPr lang="pt-BR" sz="1800" dirty="0"/>
              <a:t>Disponibilizar o modelo desenvolvido em uma plataforma web para avaliar a aderência do sistema a diferentes perfis de investidor</a:t>
            </a:r>
          </a:p>
          <a:p>
            <a:pPr marL="571500" indent="-571500">
              <a:spcBef>
                <a:spcPts val="1400"/>
              </a:spcBef>
              <a:buFont typeface="+mj-lt"/>
              <a:buAutoNum type="alphaLcParenR"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86759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D3B6-7346-F13E-D5E5-ADB3F9E4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7212C-B57E-4943-CD70-D8DD58CC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925ACF-9D94-D227-E256-37AF907B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O desenvolvimento foi dividido em dois módulos:</a:t>
            </a:r>
          </a:p>
          <a:p>
            <a:pPr marL="0" indent="0">
              <a:buNone/>
            </a:pPr>
            <a:endParaRPr lang="pt-BR" sz="1800" dirty="0"/>
          </a:p>
        </p:txBody>
      </p:sp>
      <p:sp>
        <p:nvSpPr>
          <p:cNvPr id="4" name="Google Shape;286;p42">
            <a:extLst>
              <a:ext uri="{FF2B5EF4-FFF2-40B4-BE49-F238E27FC236}">
                <a16:creationId xmlns:a16="http://schemas.microsoft.com/office/drawing/2014/main" id="{C45D974E-9F3B-1C05-ACDE-6DCCA423741E}"/>
              </a:ext>
            </a:extLst>
          </p:cNvPr>
          <p:cNvSpPr txBox="1"/>
          <p:nvPr/>
        </p:nvSpPr>
        <p:spPr>
          <a:xfrm>
            <a:off x="457200" y="2276872"/>
            <a:ext cx="3970784" cy="19442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Modelo de Otimização e API (</a:t>
            </a:r>
            <a:r>
              <a:rPr lang="pt-BR" sz="2200" dirty="0" err="1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Backend</a:t>
            </a:r>
            <a:r>
              <a:rPr lang="pt-BR" sz="2200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)</a:t>
            </a:r>
            <a:endParaRPr sz="2200" dirty="0">
              <a:solidFill>
                <a:schemeClr val="dk1"/>
              </a:solidFill>
              <a:latin typeface="Arial (Corpo)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87;p42">
            <a:extLst>
              <a:ext uri="{FF2B5EF4-FFF2-40B4-BE49-F238E27FC236}">
                <a16:creationId xmlns:a16="http://schemas.microsoft.com/office/drawing/2014/main" id="{1550336D-E198-F238-5648-3426AE0A4018}"/>
              </a:ext>
            </a:extLst>
          </p:cNvPr>
          <p:cNvSpPr txBox="1"/>
          <p:nvPr/>
        </p:nvSpPr>
        <p:spPr>
          <a:xfrm>
            <a:off x="4716018" y="2276872"/>
            <a:ext cx="3981126" cy="19442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Plataforma Web (</a:t>
            </a:r>
            <a:r>
              <a:rPr lang="pt-BR" sz="2200" dirty="0" err="1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Frontend</a:t>
            </a:r>
            <a:r>
              <a:rPr lang="pt-BR" sz="2200" dirty="0">
                <a:solidFill>
                  <a:schemeClr val="dk1"/>
                </a:solidFill>
                <a:latin typeface="Arial (Corpo)"/>
                <a:ea typeface="Calibri"/>
                <a:cs typeface="Calibri"/>
                <a:sym typeface="Calibri"/>
              </a:rPr>
              <a:t>)</a:t>
            </a:r>
            <a:endParaRPr sz="2200" dirty="0">
              <a:solidFill>
                <a:schemeClr val="dk1"/>
              </a:solidFill>
              <a:latin typeface="Arial (Corpo)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892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(1/2)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FD4E9A0-E3B8-B140-1CEB-8288248BC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67995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400" b="1" dirty="0"/>
              <a:t>Requisitos funcionais</a:t>
            </a:r>
            <a:endParaRPr lang="pt-BR" sz="2400" b="1" dirty="0">
              <a:highlight>
                <a:srgbClr val="FFFF00"/>
              </a:highlight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1C6B5CE-4BF1-A1FA-5D07-46B8D7679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35599"/>
              </p:ext>
            </p:extLst>
          </p:nvPr>
        </p:nvGraphicFramePr>
        <p:xfrm>
          <a:off x="457200" y="1916832"/>
          <a:ext cx="8239944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9944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RF01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Autenticar usuários através de credenciais seguras (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senha) e gerar </a:t>
                      </a:r>
                      <a:r>
                        <a:rPr lang="pt-BR" sz="20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tokens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JWT para manutenção de sessões autorizadas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RF02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coletar dados históricos mensais de preços via API Yahoo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armazenar séries temporais com cálculo de variações percentuais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otimizar carteiras através do algoritmo R-NSGA-II considerando maximização de retorno, minimização de variância e minimização de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CVaR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546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RF04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aplicar perfis de risco personalizados (conservador, moderado e arrojado), restrições de ativos e limitação na quantidade de ativos da carteira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9346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RF05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simulação de </a:t>
                      </a:r>
                      <a:r>
                        <a:rPr lang="pt-BR" sz="200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backtest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comparando performance histórica das carteiras otimizadas com </a:t>
                      </a:r>
                      <a:r>
                        <a:rPr lang="pt-BR" sz="20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benchmark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mercado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987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64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57E1-2E22-EA89-7197-D26927A4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FAF69-A7A5-F242-85F7-79D2C3D1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(2/2) 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81B9C6F-25F4-F96F-FC09-B551012AA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67995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400" b="1" dirty="0"/>
              <a:t>Requisitos não funcionais</a:t>
            </a:r>
            <a:endParaRPr lang="pt-BR" sz="2400" b="1" dirty="0">
              <a:highlight>
                <a:srgbClr val="FFFF00"/>
              </a:highlight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17CD300-4B43-408D-F63A-07AC607CD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88436"/>
              </p:ext>
            </p:extLst>
          </p:nvPr>
        </p:nvGraphicFramePr>
        <p:xfrm>
          <a:off x="457200" y="1916832"/>
          <a:ext cx="8239944" cy="196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9944">
                  <a:extLst>
                    <a:ext uri="{9D8B030D-6E8A-4147-A177-3AD203B41FA5}">
                      <a16:colId xmlns:a16="http://schemas.microsoft.com/office/drawing/2014/main" val="397576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RF01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linguagem Python com </a:t>
                      </a:r>
                      <a:r>
                        <a:rPr lang="pt-BR" sz="200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framework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Flask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API REST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91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RF02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o PostgreSQL como banco de dados relacional 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4119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utilizar a biblioteca </a:t>
                      </a:r>
                      <a:r>
                        <a:rPr lang="pt-BR" sz="2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pymoo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 realizar o processamento do AGMO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78808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effectLst/>
                        </a:rPr>
                        <a:t>RF03 – </a:t>
                      </a:r>
                      <a:r>
                        <a:rPr lang="pt-BR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 capaz de realizar a otimização em um tempo máximo de um minuto</a:t>
                      </a:r>
                      <a:endParaRPr lang="pt-B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934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472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4DF4-AC88-15DD-A54E-EBB6CCC2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D42E0-5CCE-4FD1-69C1-3E908840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E180B-C5EE-AF55-6B1A-049CE84F7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6C2497B-C334-60F0-17A4-43050E9799B1}"/>
              </a:ext>
            </a:extLst>
          </p:cNvPr>
          <p:cNvSpPr txBox="1">
            <a:spLocks/>
          </p:cNvSpPr>
          <p:nvPr/>
        </p:nvSpPr>
        <p:spPr bwMode="auto">
          <a:xfrm>
            <a:off x="609600" y="1565176"/>
            <a:ext cx="8229600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spcBef>
                <a:spcPts val="1400"/>
              </a:spcBef>
              <a:buFontTx/>
              <a:buNone/>
            </a:pPr>
            <a:r>
              <a:rPr lang="pt-BR" sz="2400" b="1" kern="0" dirty="0"/>
              <a:t>Escolha do PostgreSQL: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Banco de dados relacional robusto e confiável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Ideal para sistemas que exigem consistência e integridade dos dados</a:t>
            </a:r>
          </a:p>
          <a:p>
            <a:pPr marL="0" indent="0" algn="just">
              <a:spcBef>
                <a:spcPts val="1400"/>
              </a:spcBef>
              <a:buNone/>
            </a:pPr>
            <a:endParaRPr lang="pt-BR" sz="2400" dirty="0"/>
          </a:p>
          <a:p>
            <a:pPr marL="0" indent="0" algn="just">
              <a:spcBef>
                <a:spcPts val="1400"/>
              </a:spcBef>
              <a:buFontTx/>
              <a:buNone/>
            </a:pPr>
            <a:r>
              <a:rPr lang="pt-BR" sz="2400" b="1" kern="0" dirty="0"/>
              <a:t>Vantagens do PostgreSQL: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Alta segurança e estabilidade em ambientes de produção</a:t>
            </a:r>
          </a:p>
          <a:p>
            <a:pPr>
              <a:spcBef>
                <a:spcPts val="1400"/>
              </a:spcBef>
            </a:pPr>
            <a:r>
              <a:rPr lang="pt-BR" sz="2200" dirty="0"/>
              <a:t>Bom desempenho mesmo com grande volume de registros</a:t>
            </a:r>
            <a:endParaRPr lang="pt-BR" sz="2200" kern="0" dirty="0"/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FontTx/>
              <a:buNone/>
            </a:pPr>
            <a:endParaRPr lang="pt-BR" sz="2400" b="1" kern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3589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3919-6F0E-FC04-761D-38D34028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2BB89-956C-DECF-72C9-244A4A6C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906F37-D2CF-895A-6382-84E867ECD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0618D07B-E45F-A5C4-8C61-C8713F07F7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" t="3104" r="1225" b="1869"/>
          <a:stretch>
            <a:fillRect/>
          </a:stretch>
        </p:blipFill>
        <p:spPr bwMode="auto">
          <a:xfrm>
            <a:off x="1108244" y="1426496"/>
            <a:ext cx="6927511" cy="4248472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855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1400"/>
              </a:spcBef>
              <a:buNone/>
            </a:pPr>
            <a:r>
              <a:rPr lang="pt-BR" sz="2400" b="1" dirty="0"/>
              <a:t>Diagrama do fluxo de implementação</a:t>
            </a: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>
              <a:highlight>
                <a:srgbClr val="FFFF00"/>
              </a:highlight>
            </a:endParaRP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E41D75FC-4A38-9F4B-402D-D3E6ACB2E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2836"/>
            <a:ext cx="8237981" cy="385242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707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Extração dos dados (1/2)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Escolha do universo de ativos (IBX100)</a:t>
            </a:r>
          </a:p>
          <a:p>
            <a:r>
              <a:rPr lang="pt-BR" sz="2400" dirty="0"/>
              <a:t>Importar os ativos no sistema através de um arquivo .</a:t>
            </a:r>
            <a:r>
              <a:rPr lang="pt-BR" sz="2400" dirty="0" err="1"/>
              <a:t>csv</a:t>
            </a:r>
            <a:endParaRPr lang="pt-BR" sz="2400" dirty="0"/>
          </a:p>
          <a:p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FD81A980-C36F-876C-D105-6A06990350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3"/>
          <a:stretch>
            <a:fillRect/>
          </a:stretch>
        </p:blipFill>
        <p:spPr bwMode="auto">
          <a:xfrm>
            <a:off x="1691880" y="2784898"/>
            <a:ext cx="5760239" cy="32917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6332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27CDA-BC30-0D69-BC4B-515E774C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731B9-A6BF-1C7D-E55A-CCA587AB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Extração dos dados (2/2)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86ADDC-7764-956D-DB77-42FBA391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Coleta dos preços históricos ajustados pelo </a:t>
            </a:r>
            <a:r>
              <a:rPr lang="pt-BR" sz="2400" dirty="0" err="1"/>
              <a:t>yfinance</a:t>
            </a:r>
            <a:endParaRPr lang="pt-BR" sz="2400" dirty="0"/>
          </a:p>
          <a:p>
            <a:r>
              <a:rPr lang="pt-BR" sz="2400" dirty="0"/>
              <a:t>Calcula a variação mensal</a:t>
            </a:r>
          </a:p>
          <a:p>
            <a:r>
              <a:rPr lang="pt-BR" sz="2400" dirty="0"/>
              <a:t>Agendador noturno para atualizar</a:t>
            </a:r>
          </a:p>
          <a:p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D52D55B-3BD5-8312-9DF5-AB47AC974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4157"/>
              </p:ext>
            </p:extLst>
          </p:nvPr>
        </p:nvGraphicFramePr>
        <p:xfrm>
          <a:off x="1835696" y="2924944"/>
          <a:ext cx="5256585" cy="3384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326">
                  <a:extLst>
                    <a:ext uri="{9D8B030D-6E8A-4147-A177-3AD203B41FA5}">
                      <a16:colId xmlns:a16="http://schemas.microsoft.com/office/drawing/2014/main" val="2694719678"/>
                    </a:ext>
                  </a:extLst>
                </a:gridCol>
                <a:gridCol w="1155224">
                  <a:extLst>
                    <a:ext uri="{9D8B030D-6E8A-4147-A177-3AD203B41FA5}">
                      <a16:colId xmlns:a16="http://schemas.microsoft.com/office/drawing/2014/main" val="3396729520"/>
                    </a:ext>
                  </a:extLst>
                </a:gridCol>
                <a:gridCol w="2053035">
                  <a:extLst>
                    <a:ext uri="{9D8B030D-6E8A-4147-A177-3AD203B41FA5}">
                      <a16:colId xmlns:a16="http://schemas.microsoft.com/office/drawing/2014/main" val="2968871095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Close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Variation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9448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2000-01-01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0.43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69923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2000-02-01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0.40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-0.056963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5793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2000-03-01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0.34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-0.155704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17138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2000-04-01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0.33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-0.046104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53854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2000-05-01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0.30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-0.066667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68715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>
                          <a:solidFill>
                            <a:schemeClr val="bg1"/>
                          </a:solidFill>
                          <a:effectLst/>
                        </a:rPr>
                        <a:t>2000-06-01</a:t>
                      </a:r>
                      <a:endParaRPr lang="pt-BR" sz="12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0.35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dirty="0">
                          <a:solidFill>
                            <a:schemeClr val="bg1"/>
                          </a:solidFill>
                          <a:effectLst/>
                        </a:rPr>
                        <a:t> 0.151786</a:t>
                      </a:r>
                      <a:endParaRPr lang="pt-BR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1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290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Implementação do AGMO</a:t>
            </a:r>
          </a:p>
        </p:txBody>
      </p:sp>
      <p:pic>
        <p:nvPicPr>
          <p:cNvPr id="4" name="Espaço Reservado para Conteúdo 3" descr="Diagrama&#10;&#10;O conteúdo gerado por IA pode estar incorreto.">
            <a:extLst>
              <a:ext uri="{FF2B5EF4-FFF2-40B4-BE49-F238E27FC236}">
                <a16:creationId xmlns:a16="http://schemas.microsoft.com/office/drawing/2014/main" id="{24ACFA55-B166-4C4C-C321-0ACEA56FD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48880"/>
            <a:ext cx="8229600" cy="177410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219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8F0F-AAD8-F1C4-8665-67EFBEAC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CBD92-DC49-2D25-154C-7B486FD1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Preparação dos dados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4CDFBF0-29B8-4417-6393-23D4647C6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000" dirty="0"/>
              <a:t>Filtro inicial dos ativos</a:t>
            </a:r>
          </a:p>
          <a:p>
            <a:pPr algn="just">
              <a:spcBef>
                <a:spcPts val="1400"/>
              </a:spcBef>
            </a:pPr>
            <a:r>
              <a:rPr lang="pt-BR" sz="2000" dirty="0"/>
              <a:t>Resgate dos dados históricos</a:t>
            </a:r>
          </a:p>
          <a:p>
            <a:pPr algn="just">
              <a:spcBef>
                <a:spcPts val="1400"/>
              </a:spcBef>
            </a:pPr>
            <a:r>
              <a:rPr lang="pt-BR" sz="2000" dirty="0"/>
              <a:t>Reorganização para </a:t>
            </a:r>
            <a:r>
              <a:rPr lang="pt-BR" sz="2000" dirty="0" err="1"/>
              <a:t>DataFrame</a:t>
            </a:r>
          </a:p>
          <a:p>
            <a:pPr algn="just">
              <a:spcBef>
                <a:spcPts val="1400"/>
              </a:spcBef>
            </a:pPr>
            <a:endParaRPr lang="pt-BR" sz="2400" b="1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1110E4B-10B6-3CE0-B30A-B8B95D578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268745"/>
              </p:ext>
            </p:extLst>
          </p:nvPr>
        </p:nvGraphicFramePr>
        <p:xfrm>
          <a:off x="539550" y="2852935"/>
          <a:ext cx="5040563" cy="2435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6595">
                  <a:extLst>
                    <a:ext uri="{9D8B030D-6E8A-4147-A177-3AD203B41FA5}">
                      <a16:colId xmlns:a16="http://schemas.microsoft.com/office/drawing/2014/main" val="1624285346"/>
                    </a:ext>
                  </a:extLst>
                </a:gridCol>
                <a:gridCol w="1505102">
                  <a:extLst>
                    <a:ext uri="{9D8B030D-6E8A-4147-A177-3AD203B41FA5}">
                      <a16:colId xmlns:a16="http://schemas.microsoft.com/office/drawing/2014/main" val="3451897982"/>
                    </a:ext>
                  </a:extLst>
                </a:gridCol>
                <a:gridCol w="1488866">
                  <a:extLst>
                    <a:ext uri="{9D8B030D-6E8A-4147-A177-3AD203B41FA5}">
                      <a16:colId xmlns:a16="http://schemas.microsoft.com/office/drawing/2014/main" val="2097360556"/>
                    </a:ext>
                  </a:extLst>
                </a:gridCol>
              </a:tblGrid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Ticker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Variation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564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-0.124659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3038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-0.058221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82673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2020-01-01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0.005718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66597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-0.171589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392698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-0.166729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620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2020-02-01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000" dirty="0">
                          <a:solidFill>
                            <a:schemeClr val="bg1"/>
                          </a:solidFill>
                          <a:effectLst/>
                        </a:rPr>
                        <a:t>0.074701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692712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2C7B252-D6FF-74D7-F3C8-8BA9565DB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329823"/>
              </p:ext>
            </p:extLst>
          </p:nvPr>
        </p:nvGraphicFramePr>
        <p:xfrm>
          <a:off x="539550" y="5517232"/>
          <a:ext cx="5040563" cy="1008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8143">
                  <a:extLst>
                    <a:ext uri="{9D8B030D-6E8A-4147-A177-3AD203B41FA5}">
                      <a16:colId xmlns:a16="http://schemas.microsoft.com/office/drawing/2014/main" val="3941879268"/>
                    </a:ext>
                  </a:extLst>
                </a:gridCol>
                <a:gridCol w="1212073">
                  <a:extLst>
                    <a:ext uri="{9D8B030D-6E8A-4147-A177-3AD203B41FA5}">
                      <a16:colId xmlns:a16="http://schemas.microsoft.com/office/drawing/2014/main" val="1021447522"/>
                    </a:ext>
                  </a:extLst>
                </a:gridCol>
                <a:gridCol w="1198999">
                  <a:extLst>
                    <a:ext uri="{9D8B030D-6E8A-4147-A177-3AD203B41FA5}">
                      <a16:colId xmlns:a16="http://schemas.microsoft.com/office/drawing/2014/main" val="1343326531"/>
                    </a:ext>
                  </a:extLst>
                </a:gridCol>
                <a:gridCol w="981348">
                  <a:extLst>
                    <a:ext uri="{9D8B030D-6E8A-4147-A177-3AD203B41FA5}">
                      <a16:colId xmlns:a16="http://schemas.microsoft.com/office/drawing/2014/main" val="3640667765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BBAS3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PETR4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VALE3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62764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2020-01-01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-0.124659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-0.058221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0.005718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434444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2020-02-01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-0.171589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-0.166729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pt-BR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0.074701</a:t>
                      </a: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406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501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905D-D6C2-2008-479C-3F38C87C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A638A-B38B-DABA-E366-B8F1A03F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Preparação dos dados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7F45F286-A8A8-DCE3-7A04-EF36A30BE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000" dirty="0"/>
              <a:t>Vetor de retornos médios </a:t>
            </a:r>
          </a:p>
          <a:p>
            <a:pPr algn="just">
              <a:spcBef>
                <a:spcPts val="1400"/>
              </a:spcBef>
            </a:pPr>
            <a:r>
              <a:rPr lang="pt-BR" sz="2000" dirty="0"/>
              <a:t>Matriz de covariância</a:t>
            </a:r>
          </a:p>
          <a:p>
            <a:pPr algn="just">
              <a:spcBef>
                <a:spcPts val="1400"/>
              </a:spcBef>
            </a:pPr>
            <a:endParaRPr lang="pt-BR" sz="24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95F592-2AD2-C8DD-9EDF-1FEE49F52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61" y="2381122"/>
            <a:ext cx="6848070" cy="108504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7CC2E86-A2A1-B9B8-3E79-91BDBC792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173782"/>
              </p:ext>
            </p:extLst>
          </p:nvPr>
        </p:nvGraphicFramePr>
        <p:xfrm>
          <a:off x="460232" y="3645024"/>
          <a:ext cx="6848070" cy="27363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1345">
                  <a:extLst>
                    <a:ext uri="{9D8B030D-6E8A-4147-A177-3AD203B41FA5}">
                      <a16:colId xmlns:a16="http://schemas.microsoft.com/office/drawing/2014/main" val="542322399"/>
                    </a:ext>
                  </a:extLst>
                </a:gridCol>
                <a:gridCol w="1141345">
                  <a:extLst>
                    <a:ext uri="{9D8B030D-6E8A-4147-A177-3AD203B41FA5}">
                      <a16:colId xmlns:a16="http://schemas.microsoft.com/office/drawing/2014/main" val="1149210613"/>
                    </a:ext>
                  </a:extLst>
                </a:gridCol>
                <a:gridCol w="1141345">
                  <a:extLst>
                    <a:ext uri="{9D8B030D-6E8A-4147-A177-3AD203B41FA5}">
                      <a16:colId xmlns:a16="http://schemas.microsoft.com/office/drawing/2014/main" val="27708184"/>
                    </a:ext>
                  </a:extLst>
                </a:gridCol>
                <a:gridCol w="1141345">
                  <a:extLst>
                    <a:ext uri="{9D8B030D-6E8A-4147-A177-3AD203B41FA5}">
                      <a16:colId xmlns:a16="http://schemas.microsoft.com/office/drawing/2014/main" val="996458405"/>
                    </a:ext>
                  </a:extLst>
                </a:gridCol>
                <a:gridCol w="1141345">
                  <a:extLst>
                    <a:ext uri="{9D8B030D-6E8A-4147-A177-3AD203B41FA5}">
                      <a16:colId xmlns:a16="http://schemas.microsoft.com/office/drawing/2014/main" val="3076494518"/>
                    </a:ext>
                  </a:extLst>
                </a:gridCol>
                <a:gridCol w="1141345">
                  <a:extLst>
                    <a:ext uri="{9D8B030D-6E8A-4147-A177-3AD203B41FA5}">
                      <a16:colId xmlns:a16="http://schemas.microsoft.com/office/drawing/2014/main" val="2336622735"/>
                    </a:ext>
                  </a:extLst>
                </a:gridCol>
              </a:tblGrid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ITUB4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WEGE3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818795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BBAS3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0.013312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0.007104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0.008844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0.003650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0.002108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740948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ITUB4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0.007104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0.007615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0.005863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0.002861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0.001790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753883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PETR4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0.008844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0.005863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0.013272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0.004799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0.001726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624962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VALE3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0.003650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0.002861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0.004799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0.009879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0.001222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02962"/>
                  </a:ext>
                </a:extLst>
              </a:tr>
              <a:tr h="456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WEGE3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0.002108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0.001790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0.001726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>
                          <a:solidFill>
                            <a:schemeClr val="bg1"/>
                          </a:solidFill>
                          <a:effectLst/>
                        </a:rPr>
                        <a:t>0.001222</a:t>
                      </a:r>
                      <a:endParaRPr lang="pt-BR" sz="1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bg1"/>
                          </a:solidFill>
                          <a:effectLst/>
                        </a:rPr>
                        <a:t>0.007556</a:t>
                      </a:r>
                      <a:endParaRPr lang="pt-BR" sz="1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76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321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EC68-4D72-9862-E2F0-720EF41A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6D0DC-E150-C793-FA08-71478D23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Formulação multiobjetivo do problema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D7E234-5C9C-9500-D027-E167C75D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9105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000" b="1" dirty="0"/>
              <a:t>Maximizar o retorno</a:t>
            </a:r>
          </a:p>
          <a:p>
            <a:pPr algn="just">
              <a:spcBef>
                <a:spcPts val="1400"/>
              </a:spcBef>
            </a:pPr>
            <a:r>
              <a:rPr lang="pt-BR" sz="2000" b="1" dirty="0"/>
              <a:t>Minimizar a variância</a:t>
            </a:r>
          </a:p>
          <a:p>
            <a:pPr algn="just">
              <a:spcBef>
                <a:spcPts val="1400"/>
              </a:spcBef>
            </a:pPr>
            <a:r>
              <a:rPr lang="pt-BR" sz="2000" b="1" dirty="0"/>
              <a:t>Minimizar o </a:t>
            </a:r>
            <a:r>
              <a:rPr lang="pt-BR" sz="2000" b="1" dirty="0" err="1"/>
              <a:t>Conditional</a:t>
            </a:r>
            <a:r>
              <a:rPr lang="pt-BR" sz="2000" b="1" dirty="0"/>
              <a:t> </a:t>
            </a:r>
            <a:r>
              <a:rPr lang="pt-BR" sz="2000" b="1" dirty="0" err="1"/>
              <a:t>Value</a:t>
            </a:r>
            <a:r>
              <a:rPr lang="pt-BR" sz="2000" b="1" dirty="0"/>
              <a:t> </a:t>
            </a:r>
            <a:r>
              <a:rPr lang="pt-BR" sz="2000" b="1" dirty="0" err="1"/>
              <a:t>at</a:t>
            </a:r>
            <a:r>
              <a:rPr lang="pt-BR" sz="2000" b="1" dirty="0"/>
              <a:t> Risk (</a:t>
            </a:r>
            <a:r>
              <a:rPr lang="pt-BR" sz="2000" b="1" dirty="0" err="1"/>
              <a:t>CVaR</a:t>
            </a:r>
            <a:r>
              <a:rPr lang="pt-BR" sz="2000" b="1" dirty="0"/>
              <a:t>)</a:t>
            </a:r>
          </a:p>
          <a:p>
            <a:pPr marL="0" indent="0" algn="just">
              <a:spcBef>
                <a:spcPts val="1400"/>
              </a:spcBef>
              <a:buNone/>
            </a:pPr>
            <a:endParaRPr lang="pt-BR" sz="2400" b="1" dirty="0"/>
          </a:p>
          <a:p>
            <a:pPr algn="just">
              <a:spcBef>
                <a:spcPts val="1400"/>
              </a:spcBef>
            </a:pPr>
            <a:endParaRPr lang="pt-BR" sz="2400" b="1" dirty="0"/>
          </a:p>
        </p:txBody>
      </p:sp>
      <p:pic>
        <p:nvPicPr>
          <p:cNvPr id="5" name="Imagem 4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6464183-DC0B-78AB-B532-61A63154CD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35" y="3284984"/>
            <a:ext cx="7448113" cy="25202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4817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9994-C650-73FA-D479-A4C5F443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84B93A9-C991-461A-7E7B-3446770922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09105"/>
                <a:ext cx="8229600" cy="46799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2000" b="1" dirty="0"/>
                  <a:t>Como o algoritmo enxerga uma carteira</a:t>
                </a:r>
              </a:p>
              <a:p>
                <a:r>
                  <a:rPr lang="pt-BR" sz="2000" dirty="0"/>
                  <a:t>Cada indivíduo representa </a:t>
                </a:r>
                <a:r>
                  <a:rPr lang="pt-BR" sz="2000" b="1" dirty="0"/>
                  <a:t>uma carteira de investimentos</a:t>
                </a:r>
                <a:endParaRPr lang="pt-BR" sz="2000" dirty="0"/>
              </a:p>
              <a:p>
                <a:r>
                  <a:rPr lang="pt-BR" sz="2000" dirty="0"/>
                  <a:t>Cada cromossomo corresponde a </a:t>
                </a:r>
                <a:r>
                  <a:rPr lang="pt-BR" sz="2000" b="1" dirty="0"/>
                  <a:t>um ativo da carteira</a:t>
                </a:r>
                <a:endParaRPr lang="pt-BR" sz="2000" dirty="0"/>
              </a:p>
              <a:p>
                <a:r>
                  <a:rPr lang="pt-BR" sz="2000" dirty="0"/>
                  <a:t>O valor do gene = </a:t>
                </a:r>
                <a:r>
                  <a:rPr lang="pt-BR" sz="2000" b="1" dirty="0"/>
                  <a:t>peso alocado no ativo</a:t>
                </a:r>
                <a:endParaRPr lang="pt-BR" sz="2000" dirty="0"/>
              </a:p>
              <a:p>
                <a:r>
                  <a:rPr lang="pt-BR" sz="2400" b="1" dirty="0"/>
                  <a:t>Estrutura genética</a:t>
                </a:r>
              </a:p>
              <a:p>
                <a:r>
                  <a:rPr lang="pt-BR" sz="2400" dirty="0"/>
                  <a:t>Genótipo: vetor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ar-AE" sz="2400" dirty="0"/>
              </a:p>
              <a:p>
                <a:r>
                  <a:rPr lang="pt-BR" sz="2400" dirty="0"/>
                  <a:t>Fenótipo: composição real da carteira (percentuais)</a:t>
                </a:r>
              </a:p>
              <a:p>
                <a:pPr marL="0" indent="0" algn="just">
                  <a:spcBef>
                    <a:spcPts val="1400"/>
                  </a:spcBef>
                  <a:buNone/>
                </a:pPr>
                <a:endParaRPr lang="pt-BR" sz="2400" b="1" dirty="0"/>
              </a:p>
              <a:p>
                <a:pPr algn="just">
                  <a:spcBef>
                    <a:spcPts val="1400"/>
                  </a:spcBef>
                </a:pPr>
                <a:endParaRPr lang="pt-BR" sz="2400" b="1" dirty="0"/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084B93A9-C991-461A-7E7B-344677092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09105"/>
                <a:ext cx="8229600" cy="4679950"/>
              </a:xfrm>
              <a:blipFill>
                <a:blip r:embed="rId2"/>
                <a:stretch>
                  <a:fillRect l="-963" t="-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>
            <a:extLst>
              <a:ext uri="{FF2B5EF4-FFF2-40B4-BE49-F238E27FC236}">
                <a16:creationId xmlns:a16="http://schemas.microsoft.com/office/drawing/2014/main" id="{2F3A8A06-22DC-C6A2-F1A9-141FB8FE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R-NSGA-II</a:t>
            </a:r>
          </a:p>
        </p:txBody>
      </p:sp>
    </p:spTree>
    <p:extLst>
      <p:ext uri="{BB962C8B-B14F-4D97-AF65-F5344CB8AC3E}">
        <p14:creationId xmlns:p14="http://schemas.microsoft.com/office/powerpoint/2010/main" val="2831711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9F30-9C3F-43A4-E476-FA8AA805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C36985E7-31DF-1A67-06D0-F4FF6D7AD9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809105"/>
                <a:ext cx="8229600" cy="467995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pt-BR" sz="2800" b="1" dirty="0"/>
                  <a:t>Restrições fundamentais</a:t>
                </a:r>
              </a:p>
              <a:p>
                <a:r>
                  <a:rPr lang="pt-BR" sz="2400" b="1" dirty="0"/>
                  <a:t>Não-negatividade: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dirty="0"/>
              </a:p>
              <a:p>
                <a:r>
                  <a:rPr lang="pt-BR" sz="2400" b="1" dirty="0"/>
                  <a:t>Soma unitária: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2400" dirty="0"/>
              </a:p>
              <a:p>
                <a:r>
                  <a:rPr lang="pt-BR" sz="2400" b="1" dirty="0"/>
                  <a:t>Limites por ativo: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01</m:t>
                    </m:r>
                    <m:r>
                      <a:rPr lang="pt-BR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ar-AE" sz="2400" dirty="0"/>
                  <a:t>(</a:t>
                </a:r>
                <a:r>
                  <a:rPr lang="pt-BR" sz="2400" dirty="0"/>
                  <a:t>peso mínimo 1% e máximo 30%)</a:t>
                </a:r>
              </a:p>
              <a:p>
                <a:r>
                  <a:rPr lang="pt-BR" sz="2400" b="1" dirty="0"/>
                  <a:t>Cardinalidade:</a:t>
                </a:r>
                <a:r>
                  <a:rPr lang="pt-BR" sz="2400" dirty="0"/>
                  <a:t> máximo de </a:t>
                </a:r>
                <a:r>
                  <a:rPr lang="pt-BR" sz="2400" b="1" dirty="0"/>
                  <a:t>K ativos simultâneos</a:t>
                </a:r>
                <a:r>
                  <a:rPr lang="pt-BR" sz="2400" dirty="0"/>
                  <a:t> (ativos além de K recebem peso zero)</a:t>
                </a:r>
              </a:p>
              <a:p>
                <a:pPr marL="0" indent="0">
                  <a:buNone/>
                </a:pPr>
                <a:r>
                  <a:rPr lang="pt-BR" sz="2400" b="1" dirty="0"/>
                  <a:t>Como as restrições são aplicadas</a:t>
                </a:r>
              </a:p>
              <a:p>
                <a:r>
                  <a:rPr lang="pt-BR" sz="2400" dirty="0"/>
                  <a:t>Geração inicial via </a:t>
                </a:r>
                <a:r>
                  <a:rPr lang="pt-BR" sz="2400" b="1" dirty="0" err="1"/>
                  <a:t>Dirichlet</a:t>
                </a:r>
                <a:r>
                  <a:rPr lang="pt-BR" sz="2400" dirty="0"/>
                  <a:t> produz vetores válidos no simplex</a:t>
                </a:r>
              </a:p>
              <a:p>
                <a:r>
                  <a:rPr lang="pt-BR" sz="2400" b="1" dirty="0" err="1"/>
                  <a:t>np.clip</a:t>
                </a:r>
                <a:r>
                  <a:rPr lang="pt-BR" sz="2400" dirty="0"/>
                  <a:t> aplica limites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𝑥𝑙</m:t>
                    </m:r>
                  </m:oMath>
                </a14:m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𝑥𝑢</m:t>
                    </m:r>
                  </m:oMath>
                </a14:m>
                <a:r>
                  <a:rPr lang="pt-BR" sz="2400" dirty="0"/>
                  <a:t>(0,01 e 0,30) caso necessário</a:t>
                </a:r>
              </a:p>
              <a:p>
                <a:r>
                  <a:rPr lang="pt-BR" sz="2400" b="1" dirty="0" err="1"/>
                  <a:t>Renormalização</a:t>
                </a:r>
                <a:r>
                  <a:rPr lang="pt-BR" sz="2400" dirty="0"/>
                  <a:t> corrige soma para 1; se soma = 0, aplica </a:t>
                </a:r>
                <a:r>
                  <a:rPr lang="pt-BR" sz="2400" dirty="0" err="1"/>
                  <a:t>fallback</a:t>
                </a:r>
                <a:r>
                  <a:rPr lang="pt-BR" sz="2400" dirty="0"/>
                  <a:t> uniforme</a:t>
                </a:r>
              </a:p>
              <a:p>
                <a:r>
                  <a:rPr lang="pt-BR" sz="2400" b="1" dirty="0"/>
                  <a:t>_</a:t>
                </a:r>
                <a:r>
                  <a:rPr lang="pt-BR" sz="2400" b="1" dirty="0" err="1"/>
                  <a:t>enforce_cardinality</a:t>
                </a:r>
                <a:r>
                  <a:rPr lang="pt-BR" sz="2400" dirty="0"/>
                  <a:t> remove ativos extras (mantém top-K por peso) e </a:t>
                </a:r>
                <a:r>
                  <a:rPr lang="pt-BR" sz="2400" dirty="0" err="1"/>
                  <a:t>renormaliza</a:t>
                </a:r>
                <a:r>
                  <a:rPr lang="pt-BR" sz="2400" dirty="0"/>
                  <a:t> novamente</a:t>
                </a:r>
              </a:p>
              <a:p>
                <a:pPr marL="0" indent="0" algn="just">
                  <a:spcBef>
                    <a:spcPts val="1400"/>
                  </a:spcBef>
                  <a:buNone/>
                </a:pPr>
                <a:endParaRPr lang="pt-BR" sz="2400" b="1" dirty="0"/>
              </a:p>
              <a:p>
                <a:pPr algn="just">
                  <a:spcBef>
                    <a:spcPts val="1400"/>
                  </a:spcBef>
                </a:pPr>
                <a:endParaRPr lang="pt-BR" sz="2400" b="1" dirty="0"/>
              </a:p>
            </p:txBody>
          </p:sp>
        </mc:Choice>
        <mc:Fallback xmlns="">
          <p:sp>
            <p:nvSpPr>
              <p:cNvPr id="7" name="Espaço Reservado para Conteúdo 2">
                <a:extLst>
                  <a:ext uri="{FF2B5EF4-FFF2-40B4-BE49-F238E27FC236}">
                    <a16:creationId xmlns:a16="http://schemas.microsoft.com/office/drawing/2014/main" id="{C36985E7-31DF-1A67-06D0-F4FF6D7AD9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809105"/>
                <a:ext cx="8229600" cy="4679950"/>
              </a:xfrm>
              <a:blipFill>
                <a:blip r:embed="rId2"/>
                <a:stretch>
                  <a:fillRect l="-1111" t="-24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ítulo 1">
            <a:extLst>
              <a:ext uri="{FF2B5EF4-FFF2-40B4-BE49-F238E27FC236}">
                <a16:creationId xmlns:a16="http://schemas.microsoft.com/office/drawing/2014/main" id="{A142B7D9-1D8C-A802-8F4C-1DD2837B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R-NSGA-II</a:t>
            </a:r>
          </a:p>
        </p:txBody>
      </p:sp>
    </p:spTree>
    <p:extLst>
      <p:ext uri="{BB962C8B-B14F-4D97-AF65-F5344CB8AC3E}">
        <p14:creationId xmlns:p14="http://schemas.microsoft.com/office/powerpoint/2010/main" val="3889941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8FF8-CA48-B8E0-6E53-76214CCB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552E3DC-CD5D-F759-B6C0-3B24EA76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9105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000" dirty="0"/>
              <a:t>Combinação de tamanho populacional e número de gerações para determinados números de ativos</a:t>
            </a:r>
          </a:p>
          <a:p>
            <a:pPr algn="just">
              <a:spcBef>
                <a:spcPts val="1400"/>
              </a:spcBef>
            </a:pPr>
            <a:r>
              <a:rPr lang="pt-BR" sz="2000" dirty="0" err="1"/>
              <a:t>Hypervolume</a:t>
            </a:r>
            <a:r>
              <a:rPr lang="pt-BR" sz="2000" dirty="0"/>
              <a:t> e spread como métricas</a:t>
            </a:r>
          </a:p>
          <a:p>
            <a:pPr algn="just">
              <a:spcBef>
                <a:spcPts val="1400"/>
              </a:spcBef>
            </a:pPr>
            <a:endParaRPr lang="pt-BR" sz="2400" b="1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ED15F79-BEAF-CA16-07ED-7BD9333B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188913"/>
            <a:ext cx="8352160" cy="1143000"/>
          </a:xfrm>
        </p:spPr>
        <p:txBody>
          <a:bodyPr/>
          <a:lstStyle/>
          <a:p>
            <a:pPr lvl="2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dos </a:t>
            </a:r>
            <a:r>
              <a:rPr lang="pt-B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hiperparâmetros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m 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625FF3B5-FD9E-AF12-D937-A76C732734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43" y="3140968"/>
            <a:ext cx="6739961" cy="344939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5472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71F5-99D2-DF5E-817E-4A70AE9F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6342A83E-923E-D61B-DB5B-3398857C3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5426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400" b="1" dirty="0"/>
              <a:t>Fronteiras eficientes da última geração</a:t>
            </a:r>
          </a:p>
          <a:p>
            <a:pPr algn="just">
              <a:spcBef>
                <a:spcPts val="1400"/>
              </a:spcBef>
            </a:pPr>
            <a:r>
              <a:rPr lang="pt-BR" sz="2400" b="1" dirty="0"/>
              <a:t>Diferença clara entre perfis de risco (conservador, moderado e arrojado)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D72A406-42E0-0CBD-3676-058B1CAD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188913"/>
            <a:ext cx="8352160" cy="1143000"/>
          </a:xfrm>
        </p:spPr>
        <p:txBody>
          <a:bodyPr/>
          <a:lstStyle/>
          <a:p>
            <a:pPr lvl="2"/>
            <a:r>
              <a:rPr lang="pt-BR" b="1" dirty="0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455016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FE08-1730-CC17-9DCC-1845AE16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20C7C581-0555-65B3-F44D-2ED17C7F2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97567"/>
              </p:ext>
            </p:extLst>
          </p:nvPr>
        </p:nvGraphicFramePr>
        <p:xfrm>
          <a:off x="827584" y="188640"/>
          <a:ext cx="7200800" cy="5616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3932">
                  <a:extLst>
                    <a:ext uri="{9D8B030D-6E8A-4147-A177-3AD203B41FA5}">
                      <a16:colId xmlns:a16="http://schemas.microsoft.com/office/drawing/2014/main" val="4292970668"/>
                    </a:ext>
                  </a:extLst>
                </a:gridCol>
                <a:gridCol w="3536868">
                  <a:extLst>
                    <a:ext uri="{9D8B030D-6E8A-4147-A177-3AD203B41FA5}">
                      <a16:colId xmlns:a16="http://schemas.microsoft.com/office/drawing/2014/main" val="136555977"/>
                    </a:ext>
                  </a:extLst>
                </a:gridCol>
              </a:tblGrid>
              <a:tr h="24761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03248"/>
                  </a:ext>
                </a:extLst>
              </a:tr>
              <a:tr h="23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tx1"/>
                          </a:solidFill>
                          <a:effectLst/>
                        </a:rPr>
                        <a:t>Perfil moderado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effectLst/>
                        </a:rPr>
                        <a:t>Perfil arrojado</a:t>
                      </a:r>
                      <a:endParaRPr lang="pt-BR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942118"/>
                  </a:ext>
                </a:extLst>
              </a:tr>
              <a:tr h="26765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73938"/>
                  </a:ext>
                </a:extLst>
              </a:tr>
              <a:tr h="2319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dirty="0">
                          <a:solidFill>
                            <a:schemeClr val="tx1"/>
                          </a:solidFill>
                          <a:effectLst/>
                        </a:rPr>
                        <a:t>Perfil conservador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Perfil moderado (ampliado)</a:t>
                      </a:r>
                      <a:endParaRPr lang="pt-BR" sz="12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364927"/>
                  </a:ext>
                </a:extLst>
              </a:tr>
            </a:tbl>
          </a:graphicData>
        </a:graphic>
      </p:graphicFrame>
      <p:pic>
        <p:nvPicPr>
          <p:cNvPr id="8196" name="Imagem 11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FC68ECE2-63B2-E6BA-41A6-53BA7E809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506" y="220352"/>
            <a:ext cx="3040615" cy="23919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8195" name="Picture 3">
            <a:extLst>
              <a:ext uri="{FF2B5EF4-FFF2-40B4-BE49-F238E27FC236}">
                <a16:creationId xmlns:a16="http://schemas.microsoft.com/office/drawing/2014/main" id="{36477561-B204-4B7C-7E45-09FAE2A15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63984"/>
            <a:ext cx="2835541" cy="2304687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8194" name="Imagem 10">
            <a:extLst>
              <a:ext uri="{FF2B5EF4-FFF2-40B4-BE49-F238E27FC236}">
                <a16:creationId xmlns:a16="http://schemas.microsoft.com/office/drawing/2014/main" id="{6E179D9C-B61B-AB3F-6385-42A4200D4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56689"/>
            <a:ext cx="3145505" cy="25785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8193" name="Imagem 9" descr="Gráfico, Gráfico de dispersão&#10;&#10;O conteúdo gerado por IA pode estar incorreto.">
            <a:extLst>
              <a:ext uri="{FF2B5EF4-FFF2-40B4-BE49-F238E27FC236}">
                <a16:creationId xmlns:a16="http://schemas.microsoft.com/office/drawing/2014/main" id="{7411DA53-E93A-1A88-6FD9-C5C74F165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41" y="2956689"/>
            <a:ext cx="3129122" cy="257850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765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BAB0-20D4-022C-ACA8-11EB490F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35C0DA6-391D-D17E-DEA2-9E2B2A1DA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5426"/>
            <a:ext cx="8229600" cy="4679950"/>
          </a:xfrm>
        </p:spPr>
        <p:txBody>
          <a:bodyPr>
            <a:normAutofit/>
          </a:bodyPr>
          <a:lstStyle/>
          <a:p>
            <a:pPr algn="just">
              <a:spcBef>
                <a:spcPts val="1400"/>
              </a:spcBef>
            </a:pPr>
            <a:r>
              <a:rPr lang="pt-BR" sz="2400" dirty="0"/>
              <a:t>Escolha da melhor carteira com base no ASF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54B9753-DE89-C289-A6AE-3B214040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188913"/>
            <a:ext cx="8352160" cy="1143000"/>
          </a:xfrm>
        </p:spPr>
        <p:txBody>
          <a:bodyPr/>
          <a:lstStyle/>
          <a:p>
            <a:pPr lvl="2"/>
            <a:r>
              <a:rPr lang="pt-BR" b="1" dirty="0"/>
              <a:t>Resultados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5457CE-4662-162C-3D3A-7A0E19AA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801" y="1916833"/>
            <a:ext cx="5607624" cy="45365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0385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7995-3F73-02DF-E92B-97B1B8CC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8E30A0C1-0213-58B8-5D00-F71FD258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31904"/>
            <a:ext cx="8352160" cy="1143000"/>
          </a:xfrm>
        </p:spPr>
        <p:txBody>
          <a:bodyPr/>
          <a:lstStyle/>
          <a:p>
            <a:pPr lvl="2"/>
            <a:r>
              <a:rPr lang="pt-BR" b="1" dirty="0" err="1"/>
              <a:t>Backtest</a:t>
            </a:r>
            <a:endParaRPr lang="pt-BR" b="1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F4F79E8-D8F1-650D-3470-AE7F9650C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57693"/>
              </p:ext>
            </p:extLst>
          </p:nvPr>
        </p:nvGraphicFramePr>
        <p:xfrm>
          <a:off x="468312" y="1700808"/>
          <a:ext cx="8352160" cy="3809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49770">
                  <a:extLst>
                    <a:ext uri="{9D8B030D-6E8A-4147-A177-3AD203B41FA5}">
                      <a16:colId xmlns:a16="http://schemas.microsoft.com/office/drawing/2014/main" val="4292970668"/>
                    </a:ext>
                  </a:extLst>
                </a:gridCol>
                <a:gridCol w="4102390">
                  <a:extLst>
                    <a:ext uri="{9D8B030D-6E8A-4147-A177-3AD203B41FA5}">
                      <a16:colId xmlns:a16="http://schemas.microsoft.com/office/drawing/2014/main" val="136555977"/>
                    </a:ext>
                  </a:extLst>
                </a:gridCol>
              </a:tblGrid>
              <a:tr h="34830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sz="10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903248"/>
                  </a:ext>
                </a:extLst>
              </a:tr>
              <a:tr h="326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  <a:latin typeface="Arial (Corpo)"/>
                          <a:ea typeface="Times New Roman" panose="02020603050405020304" pitchFamily="18" charset="0"/>
                        </a:rPr>
                        <a:t>Carteira arrojada</a:t>
                      </a:r>
                      <a:endParaRPr lang="pt-BR" sz="1200" b="1" dirty="0">
                        <a:solidFill>
                          <a:schemeClr val="tx1"/>
                        </a:solidFill>
                        <a:effectLst/>
                        <a:latin typeface="Arial (Corpo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100" b="1" dirty="0">
                          <a:effectLst/>
                        </a:rPr>
                        <a:t>Perfil arrojado</a:t>
                      </a:r>
                      <a:endParaRPr lang="pt-BR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942118"/>
                  </a:ext>
                </a:extLst>
              </a:tr>
            </a:tbl>
          </a:graphicData>
        </a:graphic>
      </p:graphicFrame>
      <p:pic>
        <p:nvPicPr>
          <p:cNvPr id="12" name="Imagem 11" descr="Gráfico, Gráfico de linhas, Histograma&#10;&#10;O conteúdo gerado por IA pode estar incorreto.">
            <a:extLst>
              <a:ext uri="{FF2B5EF4-FFF2-40B4-BE49-F238E27FC236}">
                <a16:creationId xmlns:a16="http://schemas.microsoft.com/office/drawing/2014/main" id="{7B575327-A33E-BCBC-2578-5705F66BC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09791"/>
            <a:ext cx="3888432" cy="3027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m 12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26E2E5A5-5CF5-C93F-70E5-28A1635EF9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256" y="1909791"/>
            <a:ext cx="3960440" cy="3060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2711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AC25-569F-4D22-556D-8F75DC22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C8DFE945-A256-9625-47AA-1163A4E5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31904"/>
            <a:ext cx="8352160" cy="1143000"/>
          </a:xfrm>
        </p:spPr>
        <p:txBody>
          <a:bodyPr/>
          <a:lstStyle/>
          <a:p>
            <a:pPr lvl="2"/>
            <a:r>
              <a:rPr lang="pt-BR" b="1" dirty="0"/>
              <a:t>API</a:t>
            </a:r>
          </a:p>
        </p:txBody>
      </p:sp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73D1E0DB-E595-A944-4724-302EA3A8A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967" y="3140968"/>
            <a:ext cx="5022850" cy="153035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94079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3928</TotalTime>
  <Words>1246</Words>
  <Application>Microsoft Office PowerPoint</Application>
  <PresentationFormat>Apresentação na tela (4:3)</PresentationFormat>
  <Paragraphs>245</Paragraphs>
  <Slides>28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5" baseType="lpstr">
      <vt:lpstr>Aptos</vt:lpstr>
      <vt:lpstr>Arial</vt:lpstr>
      <vt:lpstr>Arial (Corpo)</vt:lpstr>
      <vt:lpstr>Calibri</vt:lpstr>
      <vt:lpstr>Cambria Math</vt:lpstr>
      <vt:lpstr>Times New Roman</vt:lpstr>
      <vt:lpstr>Design padrão</vt:lpstr>
      <vt:lpstr>OTIMIZAÇÃO DE PORTFÓLIOS PERSONALIZADOS COM ALGORITMO GENÉTICO MULTIOBJETIVO</vt:lpstr>
      <vt:lpstr>Roteiro</vt:lpstr>
      <vt:lpstr>Roteiro</vt:lpstr>
      <vt:lpstr>Introdução (1/2)</vt:lpstr>
      <vt:lpstr>Introdução (1/2)</vt:lpstr>
      <vt:lpstr>Introdução (2/2)</vt:lpstr>
      <vt:lpstr>Objetivos (1/2)</vt:lpstr>
      <vt:lpstr>Objetivos (2/2)</vt:lpstr>
      <vt:lpstr>Desenvolvimento</vt:lpstr>
      <vt:lpstr>Requisitos (1/2) </vt:lpstr>
      <vt:lpstr>Requisitos (2/2) </vt:lpstr>
      <vt:lpstr>Banco de dados PostgreSQL</vt:lpstr>
      <vt:lpstr>Banco de dados PostgreSQL</vt:lpstr>
      <vt:lpstr>Especificação</vt:lpstr>
      <vt:lpstr>Extração dos dados (1/2)</vt:lpstr>
      <vt:lpstr>Extração dos dados (2/2)</vt:lpstr>
      <vt:lpstr>Implementação do AGMO</vt:lpstr>
      <vt:lpstr>Preparação dos dados</vt:lpstr>
      <vt:lpstr>Preparação dos dados</vt:lpstr>
      <vt:lpstr>Formulação multiobjetivo do problema</vt:lpstr>
      <vt:lpstr>R-NSGA-II</vt:lpstr>
      <vt:lpstr>R-NSGA-II</vt:lpstr>
      <vt:lpstr>Definição dos hiperparâmetros</vt:lpstr>
      <vt:lpstr>Resultados</vt:lpstr>
      <vt:lpstr>Apresentação do PowerPoint</vt:lpstr>
      <vt:lpstr>Resultados</vt:lpstr>
      <vt:lpstr>Backtest</vt:lpstr>
      <vt:lpstr>API</vt:lpstr>
    </vt:vector>
  </TitlesOfParts>
  <Company>FURB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Seção de Apoio ao Usuário</dc:creator>
  <cp:lastModifiedBy>Bruno Ferrari Vincensi</cp:lastModifiedBy>
  <cp:revision>105</cp:revision>
  <dcterms:created xsi:type="dcterms:W3CDTF">2012-05-08T00:10:24Z</dcterms:created>
  <dcterms:modified xsi:type="dcterms:W3CDTF">2025-12-08T02:21:00Z</dcterms:modified>
</cp:coreProperties>
</file>
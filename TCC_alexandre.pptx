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35"/>
  </p:notesMasterIdLst>
  <p:sldIdLst>
    <p:sldId id="256" r:id="rId2"/>
    <p:sldId id="284" r:id="rId3"/>
    <p:sldId id="334" r:id="rId4"/>
    <p:sldId id="285" r:id="rId5"/>
    <p:sldId id="335" r:id="rId6"/>
    <p:sldId id="336" r:id="rId7"/>
    <p:sldId id="337" r:id="rId8"/>
    <p:sldId id="260" r:id="rId9"/>
    <p:sldId id="273" r:id="rId10"/>
    <p:sldId id="274" r:id="rId11"/>
    <p:sldId id="338" r:id="rId12"/>
    <p:sldId id="339" r:id="rId13"/>
    <p:sldId id="300" r:id="rId14"/>
    <p:sldId id="301" r:id="rId15"/>
    <p:sldId id="302" r:id="rId16"/>
    <p:sldId id="303" r:id="rId17"/>
    <p:sldId id="319" r:id="rId18"/>
    <p:sldId id="342" r:id="rId19"/>
    <p:sldId id="343" r:id="rId20"/>
    <p:sldId id="344" r:id="rId21"/>
    <p:sldId id="345" r:id="rId22"/>
    <p:sldId id="346" r:id="rId23"/>
    <p:sldId id="347" r:id="rId24"/>
    <p:sldId id="305" r:id="rId25"/>
    <p:sldId id="306" r:id="rId26"/>
    <p:sldId id="307" r:id="rId27"/>
    <p:sldId id="341" r:id="rId28"/>
    <p:sldId id="309" r:id="rId29"/>
    <p:sldId id="321" r:id="rId30"/>
    <p:sldId id="312" r:id="rId31"/>
    <p:sldId id="340" r:id="rId32"/>
    <p:sldId id="333" r:id="rId33"/>
    <p:sldId id="269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95B57-488E-4F40-8249-3D6D4525D48B}" v="437" dt="2025-07-03T01:44:37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447" autoAdjust="0"/>
  </p:normalViewPr>
  <p:slideViewPr>
    <p:cSldViewPr snapToGrid="0">
      <p:cViewPr varScale="1">
        <p:scale>
          <a:sx n="104" d="100"/>
          <a:sy n="104" d="100"/>
        </p:scale>
        <p:origin x="882" y="108"/>
      </p:cViewPr>
      <p:guideLst/>
    </p:cSldViewPr>
  </p:slideViewPr>
  <p:outlineViewPr>
    <p:cViewPr>
      <p:scale>
        <a:sx n="33" d="100"/>
        <a:sy n="33" d="100"/>
      </p:scale>
      <p:origin x="0" y="-11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7BF5C-9837-48FA-A716-C6BABE59EC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2B9252-CF4C-4F84-BAA0-BC3DCC5905B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 de Carteira de Investimentos: </a:t>
          </a:r>
          <a:r>
            <a:rPr lang="pt-BR"/>
            <a:t>coerência entre risco, retorno, perfil e horizonte temporal</a:t>
          </a:r>
          <a:endParaRPr lang="en-US"/>
        </a:p>
      </dgm:t>
    </dgm:pt>
    <dgm:pt modelId="{F8F10F74-A563-4D20-91D3-B14BCDA6C308}" type="parTrans" cxnId="{42A5EF78-C716-43CA-A489-68D4779F80F1}">
      <dgm:prSet/>
      <dgm:spPr/>
      <dgm:t>
        <a:bodyPr/>
        <a:lstStyle/>
        <a:p>
          <a:endParaRPr lang="en-US"/>
        </a:p>
      </dgm:t>
    </dgm:pt>
    <dgm:pt modelId="{F27CF7BD-07EA-419E-A453-C66DB2C7447C}" type="sibTrans" cxnId="{42A5EF78-C716-43CA-A489-68D4779F80F1}">
      <dgm:prSet/>
      <dgm:spPr/>
      <dgm:t>
        <a:bodyPr/>
        <a:lstStyle/>
        <a:p>
          <a:endParaRPr lang="en-US"/>
        </a:p>
      </dgm:t>
    </dgm:pt>
    <dgm:pt modelId="{324DF199-F747-47E0-8D39-C4244275B1E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Importância da Diversificação</a:t>
          </a:r>
          <a:r>
            <a:rPr lang="pt-BR"/>
            <a:t>: Redução de risco, correlação entre ativos, ganhos de longo prazo</a:t>
          </a:r>
          <a:endParaRPr lang="en-US"/>
        </a:p>
      </dgm:t>
    </dgm:pt>
    <dgm:pt modelId="{C23A1F49-CB61-4365-BBF6-E91B7E919D6E}" type="parTrans" cxnId="{339209EE-0625-4EAC-BD86-1F8F2D84F4B3}">
      <dgm:prSet/>
      <dgm:spPr/>
      <dgm:t>
        <a:bodyPr/>
        <a:lstStyle/>
        <a:p>
          <a:endParaRPr lang="en-US"/>
        </a:p>
      </dgm:t>
    </dgm:pt>
    <dgm:pt modelId="{B2D6D6E7-B005-4135-87E5-D957CE553111}" type="sibTrans" cxnId="{339209EE-0625-4EAC-BD86-1F8F2D84F4B3}">
      <dgm:prSet/>
      <dgm:spPr/>
      <dgm:t>
        <a:bodyPr/>
        <a:lstStyle/>
        <a:p>
          <a:endParaRPr lang="en-US"/>
        </a:p>
      </dgm:t>
    </dgm:pt>
    <dgm:pt modelId="{2CAAAF1D-3B7E-454E-9EE7-A51EEF7CF96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Teoria Moderna do Portfólio (TMP)</a:t>
          </a:r>
          <a:r>
            <a:rPr lang="pt-BR"/>
            <a:t>: Markowitz (1952), Relação risco-retorno, Fronteira eficiente</a:t>
          </a:r>
          <a:endParaRPr lang="en-US"/>
        </a:p>
      </dgm:t>
    </dgm:pt>
    <dgm:pt modelId="{A602A922-C4C8-4CC5-8456-8BEF1BABA28C}" type="parTrans" cxnId="{31078EA1-9838-43E5-BD80-88DCFCE13F41}">
      <dgm:prSet/>
      <dgm:spPr/>
      <dgm:t>
        <a:bodyPr/>
        <a:lstStyle/>
        <a:p>
          <a:endParaRPr lang="en-US"/>
        </a:p>
      </dgm:t>
    </dgm:pt>
    <dgm:pt modelId="{E06A138C-F597-41D5-9B86-B58445381E7E}" type="sibTrans" cxnId="{31078EA1-9838-43E5-BD80-88DCFCE13F41}">
      <dgm:prSet/>
      <dgm:spPr/>
      <dgm:t>
        <a:bodyPr/>
        <a:lstStyle/>
        <a:p>
          <a:endParaRPr lang="en-US"/>
        </a:p>
      </dgm:t>
    </dgm:pt>
    <dgm:pt modelId="{C1FB1B66-8207-42F0-B886-79866412E80C}" type="pres">
      <dgm:prSet presAssocID="{B157BF5C-9837-48FA-A716-C6BABE59EC90}" presName="root" presStyleCnt="0">
        <dgm:presLayoutVars>
          <dgm:dir/>
          <dgm:resizeHandles val="exact"/>
        </dgm:presLayoutVars>
      </dgm:prSet>
      <dgm:spPr/>
    </dgm:pt>
    <dgm:pt modelId="{EC941DCE-2C8E-414D-815A-97D3D2F7C1B7}" type="pres">
      <dgm:prSet presAssocID="{DD2B9252-CF4C-4F84-BAA0-BC3DCC5905BB}" presName="compNode" presStyleCnt="0"/>
      <dgm:spPr/>
    </dgm:pt>
    <dgm:pt modelId="{3266EC70-2269-4CBB-83CE-56B628AA4F3C}" type="pres">
      <dgm:prSet presAssocID="{DD2B9252-CF4C-4F84-BAA0-BC3DCC5905BB}" presName="bgRect" presStyleLbl="bgShp" presStyleIdx="0" presStyleCnt="3"/>
      <dgm:spPr/>
    </dgm:pt>
    <dgm:pt modelId="{DEBFA940-AFB4-4C84-BDF8-B5D51ACD0BFF}" type="pres">
      <dgm:prSet presAssocID="{DD2B9252-CF4C-4F84-BAA0-BC3DCC5905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64A395ED-7F12-4867-BF09-299FBC35952A}" type="pres">
      <dgm:prSet presAssocID="{DD2B9252-CF4C-4F84-BAA0-BC3DCC5905BB}" presName="spaceRect" presStyleCnt="0"/>
      <dgm:spPr/>
    </dgm:pt>
    <dgm:pt modelId="{2666EB79-375B-4C6E-9511-83E03531853B}" type="pres">
      <dgm:prSet presAssocID="{DD2B9252-CF4C-4F84-BAA0-BC3DCC5905BB}" presName="parTx" presStyleLbl="revTx" presStyleIdx="0" presStyleCnt="3">
        <dgm:presLayoutVars>
          <dgm:chMax val="0"/>
          <dgm:chPref val="0"/>
        </dgm:presLayoutVars>
      </dgm:prSet>
      <dgm:spPr/>
    </dgm:pt>
    <dgm:pt modelId="{D921A553-A7EE-4D14-88AD-058E78FD93C1}" type="pres">
      <dgm:prSet presAssocID="{F27CF7BD-07EA-419E-A453-C66DB2C7447C}" presName="sibTrans" presStyleCnt="0"/>
      <dgm:spPr/>
    </dgm:pt>
    <dgm:pt modelId="{A43FD66F-794B-457C-9D80-EFEEECFFF453}" type="pres">
      <dgm:prSet presAssocID="{324DF199-F747-47E0-8D39-C4244275B1EC}" presName="compNode" presStyleCnt="0"/>
      <dgm:spPr/>
    </dgm:pt>
    <dgm:pt modelId="{B370A80A-BEBE-4C67-B767-AD3836195E9A}" type="pres">
      <dgm:prSet presAssocID="{324DF199-F747-47E0-8D39-C4244275B1EC}" presName="bgRect" presStyleLbl="bgShp" presStyleIdx="1" presStyleCnt="3"/>
      <dgm:spPr/>
    </dgm:pt>
    <dgm:pt modelId="{A43D8858-5347-4A7D-9448-EC6BB72C8AB1}" type="pres">
      <dgm:prSet presAssocID="{324DF199-F747-47E0-8D39-C4244275B1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35003EC-FD95-4BD9-991F-8A7411677806}" type="pres">
      <dgm:prSet presAssocID="{324DF199-F747-47E0-8D39-C4244275B1EC}" presName="spaceRect" presStyleCnt="0"/>
      <dgm:spPr/>
    </dgm:pt>
    <dgm:pt modelId="{2D0398DC-B969-40C6-88EC-17D0D5F7FE19}" type="pres">
      <dgm:prSet presAssocID="{324DF199-F747-47E0-8D39-C4244275B1EC}" presName="parTx" presStyleLbl="revTx" presStyleIdx="1" presStyleCnt="3">
        <dgm:presLayoutVars>
          <dgm:chMax val="0"/>
          <dgm:chPref val="0"/>
        </dgm:presLayoutVars>
      </dgm:prSet>
      <dgm:spPr/>
    </dgm:pt>
    <dgm:pt modelId="{58229560-9472-4751-AC4C-193A0F0569CE}" type="pres">
      <dgm:prSet presAssocID="{B2D6D6E7-B005-4135-87E5-D957CE553111}" presName="sibTrans" presStyleCnt="0"/>
      <dgm:spPr/>
    </dgm:pt>
    <dgm:pt modelId="{8848FBDF-C76D-4396-9E16-6FDD918E4B9D}" type="pres">
      <dgm:prSet presAssocID="{2CAAAF1D-3B7E-454E-9EE7-A51EEF7CF964}" presName="compNode" presStyleCnt="0"/>
      <dgm:spPr/>
    </dgm:pt>
    <dgm:pt modelId="{E74DB5E5-27F8-412B-94E8-5F45078999B3}" type="pres">
      <dgm:prSet presAssocID="{2CAAAF1D-3B7E-454E-9EE7-A51EEF7CF964}" presName="bgRect" presStyleLbl="bgShp" presStyleIdx="2" presStyleCnt="3"/>
      <dgm:spPr/>
    </dgm:pt>
    <dgm:pt modelId="{AE484EF5-C87E-49E9-B56E-191D6EF40DC6}" type="pres">
      <dgm:prSet presAssocID="{2CAAAF1D-3B7E-454E-9EE7-A51EEF7CF9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FABC240-7209-4980-8386-794D14C04221}" type="pres">
      <dgm:prSet presAssocID="{2CAAAF1D-3B7E-454E-9EE7-A51EEF7CF964}" presName="spaceRect" presStyleCnt="0"/>
      <dgm:spPr/>
    </dgm:pt>
    <dgm:pt modelId="{9ECA8261-A2CE-4143-9CFB-E229CB3228BE}" type="pres">
      <dgm:prSet presAssocID="{2CAAAF1D-3B7E-454E-9EE7-A51EEF7CF9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EC3238-0179-4CE0-9218-C655759C2313}" type="presOf" srcId="{324DF199-F747-47E0-8D39-C4244275B1EC}" destId="{2D0398DC-B969-40C6-88EC-17D0D5F7FE19}" srcOrd="0" destOrd="0" presId="urn:microsoft.com/office/officeart/2018/2/layout/IconVerticalSolidList"/>
    <dgm:cxn modelId="{543BE83A-B1A1-49F2-BE10-E390CED1E855}" type="presOf" srcId="{B157BF5C-9837-48FA-A716-C6BABE59EC90}" destId="{C1FB1B66-8207-42F0-B886-79866412E80C}" srcOrd="0" destOrd="0" presId="urn:microsoft.com/office/officeart/2018/2/layout/IconVerticalSolidList"/>
    <dgm:cxn modelId="{42A5EF78-C716-43CA-A489-68D4779F80F1}" srcId="{B157BF5C-9837-48FA-A716-C6BABE59EC90}" destId="{DD2B9252-CF4C-4F84-BAA0-BC3DCC5905BB}" srcOrd="0" destOrd="0" parTransId="{F8F10F74-A563-4D20-91D3-B14BCDA6C308}" sibTransId="{F27CF7BD-07EA-419E-A453-C66DB2C7447C}"/>
    <dgm:cxn modelId="{3D41D68A-DD5F-4FBF-8B59-FD87B1EB5BB5}" type="presOf" srcId="{DD2B9252-CF4C-4F84-BAA0-BC3DCC5905BB}" destId="{2666EB79-375B-4C6E-9511-83E03531853B}" srcOrd="0" destOrd="0" presId="urn:microsoft.com/office/officeart/2018/2/layout/IconVerticalSolidList"/>
    <dgm:cxn modelId="{31078EA1-9838-43E5-BD80-88DCFCE13F41}" srcId="{B157BF5C-9837-48FA-A716-C6BABE59EC90}" destId="{2CAAAF1D-3B7E-454E-9EE7-A51EEF7CF964}" srcOrd="2" destOrd="0" parTransId="{A602A922-C4C8-4CC5-8456-8BEF1BABA28C}" sibTransId="{E06A138C-F597-41D5-9B86-B58445381E7E}"/>
    <dgm:cxn modelId="{339209EE-0625-4EAC-BD86-1F8F2D84F4B3}" srcId="{B157BF5C-9837-48FA-A716-C6BABE59EC90}" destId="{324DF199-F747-47E0-8D39-C4244275B1EC}" srcOrd="1" destOrd="0" parTransId="{C23A1F49-CB61-4365-BBF6-E91B7E919D6E}" sibTransId="{B2D6D6E7-B005-4135-87E5-D957CE553111}"/>
    <dgm:cxn modelId="{5A37C0FD-2833-4B69-972F-645488E5E506}" type="presOf" srcId="{2CAAAF1D-3B7E-454E-9EE7-A51EEF7CF964}" destId="{9ECA8261-A2CE-4143-9CFB-E229CB3228BE}" srcOrd="0" destOrd="0" presId="urn:microsoft.com/office/officeart/2018/2/layout/IconVerticalSolidList"/>
    <dgm:cxn modelId="{FEEB7323-1427-4A37-B428-F21933014459}" type="presParOf" srcId="{C1FB1B66-8207-42F0-B886-79866412E80C}" destId="{EC941DCE-2C8E-414D-815A-97D3D2F7C1B7}" srcOrd="0" destOrd="0" presId="urn:microsoft.com/office/officeart/2018/2/layout/IconVerticalSolidList"/>
    <dgm:cxn modelId="{1BDE7A66-15D9-45C9-BB03-528D2E9E83CF}" type="presParOf" srcId="{EC941DCE-2C8E-414D-815A-97D3D2F7C1B7}" destId="{3266EC70-2269-4CBB-83CE-56B628AA4F3C}" srcOrd="0" destOrd="0" presId="urn:microsoft.com/office/officeart/2018/2/layout/IconVerticalSolidList"/>
    <dgm:cxn modelId="{769D0B1C-3A22-4B1B-B925-7B31448CAE95}" type="presParOf" srcId="{EC941DCE-2C8E-414D-815A-97D3D2F7C1B7}" destId="{DEBFA940-AFB4-4C84-BDF8-B5D51ACD0BFF}" srcOrd="1" destOrd="0" presId="urn:microsoft.com/office/officeart/2018/2/layout/IconVerticalSolidList"/>
    <dgm:cxn modelId="{8A79D6AC-31B7-407F-88E7-368603EFB58A}" type="presParOf" srcId="{EC941DCE-2C8E-414D-815A-97D3D2F7C1B7}" destId="{64A395ED-7F12-4867-BF09-299FBC35952A}" srcOrd="2" destOrd="0" presId="urn:microsoft.com/office/officeart/2018/2/layout/IconVerticalSolidList"/>
    <dgm:cxn modelId="{F3B114D0-B587-4C18-AF7F-E1765A8ED8DF}" type="presParOf" srcId="{EC941DCE-2C8E-414D-815A-97D3D2F7C1B7}" destId="{2666EB79-375B-4C6E-9511-83E03531853B}" srcOrd="3" destOrd="0" presId="urn:microsoft.com/office/officeart/2018/2/layout/IconVerticalSolidList"/>
    <dgm:cxn modelId="{08D23916-00E4-471A-9DEC-4D7125EF0EEA}" type="presParOf" srcId="{C1FB1B66-8207-42F0-B886-79866412E80C}" destId="{D921A553-A7EE-4D14-88AD-058E78FD93C1}" srcOrd="1" destOrd="0" presId="urn:microsoft.com/office/officeart/2018/2/layout/IconVerticalSolidList"/>
    <dgm:cxn modelId="{ADBB7A8A-E7A3-4825-B3DC-F9553AE39397}" type="presParOf" srcId="{C1FB1B66-8207-42F0-B886-79866412E80C}" destId="{A43FD66F-794B-457C-9D80-EFEEECFFF453}" srcOrd="2" destOrd="0" presId="urn:microsoft.com/office/officeart/2018/2/layout/IconVerticalSolidList"/>
    <dgm:cxn modelId="{276A85A0-A807-41FF-8219-518BBD31CEC7}" type="presParOf" srcId="{A43FD66F-794B-457C-9D80-EFEEECFFF453}" destId="{B370A80A-BEBE-4C67-B767-AD3836195E9A}" srcOrd="0" destOrd="0" presId="urn:microsoft.com/office/officeart/2018/2/layout/IconVerticalSolidList"/>
    <dgm:cxn modelId="{3971610E-5C9E-4CBF-9704-F574950A7C91}" type="presParOf" srcId="{A43FD66F-794B-457C-9D80-EFEEECFFF453}" destId="{A43D8858-5347-4A7D-9448-EC6BB72C8AB1}" srcOrd="1" destOrd="0" presId="urn:microsoft.com/office/officeart/2018/2/layout/IconVerticalSolidList"/>
    <dgm:cxn modelId="{C05BFF93-F571-4CA6-96A7-138BB45CA73B}" type="presParOf" srcId="{A43FD66F-794B-457C-9D80-EFEEECFFF453}" destId="{C35003EC-FD95-4BD9-991F-8A7411677806}" srcOrd="2" destOrd="0" presId="urn:microsoft.com/office/officeart/2018/2/layout/IconVerticalSolidList"/>
    <dgm:cxn modelId="{4F362637-4E2E-4C2B-BFAA-B756CCD9362C}" type="presParOf" srcId="{A43FD66F-794B-457C-9D80-EFEEECFFF453}" destId="{2D0398DC-B969-40C6-88EC-17D0D5F7FE19}" srcOrd="3" destOrd="0" presId="urn:microsoft.com/office/officeart/2018/2/layout/IconVerticalSolidList"/>
    <dgm:cxn modelId="{3D39DAB2-F0DA-43B2-BDA3-D51749BF7CD9}" type="presParOf" srcId="{C1FB1B66-8207-42F0-B886-79866412E80C}" destId="{58229560-9472-4751-AC4C-193A0F0569CE}" srcOrd="3" destOrd="0" presId="urn:microsoft.com/office/officeart/2018/2/layout/IconVerticalSolidList"/>
    <dgm:cxn modelId="{80BB7CFB-A622-45B6-8224-BA8F2FA98F1E}" type="presParOf" srcId="{C1FB1B66-8207-42F0-B886-79866412E80C}" destId="{8848FBDF-C76D-4396-9E16-6FDD918E4B9D}" srcOrd="4" destOrd="0" presId="urn:microsoft.com/office/officeart/2018/2/layout/IconVerticalSolidList"/>
    <dgm:cxn modelId="{F1E75801-482D-45C1-87A1-0DF833609FAE}" type="presParOf" srcId="{8848FBDF-C76D-4396-9E16-6FDD918E4B9D}" destId="{E74DB5E5-27F8-412B-94E8-5F45078999B3}" srcOrd="0" destOrd="0" presId="urn:microsoft.com/office/officeart/2018/2/layout/IconVerticalSolidList"/>
    <dgm:cxn modelId="{FABF4B81-9069-4CC8-9D04-78761412E928}" type="presParOf" srcId="{8848FBDF-C76D-4396-9E16-6FDD918E4B9D}" destId="{AE484EF5-C87E-49E9-B56E-191D6EF40DC6}" srcOrd="1" destOrd="0" presId="urn:microsoft.com/office/officeart/2018/2/layout/IconVerticalSolidList"/>
    <dgm:cxn modelId="{25CA360D-1EAF-4D42-8884-396D16E98D2E}" type="presParOf" srcId="{8848FBDF-C76D-4396-9E16-6FDD918E4B9D}" destId="{5FABC240-7209-4980-8386-794D14C04221}" srcOrd="2" destOrd="0" presId="urn:microsoft.com/office/officeart/2018/2/layout/IconVerticalSolidList"/>
    <dgm:cxn modelId="{E35C2287-F197-4B59-BB6C-6E596A779FFA}" type="presParOf" srcId="{8848FBDF-C76D-4396-9E16-6FDD918E4B9D}" destId="{9ECA8261-A2CE-4143-9CFB-E229CB3228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B61934-AB7F-4361-9FE3-BAA085DD0A0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76CD4-75B2-403E-84FA-B32486C8A2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600" b="1" dirty="0"/>
            <a:t>Funcionamento dos </a:t>
          </a:r>
          <a:r>
            <a:rPr lang="pt-BR" sz="1600" b="1" dirty="0" err="1"/>
            <a:t>AGMOs</a:t>
          </a:r>
          <a:r>
            <a:rPr lang="pt-BR" sz="1600" b="1" dirty="0"/>
            <a:t>: </a:t>
          </a:r>
          <a:r>
            <a:rPr lang="pt-BR" sz="1600" dirty="0"/>
            <a:t>Seleção,  Cruzamento Mutação,  Convergência gradual</a:t>
          </a:r>
          <a:r>
            <a:rPr lang="pt-BR" sz="1600" b="1" dirty="0"/>
            <a:t> </a:t>
          </a:r>
          <a:endParaRPr lang="en-US" sz="1600" dirty="0"/>
        </a:p>
      </dgm:t>
    </dgm:pt>
    <dgm:pt modelId="{B593F67F-47A1-4DD3-A1E0-03E4EC3AAE34}" type="parTrans" cxnId="{7DAFCDC5-03F7-4CED-8CAF-BC7E245F4BD2}">
      <dgm:prSet/>
      <dgm:spPr/>
      <dgm:t>
        <a:bodyPr/>
        <a:lstStyle/>
        <a:p>
          <a:endParaRPr lang="en-US"/>
        </a:p>
      </dgm:t>
    </dgm:pt>
    <dgm:pt modelId="{1437BB90-2CB2-4CD2-A57F-EC6D1F360679}" type="sibTrans" cxnId="{7DAFCDC5-03F7-4CED-8CAF-BC7E245F4B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3CD5F9-E10B-4F4F-95A3-EE344D3A66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600" dirty="0"/>
            <a:t>NSGA-II</a:t>
          </a:r>
          <a:r>
            <a:rPr lang="pt-BR" sz="1600" b="1" dirty="0"/>
            <a:t>:</a:t>
          </a:r>
          <a:r>
            <a:rPr lang="pt-BR" sz="1600" dirty="0"/>
            <a:t> Algoritmo mais reconhecido Ordenação não-dominada </a:t>
          </a:r>
          <a:r>
            <a:rPr lang="pt-BR" sz="1600" dirty="0" err="1"/>
            <a:t>Crowding</a:t>
          </a:r>
          <a:r>
            <a:rPr lang="pt-BR" sz="1600" dirty="0"/>
            <a:t> </a:t>
          </a:r>
          <a:r>
            <a:rPr lang="pt-BR" sz="1600" dirty="0" err="1"/>
            <a:t>distance</a:t>
          </a:r>
          <a:endParaRPr lang="en-US" sz="1600" dirty="0"/>
        </a:p>
      </dgm:t>
    </dgm:pt>
    <dgm:pt modelId="{23C93CBC-F2B6-48FC-9B08-F0A283DC6DC1}" type="parTrans" cxnId="{5CADE0DA-D8AF-42A3-AFBC-99A88BC1FCCA}">
      <dgm:prSet/>
      <dgm:spPr/>
      <dgm:t>
        <a:bodyPr/>
        <a:lstStyle/>
        <a:p>
          <a:endParaRPr lang="en-US"/>
        </a:p>
      </dgm:t>
    </dgm:pt>
    <dgm:pt modelId="{D38CC44C-0E66-4705-8F64-5D43A6A68CA3}" type="sibTrans" cxnId="{5CADE0DA-D8AF-42A3-AFBC-99A88BC1FC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E143A1-35E2-4715-B121-CD0FFF5F12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600" dirty="0"/>
            <a:t>Limitações do NSGA-II</a:t>
          </a:r>
          <a:r>
            <a:rPr lang="pt-BR" sz="1600" b="1" dirty="0"/>
            <a:t>:</a:t>
          </a:r>
          <a:r>
            <a:rPr lang="pt-BR" sz="1600" dirty="0"/>
            <a:t> Dificuldade em focar regiões específica,  Diversidade uniforme, Falta de direcionamento </a:t>
          </a:r>
          <a:endParaRPr lang="en-US" sz="1600" dirty="0"/>
        </a:p>
      </dgm:t>
    </dgm:pt>
    <dgm:pt modelId="{047C2043-FAA2-4BCF-962B-381356948EEE}" type="parTrans" cxnId="{F6507E16-3100-443F-8249-CE451FC8DE35}">
      <dgm:prSet/>
      <dgm:spPr/>
      <dgm:t>
        <a:bodyPr/>
        <a:lstStyle/>
        <a:p>
          <a:endParaRPr lang="en-US"/>
        </a:p>
      </dgm:t>
    </dgm:pt>
    <dgm:pt modelId="{9291D7ED-BD8B-4878-9849-69D8FB263017}" type="sibTrans" cxnId="{F6507E16-3100-443F-8249-CE451FC8DE35}">
      <dgm:prSet/>
      <dgm:spPr/>
      <dgm:t>
        <a:bodyPr/>
        <a:lstStyle/>
        <a:p>
          <a:endParaRPr lang="en-US"/>
        </a:p>
      </dgm:t>
    </dgm:pt>
    <dgm:pt modelId="{288F0803-E793-49E0-8A7C-691CB324DA62}" type="pres">
      <dgm:prSet presAssocID="{B2B61934-AB7F-4361-9FE3-BAA085DD0A06}" presName="root" presStyleCnt="0">
        <dgm:presLayoutVars>
          <dgm:dir/>
          <dgm:resizeHandles val="exact"/>
        </dgm:presLayoutVars>
      </dgm:prSet>
      <dgm:spPr/>
    </dgm:pt>
    <dgm:pt modelId="{0681E39D-2DD5-4C8C-B20F-3EE3205D8C35}" type="pres">
      <dgm:prSet presAssocID="{B2B61934-AB7F-4361-9FE3-BAA085DD0A06}" presName="container" presStyleCnt="0">
        <dgm:presLayoutVars>
          <dgm:dir/>
          <dgm:resizeHandles val="exact"/>
        </dgm:presLayoutVars>
      </dgm:prSet>
      <dgm:spPr/>
    </dgm:pt>
    <dgm:pt modelId="{24C193F2-BC32-478F-8FC9-9FF6042A491C}" type="pres">
      <dgm:prSet presAssocID="{6EE76CD4-75B2-403E-84FA-B32486C8A2FE}" presName="compNode" presStyleCnt="0"/>
      <dgm:spPr/>
    </dgm:pt>
    <dgm:pt modelId="{F2DD5425-6E6E-4FC1-847C-FF6F8412F9BC}" type="pres">
      <dgm:prSet presAssocID="{6EE76CD4-75B2-403E-84FA-B32486C8A2FE}" presName="iconBgRect" presStyleLbl="bgShp" presStyleIdx="0" presStyleCnt="3"/>
      <dgm:spPr/>
    </dgm:pt>
    <dgm:pt modelId="{2375928E-0A48-4EE6-8B39-2E5311AA0E88}" type="pres">
      <dgm:prSet presAssocID="{6EE76CD4-75B2-403E-84FA-B32486C8A2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647CAC42-5EC0-4A8C-B979-B86EA56F9A07}" type="pres">
      <dgm:prSet presAssocID="{6EE76CD4-75B2-403E-84FA-B32486C8A2FE}" presName="spaceRect" presStyleCnt="0"/>
      <dgm:spPr/>
    </dgm:pt>
    <dgm:pt modelId="{4BA6D204-BA02-48F8-A0BC-9F890B5079C9}" type="pres">
      <dgm:prSet presAssocID="{6EE76CD4-75B2-403E-84FA-B32486C8A2FE}" presName="textRect" presStyleLbl="revTx" presStyleIdx="0" presStyleCnt="3">
        <dgm:presLayoutVars>
          <dgm:chMax val="1"/>
          <dgm:chPref val="1"/>
        </dgm:presLayoutVars>
      </dgm:prSet>
      <dgm:spPr/>
    </dgm:pt>
    <dgm:pt modelId="{A8EACF11-689B-4FFF-A2F9-D71A4D4EDF5D}" type="pres">
      <dgm:prSet presAssocID="{1437BB90-2CB2-4CD2-A57F-EC6D1F360679}" presName="sibTrans" presStyleLbl="sibTrans2D1" presStyleIdx="0" presStyleCnt="0"/>
      <dgm:spPr/>
    </dgm:pt>
    <dgm:pt modelId="{D33B5310-16E3-4E23-B030-18556989EF71}" type="pres">
      <dgm:prSet presAssocID="{0B3CD5F9-E10B-4F4F-95A3-EE344D3A664B}" presName="compNode" presStyleCnt="0"/>
      <dgm:spPr/>
    </dgm:pt>
    <dgm:pt modelId="{5371DD11-17A5-4203-B1CC-CD951C74D9C1}" type="pres">
      <dgm:prSet presAssocID="{0B3CD5F9-E10B-4F4F-95A3-EE344D3A664B}" presName="iconBgRect" presStyleLbl="bgShp" presStyleIdx="1" presStyleCnt="3"/>
      <dgm:spPr/>
    </dgm:pt>
    <dgm:pt modelId="{3C576759-1AE0-4E81-8ED4-69F61292F0B8}" type="pres">
      <dgm:prSet presAssocID="{0B3CD5F9-E10B-4F4F-95A3-EE344D3A66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27515CE6-6A5A-44E3-A200-53C8099F4EEA}" type="pres">
      <dgm:prSet presAssocID="{0B3CD5F9-E10B-4F4F-95A3-EE344D3A664B}" presName="spaceRect" presStyleCnt="0"/>
      <dgm:spPr/>
    </dgm:pt>
    <dgm:pt modelId="{6001C31A-62C7-4AEA-A226-76FC293E9BBA}" type="pres">
      <dgm:prSet presAssocID="{0B3CD5F9-E10B-4F4F-95A3-EE344D3A664B}" presName="textRect" presStyleLbl="revTx" presStyleIdx="1" presStyleCnt="3">
        <dgm:presLayoutVars>
          <dgm:chMax val="1"/>
          <dgm:chPref val="1"/>
        </dgm:presLayoutVars>
      </dgm:prSet>
      <dgm:spPr/>
    </dgm:pt>
    <dgm:pt modelId="{47C5D30D-16A9-47CE-A27C-ECB3DDDD80C8}" type="pres">
      <dgm:prSet presAssocID="{D38CC44C-0E66-4705-8F64-5D43A6A68CA3}" presName="sibTrans" presStyleLbl="sibTrans2D1" presStyleIdx="0" presStyleCnt="0"/>
      <dgm:spPr/>
    </dgm:pt>
    <dgm:pt modelId="{37559776-645A-418C-A6CB-5C6EC8BEE59F}" type="pres">
      <dgm:prSet presAssocID="{98E143A1-35E2-4715-B121-CD0FFF5F1212}" presName="compNode" presStyleCnt="0"/>
      <dgm:spPr/>
    </dgm:pt>
    <dgm:pt modelId="{C776F82D-0599-4B6B-B2B5-47100D1ADD2B}" type="pres">
      <dgm:prSet presAssocID="{98E143A1-35E2-4715-B121-CD0FFF5F1212}" presName="iconBgRect" presStyleLbl="bgShp" presStyleIdx="2" presStyleCnt="3"/>
      <dgm:spPr/>
    </dgm:pt>
    <dgm:pt modelId="{04810785-D4D7-4214-803D-0D07BCFEFAE2}" type="pres">
      <dgm:prSet presAssocID="{98E143A1-35E2-4715-B121-CD0FFF5F12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F1DFF1DE-11EF-4ADF-AEF7-1E029F543F8B}" type="pres">
      <dgm:prSet presAssocID="{98E143A1-35E2-4715-B121-CD0FFF5F1212}" presName="spaceRect" presStyleCnt="0"/>
      <dgm:spPr/>
    </dgm:pt>
    <dgm:pt modelId="{A551753E-80F2-4474-8E8E-0AACD7D7AF8D}" type="pres">
      <dgm:prSet presAssocID="{98E143A1-35E2-4715-B121-CD0FFF5F121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6507E16-3100-443F-8249-CE451FC8DE35}" srcId="{B2B61934-AB7F-4361-9FE3-BAA085DD0A06}" destId="{98E143A1-35E2-4715-B121-CD0FFF5F1212}" srcOrd="2" destOrd="0" parTransId="{047C2043-FAA2-4BCF-962B-381356948EEE}" sibTransId="{9291D7ED-BD8B-4878-9849-69D8FB263017}"/>
    <dgm:cxn modelId="{D691101B-B13A-4F61-9DAE-7FFB6136F4CF}" type="presOf" srcId="{B2B61934-AB7F-4361-9FE3-BAA085DD0A06}" destId="{288F0803-E793-49E0-8A7C-691CB324DA62}" srcOrd="0" destOrd="0" presId="urn:microsoft.com/office/officeart/2018/2/layout/IconCircleList"/>
    <dgm:cxn modelId="{C4002469-CC0F-4A1B-B555-E903CD57016D}" type="presOf" srcId="{D38CC44C-0E66-4705-8F64-5D43A6A68CA3}" destId="{47C5D30D-16A9-47CE-A27C-ECB3DDDD80C8}" srcOrd="0" destOrd="0" presId="urn:microsoft.com/office/officeart/2018/2/layout/IconCircleList"/>
    <dgm:cxn modelId="{0E2F4E9D-A488-48FD-8388-39B134E8C5F5}" type="presOf" srcId="{1437BB90-2CB2-4CD2-A57F-EC6D1F360679}" destId="{A8EACF11-689B-4FFF-A2F9-D71A4D4EDF5D}" srcOrd="0" destOrd="0" presId="urn:microsoft.com/office/officeart/2018/2/layout/IconCircleList"/>
    <dgm:cxn modelId="{7DAFCDC5-03F7-4CED-8CAF-BC7E245F4BD2}" srcId="{B2B61934-AB7F-4361-9FE3-BAA085DD0A06}" destId="{6EE76CD4-75B2-403E-84FA-B32486C8A2FE}" srcOrd="0" destOrd="0" parTransId="{B593F67F-47A1-4DD3-A1E0-03E4EC3AAE34}" sibTransId="{1437BB90-2CB2-4CD2-A57F-EC6D1F360679}"/>
    <dgm:cxn modelId="{5CADE0DA-D8AF-42A3-AFBC-99A88BC1FCCA}" srcId="{B2B61934-AB7F-4361-9FE3-BAA085DD0A06}" destId="{0B3CD5F9-E10B-4F4F-95A3-EE344D3A664B}" srcOrd="1" destOrd="0" parTransId="{23C93CBC-F2B6-48FC-9B08-F0A283DC6DC1}" sibTransId="{D38CC44C-0E66-4705-8F64-5D43A6A68CA3}"/>
    <dgm:cxn modelId="{F2791BE1-65CC-4BD7-BB87-2F68386108A9}" type="presOf" srcId="{98E143A1-35E2-4715-B121-CD0FFF5F1212}" destId="{A551753E-80F2-4474-8E8E-0AACD7D7AF8D}" srcOrd="0" destOrd="0" presId="urn:microsoft.com/office/officeart/2018/2/layout/IconCircleList"/>
    <dgm:cxn modelId="{381027E1-026C-46A8-9093-3C896280FF04}" type="presOf" srcId="{6EE76CD4-75B2-403E-84FA-B32486C8A2FE}" destId="{4BA6D204-BA02-48F8-A0BC-9F890B5079C9}" srcOrd="0" destOrd="0" presId="urn:microsoft.com/office/officeart/2018/2/layout/IconCircleList"/>
    <dgm:cxn modelId="{27C027FF-943E-4F1C-8A43-C208431FFE00}" type="presOf" srcId="{0B3CD5F9-E10B-4F4F-95A3-EE344D3A664B}" destId="{6001C31A-62C7-4AEA-A226-76FC293E9BBA}" srcOrd="0" destOrd="0" presId="urn:microsoft.com/office/officeart/2018/2/layout/IconCircleList"/>
    <dgm:cxn modelId="{52D29F27-606D-4C34-A542-00C4F27A31F7}" type="presParOf" srcId="{288F0803-E793-49E0-8A7C-691CB324DA62}" destId="{0681E39D-2DD5-4C8C-B20F-3EE3205D8C35}" srcOrd="0" destOrd="0" presId="urn:microsoft.com/office/officeart/2018/2/layout/IconCircleList"/>
    <dgm:cxn modelId="{2E81C526-DB79-426C-A75A-67E1AE3AA95C}" type="presParOf" srcId="{0681E39D-2DD5-4C8C-B20F-3EE3205D8C35}" destId="{24C193F2-BC32-478F-8FC9-9FF6042A491C}" srcOrd="0" destOrd="0" presId="urn:microsoft.com/office/officeart/2018/2/layout/IconCircleList"/>
    <dgm:cxn modelId="{EE44ED94-0156-467E-A6BE-5586DC1F8289}" type="presParOf" srcId="{24C193F2-BC32-478F-8FC9-9FF6042A491C}" destId="{F2DD5425-6E6E-4FC1-847C-FF6F8412F9BC}" srcOrd="0" destOrd="0" presId="urn:microsoft.com/office/officeart/2018/2/layout/IconCircleList"/>
    <dgm:cxn modelId="{66BEE967-76C1-4CA9-809B-939E6F73F25A}" type="presParOf" srcId="{24C193F2-BC32-478F-8FC9-9FF6042A491C}" destId="{2375928E-0A48-4EE6-8B39-2E5311AA0E88}" srcOrd="1" destOrd="0" presId="urn:microsoft.com/office/officeart/2018/2/layout/IconCircleList"/>
    <dgm:cxn modelId="{2CE59026-01D5-4795-8968-10E07C3AD89D}" type="presParOf" srcId="{24C193F2-BC32-478F-8FC9-9FF6042A491C}" destId="{647CAC42-5EC0-4A8C-B979-B86EA56F9A07}" srcOrd="2" destOrd="0" presId="urn:microsoft.com/office/officeart/2018/2/layout/IconCircleList"/>
    <dgm:cxn modelId="{387CD595-4BBA-4A88-B17A-9954FE47726B}" type="presParOf" srcId="{24C193F2-BC32-478F-8FC9-9FF6042A491C}" destId="{4BA6D204-BA02-48F8-A0BC-9F890B5079C9}" srcOrd="3" destOrd="0" presId="urn:microsoft.com/office/officeart/2018/2/layout/IconCircleList"/>
    <dgm:cxn modelId="{62D80F2A-D47C-429A-AD2A-EA67E2631A0A}" type="presParOf" srcId="{0681E39D-2DD5-4C8C-B20F-3EE3205D8C35}" destId="{A8EACF11-689B-4FFF-A2F9-D71A4D4EDF5D}" srcOrd="1" destOrd="0" presId="urn:microsoft.com/office/officeart/2018/2/layout/IconCircleList"/>
    <dgm:cxn modelId="{46F98DF8-C333-4D26-BD50-C7D1920D388E}" type="presParOf" srcId="{0681E39D-2DD5-4C8C-B20F-3EE3205D8C35}" destId="{D33B5310-16E3-4E23-B030-18556989EF71}" srcOrd="2" destOrd="0" presId="urn:microsoft.com/office/officeart/2018/2/layout/IconCircleList"/>
    <dgm:cxn modelId="{AED86CB4-1D07-41D8-9AB7-79273E0B971F}" type="presParOf" srcId="{D33B5310-16E3-4E23-B030-18556989EF71}" destId="{5371DD11-17A5-4203-B1CC-CD951C74D9C1}" srcOrd="0" destOrd="0" presId="urn:microsoft.com/office/officeart/2018/2/layout/IconCircleList"/>
    <dgm:cxn modelId="{22FD7D31-6A68-4AE8-B8E5-FF94B7671A2F}" type="presParOf" srcId="{D33B5310-16E3-4E23-B030-18556989EF71}" destId="{3C576759-1AE0-4E81-8ED4-69F61292F0B8}" srcOrd="1" destOrd="0" presId="urn:microsoft.com/office/officeart/2018/2/layout/IconCircleList"/>
    <dgm:cxn modelId="{34F66E2C-6183-49CF-B6F2-1D5DD6A3D2AB}" type="presParOf" srcId="{D33B5310-16E3-4E23-B030-18556989EF71}" destId="{27515CE6-6A5A-44E3-A200-53C8099F4EEA}" srcOrd="2" destOrd="0" presId="urn:microsoft.com/office/officeart/2018/2/layout/IconCircleList"/>
    <dgm:cxn modelId="{941CF8E0-071C-4CDA-B910-8B5D4D983F56}" type="presParOf" srcId="{D33B5310-16E3-4E23-B030-18556989EF71}" destId="{6001C31A-62C7-4AEA-A226-76FC293E9BBA}" srcOrd="3" destOrd="0" presId="urn:microsoft.com/office/officeart/2018/2/layout/IconCircleList"/>
    <dgm:cxn modelId="{A22C98CD-7698-4D4C-8FAC-7F792E8850A1}" type="presParOf" srcId="{0681E39D-2DD5-4C8C-B20F-3EE3205D8C35}" destId="{47C5D30D-16A9-47CE-A27C-ECB3DDDD80C8}" srcOrd="3" destOrd="0" presId="urn:microsoft.com/office/officeart/2018/2/layout/IconCircleList"/>
    <dgm:cxn modelId="{4DAACBCB-737E-49CE-984A-D32961E5ACE9}" type="presParOf" srcId="{0681E39D-2DD5-4C8C-B20F-3EE3205D8C35}" destId="{37559776-645A-418C-A6CB-5C6EC8BEE59F}" srcOrd="4" destOrd="0" presId="urn:microsoft.com/office/officeart/2018/2/layout/IconCircleList"/>
    <dgm:cxn modelId="{173F8B7B-45C8-4212-BF85-93612E60A101}" type="presParOf" srcId="{37559776-645A-418C-A6CB-5C6EC8BEE59F}" destId="{C776F82D-0599-4B6B-B2B5-47100D1ADD2B}" srcOrd="0" destOrd="0" presId="urn:microsoft.com/office/officeart/2018/2/layout/IconCircleList"/>
    <dgm:cxn modelId="{5130C91B-BE30-48BF-B2B4-95BBBE481F01}" type="presParOf" srcId="{37559776-645A-418C-A6CB-5C6EC8BEE59F}" destId="{04810785-D4D7-4214-803D-0D07BCFEFAE2}" srcOrd="1" destOrd="0" presId="urn:microsoft.com/office/officeart/2018/2/layout/IconCircleList"/>
    <dgm:cxn modelId="{97EFB36E-7245-4BD2-ACF9-CF440772AE0C}" type="presParOf" srcId="{37559776-645A-418C-A6CB-5C6EC8BEE59F}" destId="{F1DFF1DE-11EF-4ADF-AEF7-1E029F543F8B}" srcOrd="2" destOrd="0" presId="urn:microsoft.com/office/officeart/2018/2/layout/IconCircleList"/>
    <dgm:cxn modelId="{76241EBC-B016-4505-B27F-DF0530D9379F}" type="presParOf" srcId="{37559776-645A-418C-A6CB-5C6EC8BEE59F}" destId="{A551753E-80F2-4474-8E8E-0AACD7D7AF8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6EC70-2269-4CBB-83CE-56B628AA4F3C}">
      <dsp:nvSpPr>
        <dsp:cNvPr id="0" name=""/>
        <dsp:cNvSpPr/>
      </dsp:nvSpPr>
      <dsp:spPr>
        <a:xfrm>
          <a:off x="0" y="531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FA940-AFB4-4C84-BDF8-B5D51ACD0BFF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6EB79-375B-4C6E-9511-83E03531853B}">
      <dsp:nvSpPr>
        <dsp:cNvPr id="0" name=""/>
        <dsp:cNvSpPr/>
      </dsp:nvSpPr>
      <dsp:spPr>
        <a:xfrm>
          <a:off x="1435590" y="531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Conceito de Carteira de Investimentos: </a:t>
          </a:r>
          <a:r>
            <a:rPr lang="pt-BR" sz="2500" kern="1200"/>
            <a:t>coerência entre risco, retorno, perfil e horizonte temporal</a:t>
          </a:r>
          <a:endParaRPr lang="en-US" sz="2500" kern="1200"/>
        </a:p>
      </dsp:txBody>
      <dsp:txXfrm>
        <a:off x="1435590" y="531"/>
        <a:ext cx="9696538" cy="1242935"/>
      </dsp:txXfrm>
    </dsp:sp>
    <dsp:sp modelId="{B370A80A-BEBE-4C67-B767-AD3836195E9A}">
      <dsp:nvSpPr>
        <dsp:cNvPr id="0" name=""/>
        <dsp:cNvSpPr/>
      </dsp:nvSpPr>
      <dsp:spPr>
        <a:xfrm>
          <a:off x="0" y="1554201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D8858-5347-4A7D-9448-EC6BB72C8AB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398DC-B969-40C6-88EC-17D0D5F7FE19}">
      <dsp:nvSpPr>
        <dsp:cNvPr id="0" name=""/>
        <dsp:cNvSpPr/>
      </dsp:nvSpPr>
      <dsp:spPr>
        <a:xfrm>
          <a:off x="1435590" y="1554201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Importância da Diversificação</a:t>
          </a:r>
          <a:r>
            <a:rPr lang="pt-BR" sz="2500" kern="1200"/>
            <a:t>: Redução de risco, correlação entre ativos, ganhos de longo prazo</a:t>
          </a:r>
          <a:endParaRPr lang="en-US" sz="2500" kern="1200"/>
        </a:p>
      </dsp:txBody>
      <dsp:txXfrm>
        <a:off x="1435590" y="1554201"/>
        <a:ext cx="9696538" cy="1242935"/>
      </dsp:txXfrm>
    </dsp:sp>
    <dsp:sp modelId="{E74DB5E5-27F8-412B-94E8-5F45078999B3}">
      <dsp:nvSpPr>
        <dsp:cNvPr id="0" name=""/>
        <dsp:cNvSpPr/>
      </dsp:nvSpPr>
      <dsp:spPr>
        <a:xfrm>
          <a:off x="0" y="3107870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84EF5-C87E-49E9-B56E-191D6EF40DC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A8261-A2CE-4143-9CFB-E229CB3228BE}">
      <dsp:nvSpPr>
        <dsp:cNvPr id="0" name=""/>
        <dsp:cNvSpPr/>
      </dsp:nvSpPr>
      <dsp:spPr>
        <a:xfrm>
          <a:off x="1435590" y="3107870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Teoria Moderna do Portfólio (TMP)</a:t>
          </a:r>
          <a:r>
            <a:rPr lang="pt-BR" sz="2500" kern="1200"/>
            <a:t>: Markowitz (1952), Relação risco-retorno, Fronteira eficiente</a:t>
          </a:r>
          <a:endParaRPr lang="en-US" sz="2500" kern="1200"/>
        </a:p>
      </dsp:txBody>
      <dsp:txXfrm>
        <a:off x="1435590" y="3107870"/>
        <a:ext cx="9696538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D5425-6E6E-4FC1-847C-FF6F8412F9BC}">
      <dsp:nvSpPr>
        <dsp:cNvPr id="0" name=""/>
        <dsp:cNvSpPr/>
      </dsp:nvSpPr>
      <dsp:spPr>
        <a:xfrm>
          <a:off x="218403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928E-0A48-4EE6-8B39-2E5311AA0E88}">
      <dsp:nvSpPr>
        <dsp:cNvPr id="0" name=""/>
        <dsp:cNvSpPr/>
      </dsp:nvSpPr>
      <dsp:spPr>
        <a:xfrm>
          <a:off x="410172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6D204-BA02-48F8-A0BC-9F890B5079C9}">
      <dsp:nvSpPr>
        <dsp:cNvPr id="0" name=""/>
        <dsp:cNvSpPr/>
      </dsp:nvSpPr>
      <dsp:spPr>
        <a:xfrm>
          <a:off x="1327274" y="1004168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Funcionamento dos </a:t>
          </a:r>
          <a:r>
            <a:rPr lang="pt-BR" sz="1600" b="1" kern="1200" dirty="0" err="1"/>
            <a:t>AGMOs</a:t>
          </a:r>
          <a:r>
            <a:rPr lang="pt-BR" sz="1600" b="1" kern="1200" dirty="0"/>
            <a:t>: </a:t>
          </a:r>
          <a:r>
            <a:rPr lang="pt-BR" sz="1600" kern="1200" dirty="0"/>
            <a:t>Seleção,  Cruzamento Mutação,  Convergência gradual</a:t>
          </a:r>
          <a:r>
            <a:rPr lang="pt-BR" sz="1600" b="1" kern="1200" dirty="0"/>
            <a:t> </a:t>
          </a:r>
          <a:endParaRPr lang="en-US" sz="1600" kern="1200" dirty="0"/>
        </a:p>
      </dsp:txBody>
      <dsp:txXfrm>
        <a:off x="1327274" y="1004168"/>
        <a:ext cx="2152514" cy="913187"/>
      </dsp:txXfrm>
    </dsp:sp>
    <dsp:sp modelId="{5371DD11-17A5-4203-B1CC-CD951C74D9C1}">
      <dsp:nvSpPr>
        <dsp:cNvPr id="0" name=""/>
        <dsp:cNvSpPr/>
      </dsp:nvSpPr>
      <dsp:spPr>
        <a:xfrm>
          <a:off x="3854847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76759-1AE0-4E81-8ED4-69F61292F0B8}">
      <dsp:nvSpPr>
        <dsp:cNvPr id="0" name=""/>
        <dsp:cNvSpPr/>
      </dsp:nvSpPr>
      <dsp:spPr>
        <a:xfrm>
          <a:off x="4046617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1C31A-62C7-4AEA-A226-76FC293E9BBA}">
      <dsp:nvSpPr>
        <dsp:cNvPr id="0" name=""/>
        <dsp:cNvSpPr/>
      </dsp:nvSpPr>
      <dsp:spPr>
        <a:xfrm>
          <a:off x="4963718" y="1004168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NSGA-II</a:t>
          </a:r>
          <a:r>
            <a:rPr lang="pt-BR" sz="1600" b="1" kern="1200" dirty="0"/>
            <a:t>:</a:t>
          </a:r>
          <a:r>
            <a:rPr lang="pt-BR" sz="1600" kern="1200" dirty="0"/>
            <a:t> Algoritmo mais reconhecido Ordenação não-dominada </a:t>
          </a:r>
          <a:r>
            <a:rPr lang="pt-BR" sz="1600" kern="1200" dirty="0" err="1"/>
            <a:t>Crowding</a:t>
          </a:r>
          <a:r>
            <a:rPr lang="pt-BR" sz="1600" kern="1200" dirty="0"/>
            <a:t> </a:t>
          </a:r>
          <a:r>
            <a:rPr lang="pt-BR" sz="1600" kern="1200" dirty="0" err="1"/>
            <a:t>distance</a:t>
          </a:r>
          <a:endParaRPr lang="en-US" sz="1600" kern="1200" dirty="0"/>
        </a:p>
      </dsp:txBody>
      <dsp:txXfrm>
        <a:off x="4963718" y="1004168"/>
        <a:ext cx="2152514" cy="913187"/>
      </dsp:txXfrm>
    </dsp:sp>
    <dsp:sp modelId="{C776F82D-0599-4B6B-B2B5-47100D1ADD2B}">
      <dsp:nvSpPr>
        <dsp:cNvPr id="0" name=""/>
        <dsp:cNvSpPr/>
      </dsp:nvSpPr>
      <dsp:spPr>
        <a:xfrm>
          <a:off x="7491292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10785-D4D7-4214-803D-0D07BCFEFAE2}">
      <dsp:nvSpPr>
        <dsp:cNvPr id="0" name=""/>
        <dsp:cNvSpPr/>
      </dsp:nvSpPr>
      <dsp:spPr>
        <a:xfrm>
          <a:off x="7683061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1753E-80F2-4474-8E8E-0AACD7D7AF8D}">
      <dsp:nvSpPr>
        <dsp:cNvPr id="0" name=""/>
        <dsp:cNvSpPr/>
      </dsp:nvSpPr>
      <dsp:spPr>
        <a:xfrm>
          <a:off x="8600163" y="1004168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Limitações do NSGA-II</a:t>
          </a:r>
          <a:r>
            <a:rPr lang="pt-BR" sz="1600" b="1" kern="1200" dirty="0"/>
            <a:t>:</a:t>
          </a:r>
          <a:r>
            <a:rPr lang="pt-BR" sz="1600" kern="1200" dirty="0"/>
            <a:t> Dificuldade em focar regiões específica,  Diversidade uniforme, Falta de direcionamento </a:t>
          </a:r>
          <a:endParaRPr lang="en-US" sz="1600" kern="1200" dirty="0"/>
        </a:p>
      </dsp:txBody>
      <dsp:txXfrm>
        <a:off x="8600163" y="1004168"/>
        <a:ext cx="2152514" cy="913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8E096-050E-459A-A386-57BAB0E2D7EF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1D1C2-EA49-4FCF-A8CC-8190D7C40F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06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300B-8EFC-342D-E31F-919C9B9F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41883B-7479-88EF-3F88-944CED065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61A103-A959-8B68-7A9B-37EB44E9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363417-0964-335B-A186-947E275DE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922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3A1A-1E49-F134-9B33-95675F4A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61E24D-7136-9525-2423-CF7D5BDCD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FF32E3-3D71-A3FC-82A9-6842BFE75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B226E4-CB6F-A2D4-B38C-7679ECB66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898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38F6-FA7B-9C96-5773-5C28D908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478CB7-355B-4D6C-F1B4-F2215254A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AE3E17-CD60-F38B-7FD3-10815DD8F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FADEF4-69C9-65FB-41D0-73C26ADCE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28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ED5A-1550-01FC-ED47-5A215A53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E66E86-016F-5886-2C34-C1DE0CACA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D68895-E30A-0C56-BBCA-80D66B0C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AA15C2-55AF-DD9F-E1A7-B7F3DE9BF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93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327EB-F1E4-42C5-8C7A-A06F8F685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E71F08-7AA9-43B0-AADB-58655C006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414A1-AC92-4E2E-BFB0-F392BD99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7A70-5173-4473-8551-31626E7BAB07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A8AAD-4347-44B1-A199-36D1B595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6320AE-9768-41EC-9B36-A260E2D6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72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ADFBF-13DA-4867-A13F-69C66D42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DC80E-364E-4AA1-B1A5-7056CD04C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B83A4-18F3-49B2-A886-96C51080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4812-1B0D-4558-9881-C105DE35176D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8B8084-BB02-40C4-9D9C-A73E4663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D91036-63E2-4641-BD4F-A61D1BE6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55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29681-4116-4AC3-B6F4-E58E29E4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7B7CF-A885-489D-86EA-3E28BB74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43794-3E1C-44EC-A13F-EDC2E552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4A39-E471-438B-A272-31D35BF358BE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1FAE5-2F15-45EA-B053-95A6E2C9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6088E-64CD-4C38-B65A-716D62B7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52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15DF-086B-4208-BFA2-62B0CBFB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F2A91-07A2-4286-8B83-701D2D761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909BBA-DE83-46BB-84E5-302D857B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0B7C37-154A-4EEA-8057-9ECDE63E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BA20-2E8B-4A68-A33D-9577821FB087}" type="datetime1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48CCA5-8EF0-4277-89F7-F480CCF1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C657E1-7616-43CE-9A2C-5C8D0159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61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20938-C75B-4D78-B59F-AB9E139B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1914ED-737D-4730-8138-B4562A05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0C8E7-F37D-4411-BDE5-2AC19B25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44291B-9539-44F0-895A-AFEAA0BE7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CE7EE8-FA44-4407-B93F-F0E6EFBB1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251604-D17B-4339-AD41-2E8FD41D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7BB8-E6F3-42B5-A0AE-C605D440E7B7}" type="datetime1">
              <a:rPr lang="pt-BR" smtClean="0"/>
              <a:t>07/12/2025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DA1959-2E96-457B-8F81-5A5625C1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A9AD3-0D01-4E4C-9DDA-BB7DF149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5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37348-379F-4B10-AF53-E3141E253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B522BF-8981-4B55-8873-FA617F8F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F648-4D9C-42C0-9119-E3D404181A62}" type="datetime1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638D40-E164-45F6-8540-2181047C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B7215C-5FBA-482E-8FC5-113B8E54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15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2275DC-1A6F-4765-A25E-74F82233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C84-9B9F-47C3-92A3-BD9A43F4872A}" type="datetime1">
              <a:rPr lang="pt-BR" smtClean="0"/>
              <a:t>07/12/2025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8DFD1B-B9C2-4CEB-89DB-765CF5F1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5E7517-4F3A-40ED-8DBE-8B92B37D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92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64225-9447-4A90-B8C0-E884C690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44A7E0-0F49-4391-8FCB-B1C4324B0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72325A-B2DB-4995-9B63-1013F4702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A3CAFC-F972-4C51-A07D-EDF5A1F5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2F6F2-08B1-4392-BFFB-DC7F46E97E8C}" type="datetime1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D2E2D-C7E7-4256-800A-2ADF9E5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EFE7D4-2D9F-471F-8880-3E227DE7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87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7A7E-E5B5-40AB-B867-FF653829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55170-7A6B-4398-9B14-4EA19C6F3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62AE46-4B3D-4A11-B264-E4D572FF2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B2B3E5-C16A-43DB-B869-C2EE7BDF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42CB5-6E25-43A9-A0BA-EE7DBD00B114}" type="datetime1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799385-B84B-407D-985B-93EE8E7D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218123-8A3D-4BC4-B639-03A42429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15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3D5B7-B4D3-41C2-AE30-E25A14A1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86E43B-59DE-46C5-89E8-7A841E4E0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AC22C-3864-467A-BCE3-5739AAE4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E631-25F9-4CA4-9F45-1293AA7A56F3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3A301-F9BC-448C-A5D5-7A0B49B8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2F7D4-2E05-4A64-8F28-9AE95654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77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60BBC0-04D5-4C45-A30B-7497E5054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0625D0-EB96-477D-B47D-C02FFEE2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606FD-FE00-43B3-8A26-642C0841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4E1DB-B025-4F31-A1B2-E60A57CDFDCC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B4B15-8AF0-498E-A84F-BBF4B198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ABEF1E-BF47-4B1B-AC3E-E196EF31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88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9D515D-4EC2-403D-93B3-9BB0DFD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EA9A7-390F-4199-A43C-8395AC3E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6D0ED4-029C-4B32-9362-220F58610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3AFF5-C036-43AB-BBCE-777116AE678A}" type="datetime1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3C678-0858-4BEC-B0F9-E181BC76D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99D48-DF0F-4564-840D-844043D0A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96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EBAD-2012-424A-AD4B-8E4C9BA3C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03" y="836024"/>
            <a:ext cx="9144000" cy="1876672"/>
          </a:xfrm>
        </p:spPr>
        <p:txBody>
          <a:bodyPr>
            <a:normAutofit fontScale="90000"/>
          </a:bodyPr>
          <a:lstStyle/>
          <a:p>
            <a:r>
              <a:rPr lang="pt-BR" sz="4000" dirty="0" err="1">
                <a:latin typeface="+mn-lt"/>
                <a:cs typeface="Times New Roman" panose="02020603050405020304" pitchFamily="18" charset="0"/>
              </a:rPr>
              <a:t>Otovida</a:t>
            </a:r>
            <a:r>
              <a:rPr lang="pt-BR" sz="4000" dirty="0">
                <a:latin typeface="+mn-lt"/>
                <a:cs typeface="Times New Roman" panose="02020603050405020304" pitchFamily="18" charset="0"/>
              </a:rPr>
              <a:t>: uma plataforma de telemedicina com aprendizado de máquina para diagnóstico de doenças e condições otológicas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746974-16FC-4BB8-9755-CD5994444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503" y="5579772"/>
            <a:ext cx="3932249" cy="112737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000">
                <a:cs typeface="Times New Roman" panose="02020603050405020304" pitchFamily="18" charset="0"/>
              </a:rPr>
              <a:t>Acadêmico: </a:t>
            </a:r>
          </a:p>
          <a:p>
            <a:pPr algn="l"/>
            <a:r>
              <a:rPr lang="pt-BR" sz="2000" b="1">
                <a:cs typeface="Times New Roman" panose="02020603050405020304" pitchFamily="18" charset="0"/>
              </a:rPr>
              <a:t>Bruna Lauschner</a:t>
            </a:r>
          </a:p>
          <a:p>
            <a:pPr algn="l"/>
            <a:r>
              <a:rPr lang="pt-BR" sz="180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blauschner@furb.br</a:t>
            </a:r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C844ED3C-88CE-4690-9283-F6169C5EAE05}"/>
              </a:ext>
            </a:extLst>
          </p:cNvPr>
          <p:cNvSpPr/>
          <p:nvPr/>
        </p:nvSpPr>
        <p:spPr>
          <a:xfrm>
            <a:off x="1399504" y="6753253"/>
            <a:ext cx="9392991" cy="121919"/>
          </a:xfrm>
          <a:prstGeom prst="round2Same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1E77205-CB86-45A5-A73F-D920583D4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386" y="5427372"/>
            <a:ext cx="2181225" cy="1295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70848A7-E4C5-43EF-B15C-609873705A83}"/>
              </a:ext>
            </a:extLst>
          </p:cNvPr>
          <p:cNvSpPr txBox="1"/>
          <p:nvPr/>
        </p:nvSpPr>
        <p:spPr>
          <a:xfrm>
            <a:off x="3605214" y="3608369"/>
            <a:ext cx="5005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Departamento de Sistemas e Computação – FURB</a:t>
            </a:r>
          </a:p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Curso de Ciência da Computação</a:t>
            </a:r>
          </a:p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Trabalho de Conclusão de Curso II – 2025/1</a:t>
            </a:r>
          </a:p>
        </p:txBody>
      </p:sp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BCB4ECC9-985E-4F10-8EC9-D17A752AAFD8}"/>
              </a:ext>
            </a:extLst>
          </p:cNvPr>
          <p:cNvSpPr/>
          <p:nvPr/>
        </p:nvSpPr>
        <p:spPr>
          <a:xfrm flipV="1">
            <a:off x="2412639" y="2909332"/>
            <a:ext cx="7366718" cy="45719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6E6615F-ED6C-4F2E-887A-77A584E6B79D}"/>
              </a:ext>
            </a:extLst>
          </p:cNvPr>
          <p:cNvSpPr txBox="1">
            <a:spLocks/>
          </p:cNvSpPr>
          <p:nvPr/>
        </p:nvSpPr>
        <p:spPr>
          <a:xfrm>
            <a:off x="6787165" y="5579772"/>
            <a:ext cx="4005329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>
                <a:cs typeface="Times New Roman" panose="02020603050405020304" pitchFamily="18" charset="0"/>
              </a:rPr>
              <a:t>Orientador: </a:t>
            </a:r>
          </a:p>
          <a:p>
            <a:pPr algn="r"/>
            <a:r>
              <a:rPr lang="pt-BR" sz="2000" b="1">
                <a:cs typeface="Times New Roman" panose="02020603050405020304" pitchFamily="18" charset="0"/>
              </a:rPr>
              <a:t>Aurélio Faustino Hoppe</a:t>
            </a:r>
          </a:p>
          <a:p>
            <a:pPr algn="r"/>
            <a:r>
              <a:rPr lang="pt-BR" sz="180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aureliof@furb.br</a:t>
            </a:r>
          </a:p>
        </p:txBody>
      </p:sp>
    </p:spTree>
    <p:extLst>
      <p:ext uri="{BB962C8B-B14F-4D97-AF65-F5344CB8AC3E}">
        <p14:creationId xmlns:p14="http://schemas.microsoft.com/office/powerpoint/2010/main" val="16537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0E28-F629-4F3F-06C7-053EC2B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4B28F-4691-12E2-887C-239B3B9D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446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(1/4)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Conceitos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0" name="Espaço Reservado para Conteúdo 2">
            <a:extLst>
              <a:ext uri="{FF2B5EF4-FFF2-40B4-BE49-F238E27FC236}">
                <a16:creationId xmlns:a16="http://schemas.microsoft.com/office/drawing/2014/main" id="{424606C4-FC3B-261D-BB81-CAECF03BED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499" y="1520026"/>
          <a:ext cx="111321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B05D17F4-8FFD-3AB1-137D-B4F644BC752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B4E711-A402-EAF6-2A8E-C2477A5E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70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C1F55-A604-D132-4EE7-07C34EE2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453BC7-AFF7-873D-BF2A-31E48F6AE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B1E2D-22D9-DFB7-90CB-2DBC161A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3</a:t>
            </a:fld>
            <a:endParaRPr lang="pt-BR"/>
          </a:p>
        </p:txBody>
      </p:sp>
      <p:pic>
        <p:nvPicPr>
          <p:cNvPr id="5" name="Imagem 4" descr="Diagrama">
            <a:extLst>
              <a:ext uri="{FF2B5EF4-FFF2-40B4-BE49-F238E27FC236}">
                <a16:creationId xmlns:a16="http://schemas.microsoft.com/office/drawing/2014/main" id="{AAD65C24-5C60-2929-0DE9-2E4FEF52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7" y="1592265"/>
            <a:ext cx="7402286" cy="458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3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055B-03EA-A24B-DA1A-E3A0A86C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B2860-2EFC-42F0-ABF7-7A81DAD8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(2/4)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TMP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7F8998-DC5E-3578-9D77-538A2A7E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18" y="3584229"/>
            <a:ext cx="10971081" cy="292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pt-BR" b="1" dirty="0"/>
              <a:t>Limitações da TMP</a:t>
            </a: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: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pt-BR" dirty="0">
                <a:solidFill>
                  <a:prstClr val="black"/>
                </a:solidFill>
              </a:rPr>
              <a:t>Premissas idealizadas,  Normalidade dos retornos, Racionalidade perfeita, Parâmetros estáticos</a:t>
            </a:r>
          </a:p>
          <a:p>
            <a:pPr lvl="0">
              <a:defRPr/>
            </a:pPr>
            <a:r>
              <a:rPr lang="pt-BR" b="1" dirty="0"/>
              <a:t>Necessidade de Abordagens Alternativas:</a:t>
            </a:r>
            <a:r>
              <a:rPr lang="pt-BR" dirty="0"/>
              <a:t> Alta volatilidade, Eventos extremos, Instabilidade dos parâmetros, Modelos mais flexíveis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9AF34D9-8F36-7285-B4E1-BBAB1E0A071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A0CD6-7BBB-846A-6E66-4516A9E7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DCF7FC-9D1D-0B5B-C709-86A8F8F107B7}"/>
              </a:ext>
            </a:extLst>
          </p:cNvPr>
          <p:cNvSpPr txBox="1"/>
          <p:nvPr/>
        </p:nvSpPr>
        <p:spPr>
          <a:xfrm>
            <a:off x="382718" y="1925308"/>
            <a:ext cx="7308252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pt-BR" sz="2800" b="1" dirty="0"/>
              <a:t>Fundamentos Matemáticos da TMP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Retorno esperado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Variância e covariância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Equações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9E5A08-AF0C-907D-8D7F-7D549F2A6814}"/>
                  </a:ext>
                </a:extLst>
              </p:cNvPr>
              <p:cNvSpPr txBox="1"/>
              <p:nvPr/>
            </p:nvSpPr>
            <p:spPr>
              <a:xfrm>
                <a:off x="5912974" y="1976350"/>
                <a:ext cx="6096000" cy="530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i="0">
                              <a:latin typeface="Cambria Math" panose="02040503050406030204" pitchFamily="18" charset="0"/>
                            </a:rPr>
                            <m:t>ₚ</m:t>
                          </m:r>
                        </m:e>
                      </m:d>
                      <m:r>
                        <a:rPr lang="pt-BR" sz="28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i="0">
                              <a:latin typeface="Cambria Math" panose="02040503050406030204" pitchFamily="18" charset="0"/>
                            </a:rPr>
                            <m:t>ᵢ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9E5A08-AF0C-907D-8D7F-7D549F2A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974" y="1976350"/>
                <a:ext cx="6096000" cy="530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0BE0027-7F1F-9C4C-C698-18499AEE99FE}"/>
                  </a:ext>
                </a:extLst>
              </p:cNvPr>
              <p:cNvSpPr txBox="1"/>
              <p:nvPr/>
            </p:nvSpPr>
            <p:spPr>
              <a:xfrm>
                <a:off x="5757853" y="2995347"/>
                <a:ext cx="6406242" cy="537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ₚ² =</m:t>
                      </m:r>
                      <m:r>
                        <a:rPr lang="pt-BR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𝛴𝛴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0BE0027-7F1F-9C4C-C698-18499AEE9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853" y="2995347"/>
                <a:ext cx="6406242" cy="537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45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A84F-46A1-D11B-DC7C-3A76D640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7C920-624E-B475-2713-BC7ABF37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(3/4)</a:t>
            </a:r>
            <a:br>
              <a:rPr lang="pt-BR" dirty="0"/>
            </a:b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NSGA-II</a:t>
            </a:r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7E7D8F73-B9D5-F390-AB08-59BD7F62E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167128"/>
              </p:ext>
            </p:extLst>
          </p:nvPr>
        </p:nvGraphicFramePr>
        <p:xfrm>
          <a:off x="382719" y="1677809"/>
          <a:ext cx="10971081" cy="292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C3D1EDF-F9DD-FEAF-4AE0-9C4F54392EC3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D1036-6F2E-FDD3-72E3-C5DD7EA6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5</a:t>
            </a:fld>
            <a:endParaRPr lang="pt-BR"/>
          </a:p>
        </p:txBody>
      </p:sp>
      <p:pic>
        <p:nvPicPr>
          <p:cNvPr id="12" name="Imagem 1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CD995A77-03BD-B9B6-EF8A-B42B86819D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" t="6995" r="4785" b="3746"/>
          <a:stretch>
            <a:fillRect/>
          </a:stretch>
        </p:blipFill>
        <p:spPr bwMode="auto">
          <a:xfrm>
            <a:off x="3487421" y="3995057"/>
            <a:ext cx="5217156" cy="2497818"/>
          </a:xfrm>
          <a:prstGeom prst="rect">
            <a:avLst/>
          </a:prstGeom>
          <a:noFill/>
          <a:ln w="317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379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8B88-6D33-EE16-49E6-87C7745B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6023E-F8A9-7626-7B66-23A938B2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(4/4)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R-NSGA-II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EE6638-7804-2A72-D7A5-E5FDFBA1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19" y="1938187"/>
            <a:ext cx="10971081" cy="292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/>
            </a:pPr>
            <a:r>
              <a:rPr lang="pt-BR" b="1" dirty="0"/>
              <a:t>R-NSGA-II:</a:t>
            </a:r>
            <a:r>
              <a:rPr lang="pt-BR" dirty="0"/>
              <a:t> Uso de pontos de referência, Priorização de regiões de interesse, Seleção orientada</a:t>
            </a:r>
            <a:endParaRPr lang="pt-BR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pt-BR" b="1" dirty="0"/>
              <a:t>Mecanismo do R-NSGA-II</a:t>
            </a: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pt-BR" dirty="0">
                <a:solidFill>
                  <a:prstClr val="black"/>
                </a:solidFill>
              </a:rPr>
              <a:t>Distância aos pontos de referência, Seleção guiada, </a:t>
            </a:r>
            <a:r>
              <a:rPr lang="pt-BR" dirty="0" err="1">
                <a:solidFill>
                  <a:prstClr val="black"/>
                </a:solidFill>
              </a:rPr>
              <a:t>Epsilon</a:t>
            </a:r>
            <a:r>
              <a:rPr lang="pt-BR" dirty="0">
                <a:solidFill>
                  <a:prstClr val="black"/>
                </a:solidFill>
              </a:rPr>
              <a:t>-Clearing</a:t>
            </a:r>
          </a:p>
          <a:p>
            <a:pPr lvl="0">
              <a:defRPr/>
            </a:pPr>
            <a:r>
              <a:rPr lang="pt-BR" b="1" dirty="0"/>
              <a:t>Etapas do Algoritmo (Pseudocódigo):</a:t>
            </a:r>
            <a:r>
              <a:rPr lang="pt-BR" dirty="0"/>
              <a:t> Inicialização, Ciclo evolutivo, Seleção orientada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D9BC6A5-B788-C23D-9374-42EAA6ED8356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80C887-AB85-6198-A2DE-008249D2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6</a:t>
            </a:fld>
            <a:endParaRPr lang="pt-BR"/>
          </a:p>
        </p:txBody>
      </p:sp>
      <p:pic>
        <p:nvPicPr>
          <p:cNvPr id="9" name="Imagem 8" descr="Diagrama">
            <a:extLst>
              <a:ext uri="{FF2B5EF4-FFF2-40B4-BE49-F238E27FC236}">
                <a16:creationId xmlns:a16="http://schemas.microsoft.com/office/drawing/2014/main" id="{5B797D6F-6948-D51B-B1C8-EE372D6B19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5" t="2616" r="10231" b="4094"/>
          <a:stretch>
            <a:fillRect/>
          </a:stretch>
        </p:blipFill>
        <p:spPr bwMode="auto">
          <a:xfrm>
            <a:off x="8932545" y="4253865"/>
            <a:ext cx="2421255" cy="22390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689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E8721-B659-5466-B0CA-9AB62FBA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0B698-94A4-9C6D-98E5-AFE06175C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522188-AF49-A984-3B2A-52921A03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7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8F65AA-BFA9-29B6-30D6-469BF3517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3712" r="52591" b="7860"/>
          <a:stretch>
            <a:fillRect/>
          </a:stretch>
        </p:blipFill>
        <p:spPr bwMode="auto">
          <a:xfrm>
            <a:off x="838200" y="1591060"/>
            <a:ext cx="4713167" cy="482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446479-2A4B-4DFA-4FA7-1F4F5F31EF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24" t="1870" r="5623" b="8078"/>
          <a:stretch>
            <a:fillRect/>
          </a:stretch>
        </p:blipFill>
        <p:spPr bwMode="auto">
          <a:xfrm>
            <a:off x="6971952" y="1619930"/>
            <a:ext cx="4855376" cy="4791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504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4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Trabalhos correlatos (1/5)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E19B60-A7B8-4C54-BAF1-D661FCC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8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C5134C-D560-423A-97B4-54313DC9304F}"/>
              </a:ext>
            </a:extLst>
          </p:cNvPr>
          <p:cNvSpPr txBox="1"/>
          <p:nvPr/>
        </p:nvSpPr>
        <p:spPr>
          <a:xfrm>
            <a:off x="166947" y="1172424"/>
            <a:ext cx="1124884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 err="1"/>
              <a:t>Forecasting</a:t>
            </a:r>
            <a:r>
              <a:rPr lang="pt-BR" sz="2400" i="1" dirty="0"/>
              <a:t> de séries financeiras com ARIMA e Programação Genética</a:t>
            </a:r>
            <a:r>
              <a:rPr lang="pt-BR" sz="2400" dirty="0"/>
              <a:t> – Garcez (2022)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FFF00"/>
              </a:highlight>
              <a:cs typeface="Calibri" panose="020F0502020204030204"/>
            </a:endParaRPr>
          </a:p>
        </p:txBody>
      </p:sp>
      <p:graphicFrame>
        <p:nvGraphicFramePr>
          <p:cNvPr id="14" name="Espaço Reservado para Conteúdo 13">
            <a:extLst>
              <a:ext uri="{FF2B5EF4-FFF2-40B4-BE49-F238E27FC236}">
                <a16:creationId xmlns:a16="http://schemas.microsoft.com/office/drawing/2014/main" id="{2DA2C24F-026D-2981-27E4-A3AEA3D2C9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868678"/>
              </p:ext>
            </p:extLst>
          </p:nvPr>
        </p:nvGraphicFramePr>
        <p:xfrm>
          <a:off x="299049" y="2175912"/>
          <a:ext cx="7499477" cy="2377440"/>
        </p:xfrm>
        <a:graphic>
          <a:graphicData uri="http://schemas.openxmlformats.org/drawingml/2006/table">
            <a:tbl>
              <a:tblPr firstRow="1" firstCol="1" bandRow="1"/>
              <a:tblGrid>
                <a:gridCol w="1571389">
                  <a:extLst>
                    <a:ext uri="{9D8B030D-6E8A-4147-A177-3AD203B41FA5}">
                      <a16:colId xmlns:a16="http://schemas.microsoft.com/office/drawing/2014/main" val="1269749848"/>
                    </a:ext>
                  </a:extLst>
                </a:gridCol>
                <a:gridCol w="5928088">
                  <a:extLst>
                    <a:ext uri="{9D8B030D-6E8A-4147-A177-3AD203B41FA5}">
                      <a16:colId xmlns:a16="http://schemas.microsoft.com/office/drawing/2014/main" val="128997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Comparar ARIMA e Programação Genética para prever séries temporais do mercado financeiro.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60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</a:t>
                      </a:r>
                      <a:r>
                        <a:rPr lang="pt-BR" sz="1400" err="1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funcionali-dades</a:t>
                      </a:r>
                      <a:endParaRPr lang="pt-BR" sz="14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Geração de modelos preditivos para índices como IBOVESPA, NASDAQ e Dow Jones.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75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err="1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Ferramen-tas</a:t>
                      </a:r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ARIMA, Programação Genética, séries históricas reais.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166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PG superou ARIMA nas previsões iniciais </a:t>
                      </a:r>
                      <a:r>
                        <a:rPr lang="pt-BR" sz="1600" dirty="0" err="1"/>
                        <a:t>ex-post</a:t>
                      </a:r>
                      <a:r>
                        <a:rPr lang="pt-BR" sz="1600" dirty="0"/>
                        <a:t>.</a:t>
                      </a:r>
                    </a:p>
                    <a:p>
                      <a:r>
                        <a:rPr lang="pt-BR" sz="1600" dirty="0"/>
                        <a:t>PG apresentou maior flexibilidade e adaptação em cenários voláteis.</a:t>
                      </a:r>
                    </a:p>
                    <a:p>
                      <a:r>
                        <a:rPr lang="pt-BR" sz="1600" dirty="0"/>
                        <a:t>Conclusão: modelos evolutivos podem ser mais eficazes que métodos estatísticos tradicionais em ambientes financeiros dinâmicos.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801466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F8C31642-22CE-1E3F-13DC-D9AA0A3F555D}"/>
              </a:ext>
            </a:extLst>
          </p:cNvPr>
          <p:cNvSpPr txBox="1"/>
          <p:nvPr/>
        </p:nvSpPr>
        <p:spPr>
          <a:xfrm>
            <a:off x="8063742" y="5485081"/>
            <a:ext cx="357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Metodologia clara, comparação direta entre técnicas e relevância para previsões financeiras.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6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8C67-A565-006C-C9FA-3DB167E8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50C69-2E77-FA50-9124-5D3B6804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9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(2/5)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D434177-516B-B975-8E35-7A0BD1D1F4C1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931A16-A3A6-3127-EDC7-7A11CAE4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9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8DB8EA-0DA3-100F-A79E-B5FF34E156A4}"/>
              </a:ext>
            </a:extLst>
          </p:cNvPr>
          <p:cNvSpPr txBox="1"/>
          <p:nvPr/>
        </p:nvSpPr>
        <p:spPr>
          <a:xfrm>
            <a:off x="316301" y="1213091"/>
            <a:ext cx="1133798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Aplicação da IA na previsão de preços: modelo ETS para PETR4</a:t>
            </a:r>
            <a:r>
              <a:rPr lang="pt-BR" sz="2400" dirty="0"/>
              <a:t> – Pavão (2023) </a:t>
            </a: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5732F5E6-69FF-559A-C2AE-E700AF748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526786"/>
              </p:ext>
            </p:extLst>
          </p:nvPr>
        </p:nvGraphicFramePr>
        <p:xfrm>
          <a:off x="316301" y="2271622"/>
          <a:ext cx="6808900" cy="3225849"/>
        </p:xfrm>
        <a:graphic>
          <a:graphicData uri="http://schemas.openxmlformats.org/drawingml/2006/table">
            <a:tbl>
              <a:tblPr firstRow="1" firstCol="1" bandRow="1"/>
              <a:tblGrid>
                <a:gridCol w="1718235">
                  <a:extLst>
                    <a:ext uri="{9D8B030D-6E8A-4147-A177-3AD203B41FA5}">
                      <a16:colId xmlns:a16="http://schemas.microsoft.com/office/drawing/2014/main" val="1506150108"/>
                    </a:ext>
                  </a:extLst>
                </a:gridCol>
                <a:gridCol w="5090665">
                  <a:extLst>
                    <a:ext uri="{9D8B030D-6E8A-4147-A177-3AD203B41FA5}">
                      <a16:colId xmlns:a16="http://schemas.microsoft.com/office/drawing/2014/main" val="3369270827"/>
                    </a:ext>
                  </a:extLst>
                </a:gridCol>
              </a:tblGrid>
              <a:tr h="7559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Aplicar IA simples para prever preços de ações de forma acessível a qualquer investidor.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517052"/>
                  </a:ext>
                </a:extLst>
              </a:tr>
              <a:tr h="47972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Previsão usando ETS; análise exploratória; suporte à decisão.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842953"/>
                  </a:ext>
                </a:extLst>
              </a:tr>
              <a:tr h="7249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Python, ETS, dados PETR4.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274934"/>
                  </a:ext>
                </a:extLst>
              </a:tr>
              <a:tr h="125724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ETS mostrou boa capacidade de prever tendências.</a:t>
                      </a:r>
                    </a:p>
                    <a:p>
                      <a:r>
                        <a:rPr lang="pt-BR" sz="1600" dirty="0"/>
                        <a:t>Demonstra que IA acessível pode ajudar investidores iniciantes.</a:t>
                      </a:r>
                    </a:p>
                    <a:p>
                      <a:r>
                        <a:rPr lang="pt-BR" sz="1600" dirty="0"/>
                        <a:t>Abordagem prática e de baixo custo técnico.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837926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BE444C65-6C0C-10EB-AF54-C8045361A444}"/>
              </a:ext>
            </a:extLst>
          </p:cNvPr>
          <p:cNvSpPr txBox="1"/>
          <p:nvPr/>
        </p:nvSpPr>
        <p:spPr>
          <a:xfrm>
            <a:off x="7373628" y="5758250"/>
            <a:ext cx="460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Demonstra uso real, simples e direto de IA para previsão financeira.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47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B3A2-D105-AD22-07CD-5A4C5E73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85FDA-083A-7136-5F96-90EC8D01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(3/5)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0FC7FE6-D658-0F24-A64E-F6810B1C8B0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C3684B-40A7-1BC8-FF26-C7D42A19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10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4A9991-64FF-A2DB-0AA6-6723AE8BC415}"/>
              </a:ext>
            </a:extLst>
          </p:cNvPr>
          <p:cNvSpPr txBox="1"/>
          <p:nvPr/>
        </p:nvSpPr>
        <p:spPr>
          <a:xfrm>
            <a:off x="227161" y="1199329"/>
            <a:ext cx="117405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IA transformando trading e análise de mercado</a:t>
            </a:r>
            <a:r>
              <a:rPr lang="pt-BR" sz="2400" dirty="0"/>
              <a:t> – Slack (2024/2025)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BE8B5789-1761-1C7D-0F80-7B547B4E3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673471"/>
              </p:ext>
            </p:extLst>
          </p:nvPr>
        </p:nvGraphicFramePr>
        <p:xfrm>
          <a:off x="272767" y="1937533"/>
          <a:ext cx="6960884" cy="427880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Explorar como IA vem sendo usada no trading moderno.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Trading algorítmico</a:t>
                      </a:r>
                    </a:p>
                    <a:p>
                      <a:r>
                        <a:rPr lang="pt-BR" sz="1600" dirty="0"/>
                        <a:t>HFT</a:t>
                      </a:r>
                    </a:p>
                    <a:p>
                      <a:r>
                        <a:rPr lang="pt-BR" sz="1600" dirty="0"/>
                        <a:t>Análise preditiva</a:t>
                      </a:r>
                    </a:p>
                    <a:p>
                      <a:r>
                        <a:rPr lang="pt-BR" sz="1600" dirty="0"/>
                        <a:t>Análise de sentimento</a:t>
                      </a:r>
                    </a:p>
                    <a:p>
                      <a:r>
                        <a:rPr lang="pt-BR" sz="1600" dirty="0"/>
                        <a:t>Gestão de risco</a:t>
                      </a:r>
                    </a:p>
                    <a:p>
                      <a:r>
                        <a:rPr lang="pt-BR" sz="1600" dirty="0"/>
                        <a:t>Otimização de carteiras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Técnicas de ML, algoritmos de trading, ferramentas como </a:t>
                      </a:r>
                      <a:r>
                        <a:rPr lang="pt-BR" sz="1600" dirty="0" err="1"/>
                        <a:t>InvestingPro</a:t>
                      </a:r>
                      <a:r>
                        <a:rPr lang="pt-BR" sz="1600" dirty="0"/>
                        <a:t>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IA aumenta eficiência e velocidade de análise.</a:t>
                      </a:r>
                    </a:p>
                    <a:p>
                      <a:r>
                        <a:rPr lang="pt-BR" sz="1600" dirty="0"/>
                        <a:t>Robôs assessores e filtros inteligentes ajudam na seleção de ativos.</a:t>
                      </a:r>
                    </a:p>
                    <a:p>
                      <a:r>
                        <a:rPr lang="pt-BR" sz="1600" dirty="0"/>
                        <a:t>Mostra que IA democratiza acesso a estratégias avançadas.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B13A317-5AB5-53BE-7217-E4A977CE2976}"/>
              </a:ext>
            </a:extLst>
          </p:cNvPr>
          <p:cNvSpPr txBox="1"/>
          <p:nvPr/>
        </p:nvSpPr>
        <p:spPr>
          <a:xfrm>
            <a:off x="7661177" y="5571345"/>
            <a:ext cx="4103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Abrange várias técnicas, reforçando o impacto amplo da IA no mercado financeiro.</a:t>
            </a:r>
          </a:p>
        </p:txBody>
      </p:sp>
    </p:spTree>
    <p:extLst>
      <p:ext uri="{BB962C8B-B14F-4D97-AF65-F5344CB8AC3E}">
        <p14:creationId xmlns:p14="http://schemas.microsoft.com/office/powerpoint/2010/main" val="2855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98FF-4695-E3EE-16BE-0A3F5DC8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463BA-C27B-7EC3-AF0E-136561F9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(4/5)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13C79A2-647F-6441-4BB7-96575BB180D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0C4C6D-AB9C-3D10-0B94-7BCA6A8D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11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B77138-EE7A-371D-EC1A-D86830D7E075}"/>
              </a:ext>
            </a:extLst>
          </p:cNvPr>
          <p:cNvSpPr txBox="1"/>
          <p:nvPr/>
        </p:nvSpPr>
        <p:spPr>
          <a:xfrm>
            <a:off x="225724" y="1203108"/>
            <a:ext cx="117405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Impacto da IA na gestão financeira de empresas brasileiras</a:t>
            </a:r>
            <a:r>
              <a:rPr lang="pt-BR" sz="2400" dirty="0"/>
              <a:t> – Públio (2022)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25F0C1BB-C2C3-A609-70AF-1B91B2456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524404"/>
              </p:ext>
            </p:extLst>
          </p:nvPr>
        </p:nvGraphicFramePr>
        <p:xfrm>
          <a:off x="225724" y="2050024"/>
          <a:ext cx="6960884" cy="379112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Investigar percepção e uso real de IA na gestão financeira corporativa.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Análise de dados</a:t>
                      </a:r>
                    </a:p>
                    <a:p>
                      <a:r>
                        <a:rPr lang="pt-BR" sz="1600" dirty="0"/>
                        <a:t>Detecção de fraudes</a:t>
                      </a:r>
                    </a:p>
                    <a:p>
                      <a:r>
                        <a:rPr lang="pt-BR" sz="1600" dirty="0"/>
                        <a:t>Avaliação de riscos</a:t>
                      </a:r>
                    </a:p>
                    <a:p>
                      <a:r>
                        <a:rPr lang="pt-BR" sz="1600" dirty="0"/>
                        <a:t>Automação de processos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Pesquisa de campo com profissionais + revisão bibliográfica.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80% consideram IA essencial.</a:t>
                      </a:r>
                    </a:p>
                    <a:p>
                      <a:r>
                        <a:rPr lang="pt-BR" sz="1600" dirty="0"/>
                        <a:t>70% reportam ganhos reais (custo, precisão, eficiência).</a:t>
                      </a:r>
                    </a:p>
                    <a:p>
                      <a:r>
                        <a:rPr lang="pt-BR" sz="1600" dirty="0"/>
                        <a:t>Desafios: segurança, ética, capacitação.</a:t>
                      </a:r>
                    </a:p>
                    <a:p>
                      <a:endParaRPr lang="pt-BR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BF664246-C7EC-368B-A4BC-B9F0490D9DBB}"/>
              </a:ext>
            </a:extLst>
          </p:cNvPr>
          <p:cNvSpPr txBox="1"/>
          <p:nvPr/>
        </p:nvSpPr>
        <p:spPr>
          <a:xfrm>
            <a:off x="7661177" y="5571345"/>
            <a:ext cx="410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Complementa o tema mostrando impacto prático e empresarial da IA.</a:t>
            </a:r>
          </a:p>
        </p:txBody>
      </p:sp>
    </p:spTree>
    <p:extLst>
      <p:ext uri="{BB962C8B-B14F-4D97-AF65-F5344CB8AC3E}">
        <p14:creationId xmlns:p14="http://schemas.microsoft.com/office/powerpoint/2010/main" val="220073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7BB2-2B08-D459-F25A-43E41303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B95D8-2922-04A4-A395-8086454C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(5/5)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CED6E86-1110-CD0B-CDAE-CA0CE6E680C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FFC28E-6879-D002-F5E5-F8B3B451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6FF070-57E6-4692-9F14-A02C8F33606B}"/>
              </a:ext>
            </a:extLst>
          </p:cNvPr>
          <p:cNvSpPr txBox="1"/>
          <p:nvPr/>
        </p:nvSpPr>
        <p:spPr>
          <a:xfrm>
            <a:off x="225724" y="1203108"/>
            <a:ext cx="1174055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 err="1"/>
              <a:t>EvoFolio</a:t>
            </a:r>
            <a:r>
              <a:rPr lang="pt-BR" sz="2400" i="1" dirty="0"/>
              <a:t>: otimização de portfólios com NSGA-II e preferências do investidor</a:t>
            </a:r>
            <a:r>
              <a:rPr lang="pt-BR" sz="2400" dirty="0"/>
              <a:t> – Guarino (2024)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1B60FC8B-AB8D-2927-7D59-F85A25C7F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506954"/>
              </p:ext>
            </p:extLst>
          </p:nvPr>
        </p:nvGraphicFramePr>
        <p:xfrm>
          <a:off x="270293" y="2408917"/>
          <a:ext cx="6960884" cy="379112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Criar método evolutivo multiobjetivo para otimização de portfólios.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NSGA-II</a:t>
                      </a:r>
                    </a:p>
                    <a:p>
                      <a:r>
                        <a:rPr lang="pt-BR" sz="1600" dirty="0"/>
                        <a:t>Maximização de retorno e minimização de risco</a:t>
                      </a:r>
                    </a:p>
                    <a:p>
                      <a:r>
                        <a:rPr lang="pt-BR" sz="1600" dirty="0"/>
                        <a:t>Preferências (“</a:t>
                      </a:r>
                      <a:r>
                        <a:rPr lang="pt-BR" sz="1600" dirty="0" err="1"/>
                        <a:t>views</a:t>
                      </a:r>
                      <a:r>
                        <a:rPr lang="pt-BR" sz="1600" dirty="0"/>
                        <a:t>”) personalizadas</a:t>
                      </a:r>
                    </a:p>
                    <a:p>
                      <a:r>
                        <a:rPr lang="pt-BR" sz="1600" dirty="0"/>
                        <a:t>Elitismo interativo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Algoritmos evolutivos, base de 47 ativos (2020–2022).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Redução significativa do risco quando o investidor guia o algoritmo.</a:t>
                      </a:r>
                    </a:p>
                    <a:p>
                      <a:r>
                        <a:rPr lang="pt-BR" sz="1600" dirty="0"/>
                        <a:t>Supera agentes de Aprendizado por Reforço em desempenho.</a:t>
                      </a:r>
                    </a:p>
                    <a:p>
                      <a:r>
                        <a:rPr lang="pt-BR" sz="1600" dirty="0"/>
                        <a:t>Modelo robusto mesmo em período de alta volatilidade.</a:t>
                      </a:r>
                    </a:p>
                    <a:p>
                      <a:endParaRPr lang="pt-BR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B2A857A6-C5FD-0657-A22B-2BAC0506C76F}"/>
              </a:ext>
            </a:extLst>
          </p:cNvPr>
          <p:cNvSpPr txBox="1"/>
          <p:nvPr/>
        </p:nvSpPr>
        <p:spPr>
          <a:xfrm>
            <a:off x="7661177" y="5571345"/>
            <a:ext cx="4103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Fortemente alinhado à personalização de portfólios e uso prático de algoritmos genéticos.</a:t>
            </a:r>
          </a:p>
        </p:txBody>
      </p:sp>
    </p:spTree>
    <p:extLst>
      <p:ext uri="{BB962C8B-B14F-4D97-AF65-F5344CB8AC3E}">
        <p14:creationId xmlns:p14="http://schemas.microsoft.com/office/powerpoint/2010/main" val="388380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6AC5-3682-24DF-C3BC-65A568480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16D26-A30E-37E6-3A3C-AB2242F8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897DCD-EC08-9B28-BE8E-9F2011AA1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81"/>
            <a:ext cx="10674927" cy="1889766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b="1" dirty="0"/>
              <a:t>Arquitetura</a:t>
            </a:r>
            <a:r>
              <a:rPr lang="pt-BR" dirty="0"/>
              <a:t>: Website, Servidor/API, Banco de dados e </a:t>
            </a:r>
            <a:r>
              <a:rPr lang="pt-BR" dirty="0" err="1"/>
              <a:t>yFinance</a:t>
            </a:r>
            <a:endParaRPr lang="pt-BR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87C48F0B-220C-5281-482A-A1DC37DABBEA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DF9AE0-988D-9EEC-A4E5-87286E64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13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05995B7-BE19-9AEC-30E9-9FBED323F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409" y="2666367"/>
            <a:ext cx="6805181" cy="38265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8288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289F-D934-99C9-A6ED-3D78F7A7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903C75-3E6D-674B-41E0-0FDCC7D49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61" y="5241268"/>
            <a:ext cx="2774898" cy="188976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Diagrama </a:t>
            </a:r>
            <a:br>
              <a:rPr lang="pt-B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de casos de uso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21EABABB-0A1A-9CCD-97CC-ABB8D0E3DA8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87A502-7834-61AF-C747-B73F59B7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14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576D700-A6CB-E4EA-6914-9A8E6D20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62" y="671849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+mn-lt"/>
                <a:ea typeface="+mn-ea"/>
                <a:cs typeface="+mn-cs"/>
              </a:rPr>
              <a:t>Desenvolvimento</a:t>
            </a:r>
            <a:br>
              <a:rPr lang="pt-BR" sz="2800" dirty="0">
                <a:latin typeface="+mn-lt"/>
                <a:ea typeface="+mn-ea"/>
                <a:cs typeface="+mn-cs"/>
              </a:rPr>
            </a:br>
            <a:r>
              <a:rPr lang="pt-BR" sz="2800" dirty="0">
                <a:latin typeface="+mn-lt"/>
                <a:ea typeface="+mn-ea"/>
                <a:cs typeface="+mn-cs"/>
              </a:rPr>
              <a:t>Plataforma Web</a:t>
            </a:r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8ADFB8C4-0F3F-C7AA-A4FE-18C17AF4A6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" t="10881" b="1706"/>
          <a:stretch>
            <a:fillRect/>
          </a:stretch>
        </p:blipFill>
        <p:spPr bwMode="auto">
          <a:xfrm>
            <a:off x="4647910" y="95099"/>
            <a:ext cx="5364307" cy="6658154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1655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6F29-AC96-0F7A-AAA9-E5E35A90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645B-0A7D-46CE-BD2D-461E3E52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285F43-217E-05A1-43EF-71499B8E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80" y="1532531"/>
            <a:ext cx="10674927" cy="435133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dirty="0"/>
              <a:t>Requisitos funcionais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164F92E-B7B1-0D13-78F1-7A31D4719DB8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A4D77D-3C02-9A51-8B30-A18FE2B3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15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45EA3C8-7531-DB98-49D4-2548FC3C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52385"/>
              </p:ext>
            </p:extLst>
          </p:nvPr>
        </p:nvGraphicFramePr>
        <p:xfrm>
          <a:off x="626818" y="2094538"/>
          <a:ext cx="10938361" cy="4515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8361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RF01 - A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utenticação de usuário: a aplicação deve permitir autenticação via e-mail e senha, fornecendo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válido e redirecionando ao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RF02 -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 de novo usuário: a aplicação deve disponibilizar formulário de cadastro, permitindo criação e posterior login.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RF03 -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Visualizar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 prévias: a aplicação deve exibir prévias de carteiras, métricas e demais dados resumidos.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RF04 -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Listar carteiras do usuário: a aplicação deve apresentar todas as carteiras cadastradas, permitindo seleção e exclusão. 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74616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RF05 -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Visualizar detalhe e composição de carteira: a aplicação deve apresentar parâmetros e composição da carteira, incluindo tabela e gráfico.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001755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RF06 -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Criar / otimizar carteira: a aplicação deve possibilitar envio de parâmetros financeiros e restrições para criação de carteira otimizada.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908734"/>
                  </a:ext>
                </a:extLst>
              </a:tr>
              <a:tr h="63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RF07 -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Consultar ativos: a aplicação deve permitir listagem e filtragem de ativos para composição de carteiras.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484057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RF08 -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Deletar carteira: a aplicação deve permitir exclusão de carteiras mediante confirmação.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5083047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RF09 -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Editar perfil / deletar conta: a aplicação deve permitir edição de dados do usuário e exclusão de conta.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2078643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RF10 -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Navegação protegida por sessão: a aplicação deve restringir acesso às rotas internas mediante verificação de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93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003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E965-A837-3488-DC54-CD57678A4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2106C-8A69-883D-C3F4-25D06BC4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778331-ACFC-C83E-F400-77264EBA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41" y="1871897"/>
            <a:ext cx="10674927" cy="435133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dirty="0"/>
              <a:t>Requisitos não funcionais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7C56024-34AA-B5E2-C4D8-C12C3E032A5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DC99D6-E6D4-C086-DC7A-06D19579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16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4DCC027-6181-D4B3-D4EA-3C3D36C80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519877"/>
              </p:ext>
            </p:extLst>
          </p:nvPr>
        </p:nvGraphicFramePr>
        <p:xfrm>
          <a:off x="574766" y="2364377"/>
          <a:ext cx="10938361" cy="273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8361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RNF01 -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Segurança: o </a:t>
                      </a:r>
                      <a:r>
                        <a:rPr lang="pt-BR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 ser armazenado e enviado em autorização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Bearer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Em produção, recomenda-se uso de cookie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httpOnly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RNF02 -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Performance: páginas essenciais devem carregar em menos de 2 segundos em ambiente local.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RNF03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Usabilidade e acessibilidade: a interface deve ser responsiva, acessível e com foco adequado em elementos interativos</a:t>
                      </a: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RNF04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Manutenibilidade: a estrutura deve manter organização modular em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/,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e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/.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74616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RNF05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Compatibilidade: a aplicação deve suportar navegadores modernos com ES Modules.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1124143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RNF06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–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Observabilidade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mensagens de erro devem ser apresentadas ao usuário, e falhas registradas no </a:t>
                      </a:r>
                      <a:r>
                        <a:rPr lang="pt-BR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7145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85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B5BC-6F35-AF40-A8E3-5DFBD08D4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5CB1C-3298-F438-D62D-E2DD1E19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523C1-373B-051A-9CCA-EC4DE6A7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38" y="3181602"/>
            <a:ext cx="4912913" cy="3385453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Tela de Login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Autenticação via e-mail e senha</a:t>
            </a:r>
            <a:br>
              <a:rPr lang="pt-BR" sz="2400" dirty="0"/>
            </a:br>
            <a:r>
              <a:rPr lang="pt-BR" sz="2400" dirty="0"/>
              <a:t>• Validação com o </a:t>
            </a:r>
            <a:r>
              <a:rPr lang="pt-BR" sz="2400" dirty="0" err="1"/>
              <a:t>backend</a:t>
            </a:r>
            <a:br>
              <a:rPr lang="pt-BR" sz="2400" dirty="0"/>
            </a:br>
            <a:r>
              <a:rPr lang="pt-BR" sz="2400" dirty="0"/>
              <a:t>• Armazenamento do token JWT</a:t>
            </a:r>
            <a:br>
              <a:rPr lang="pt-BR" sz="2400" dirty="0"/>
            </a:br>
            <a:r>
              <a:rPr lang="pt-BR" sz="2400" dirty="0"/>
              <a:t>• Redirecionamento automático ao Dashboard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7DB63ADF-A13F-11EC-B965-F0C970E14E9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1B2418-8405-759D-2129-F616399F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17</a:t>
            </a:fld>
            <a:endParaRPr lang="pt-BR"/>
          </a:p>
        </p:txBody>
      </p:sp>
      <p:pic>
        <p:nvPicPr>
          <p:cNvPr id="7" name="Imagem 6" descr="Interface gráfica do usuário, Site">
            <a:extLst>
              <a:ext uri="{FF2B5EF4-FFF2-40B4-BE49-F238E27FC236}">
                <a16:creationId xmlns:a16="http://schemas.microsoft.com/office/drawing/2014/main" id="{2F96F4B3-80D5-B49F-25CF-30F677868B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805622"/>
            <a:ext cx="6516163" cy="3246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3022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2CBD-7C93-C2F1-249E-E4345DF7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53271-35FB-BEBD-764C-BF91933E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E3055-3E44-5C50-7344-08C8F00DD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3092523"/>
            <a:ext cx="5440285" cy="2927350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Tela de Cadastro de Usuário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Criação de novas contas</a:t>
            </a:r>
            <a:br>
              <a:rPr lang="pt-BR" sz="2400" dirty="0"/>
            </a:br>
            <a:r>
              <a:rPr lang="pt-BR" sz="2400" dirty="0"/>
              <a:t>• Envio de dados ao </a:t>
            </a:r>
            <a:r>
              <a:rPr lang="pt-BR" sz="2400" dirty="0" err="1"/>
              <a:t>backend</a:t>
            </a:r>
            <a:br>
              <a:rPr lang="pt-BR" sz="2400" dirty="0"/>
            </a:br>
            <a:r>
              <a:rPr lang="pt-BR" sz="2400" dirty="0"/>
              <a:t>• Mensagens de sucesso/erro exibidas ao usuário</a:t>
            </a:r>
            <a:br>
              <a:rPr lang="pt-BR" sz="2400" dirty="0"/>
            </a:br>
            <a:r>
              <a:rPr lang="pt-BR" sz="2400" dirty="0"/>
              <a:t>• Redirecionamento para o Login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75EFB66-9CF2-3C99-761B-3CA1C4B0933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1F1BAC-55B8-F1F4-CF40-CD7EEB36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18</a:t>
            </a:fld>
            <a:endParaRPr lang="pt-BR"/>
          </a:p>
        </p:txBody>
      </p:sp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420576A-8FC0-2E97-A39B-C7236FA1C6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608" y="1776928"/>
            <a:ext cx="5892800" cy="2927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0443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6329-6F5C-6D0B-A8F5-5659B2F4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D0C01-47F0-3F8F-0352-60F3E435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EA2E3-776F-8520-D21D-2FD9468E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2991893"/>
            <a:ext cx="5576137" cy="2985004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Dashboard – Visão Geral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dirty="0"/>
              <a:t>• Exibição das carteiras e métricas</a:t>
            </a:r>
            <a:br>
              <a:rPr lang="pt-BR" dirty="0"/>
            </a:br>
            <a:r>
              <a:rPr lang="pt-BR" dirty="0"/>
              <a:t>• Resumo de saldo e performance</a:t>
            </a:r>
            <a:br>
              <a:rPr lang="pt-BR" dirty="0"/>
            </a:br>
            <a:r>
              <a:rPr lang="pt-BR" dirty="0"/>
              <a:t>• Atalhos para ações rápidas</a:t>
            </a:r>
            <a:br>
              <a:rPr lang="pt-BR" dirty="0"/>
            </a:br>
            <a:r>
              <a:rPr lang="pt-BR" dirty="0"/>
              <a:t>• Dados carregados automaticamente</a:t>
            </a:r>
            <a:endParaRPr lang="pt-BR" sz="32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FDD79642-983B-05F0-E653-90E4476187B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755404-480A-6C6F-6DF5-DF2A8001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19</a:t>
            </a:fld>
            <a:endParaRPr lang="pt-BR"/>
          </a:p>
        </p:txBody>
      </p:sp>
      <p:pic>
        <p:nvPicPr>
          <p:cNvPr id="6" name="Imagem 5" descr="Tela de celular&#10;&#10;O conteúdo gerado por IA pode estar incorreto.">
            <a:extLst>
              <a:ext uri="{FF2B5EF4-FFF2-40B4-BE49-F238E27FC236}">
                <a16:creationId xmlns:a16="http://schemas.microsoft.com/office/drawing/2014/main" id="{13010374-386C-B7F2-8FCE-668149B058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92" b="19070"/>
          <a:stretch>
            <a:fillRect/>
          </a:stretch>
        </p:blipFill>
        <p:spPr bwMode="auto">
          <a:xfrm>
            <a:off x="6191058" y="2068733"/>
            <a:ext cx="5721350" cy="2609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503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0621-4100-F713-3B28-0908628D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58CDA-DA33-02A0-5D3E-6118C71A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C133D6-E143-683A-ECC3-CC12FAFA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3004717"/>
            <a:ext cx="5446473" cy="3488158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Lista de Carteiras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Exibição de todas as carteiras cadastradas</a:t>
            </a:r>
            <a:br>
              <a:rPr lang="pt-BR" sz="2400" dirty="0"/>
            </a:br>
            <a:r>
              <a:rPr lang="pt-BR" sz="2400" dirty="0"/>
              <a:t>• Seleção de carteira para ver detalhes</a:t>
            </a:r>
            <a:br>
              <a:rPr lang="pt-BR" sz="2400" dirty="0"/>
            </a:br>
            <a:r>
              <a:rPr lang="pt-BR" sz="2400" dirty="0"/>
              <a:t>• Atualização contínua da lista</a:t>
            </a:r>
            <a:br>
              <a:rPr lang="pt-BR" sz="2400" dirty="0"/>
            </a:br>
            <a:r>
              <a:rPr lang="pt-BR" sz="2400" dirty="0"/>
              <a:t>• Integração com exclusão e criação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2756507-D6DE-CC36-DE20-18702EEF660E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6CF284-3806-099F-CCD6-7E67E982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20</a:t>
            </a:fld>
            <a:endParaRPr lang="pt-BR"/>
          </a:p>
        </p:txBody>
      </p:sp>
      <p:pic>
        <p:nvPicPr>
          <p:cNvPr id="6" name="Imagem 5" descr="Tela de celular com fundo preto&#10;&#10;O conteúdo gerado por IA pode estar incorreto.">
            <a:extLst>
              <a:ext uri="{FF2B5EF4-FFF2-40B4-BE49-F238E27FC236}">
                <a16:creationId xmlns:a16="http://schemas.microsoft.com/office/drawing/2014/main" id="{54F55C09-C40A-1FF5-62A9-3E2134397E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63" b="13489"/>
          <a:stretch>
            <a:fillRect/>
          </a:stretch>
        </p:blipFill>
        <p:spPr bwMode="auto">
          <a:xfrm>
            <a:off x="6026794" y="2068733"/>
            <a:ext cx="5740400" cy="2825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920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D699-561E-A46C-5CD2-E72A827A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DBD7F-3BC7-5AA6-29BF-F36FB32F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D774F4-61CE-CD66-7F6B-E50BC0A8C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2991893"/>
            <a:ext cx="5495703" cy="2661731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Detalhes da Carteira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Composição dos ativos</a:t>
            </a:r>
            <a:br>
              <a:rPr lang="pt-BR" sz="2400" dirty="0"/>
            </a:br>
            <a:r>
              <a:rPr lang="pt-BR" sz="2400" dirty="0"/>
              <a:t>• Parâmetros da otimização</a:t>
            </a:r>
            <a:br>
              <a:rPr lang="pt-BR" sz="2400" dirty="0"/>
            </a:br>
            <a:r>
              <a:rPr lang="pt-BR" sz="2400" dirty="0"/>
              <a:t>• Visualização gráfica (</a:t>
            </a:r>
            <a:r>
              <a:rPr lang="pt-BR" sz="2400" dirty="0" err="1"/>
              <a:t>PieChart</a:t>
            </a:r>
            <a:r>
              <a:rPr lang="pt-BR" sz="2400" dirty="0"/>
              <a:t>)</a:t>
            </a:r>
            <a:br>
              <a:rPr lang="pt-BR" sz="2400" dirty="0"/>
            </a:br>
            <a:r>
              <a:rPr lang="pt-BR" sz="2400" dirty="0"/>
              <a:t>• Informações completas da carteira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B1D45D0-D062-DEE0-4FD7-7F984061CF0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51E17E-DFA3-CF9C-2758-384C532E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21</a:t>
            </a:fld>
            <a:endParaRPr lang="pt-BR"/>
          </a:p>
        </p:txBody>
      </p:sp>
      <p:pic>
        <p:nvPicPr>
          <p:cNvPr id="6" name="Imagem 5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7CA313E9-6357-2CD8-6068-0F578EC3A6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4" b="13423"/>
          <a:stretch>
            <a:fillRect/>
          </a:stretch>
        </p:blipFill>
        <p:spPr bwMode="auto">
          <a:xfrm>
            <a:off x="6178358" y="1964691"/>
            <a:ext cx="5734050" cy="2806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7587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2FA3-625A-136F-D71C-79BA3BA8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BA8AF-AD7B-BE23-A007-9F78516E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1D9B48-6497-4C41-C3E3-A8B228D02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3138293"/>
            <a:ext cx="5671194" cy="2689852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Perfil do Usuário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Edição de dados pessoais</a:t>
            </a:r>
            <a:br>
              <a:rPr lang="pt-BR" sz="2400" dirty="0"/>
            </a:br>
            <a:r>
              <a:rPr lang="pt-BR" sz="2400" dirty="0"/>
              <a:t>• Atualização imediata das informações</a:t>
            </a:r>
            <a:br>
              <a:rPr lang="pt-BR" sz="2400" dirty="0"/>
            </a:br>
            <a:r>
              <a:rPr lang="pt-BR" sz="2400" dirty="0"/>
              <a:t>• Opção de exclusão da conta</a:t>
            </a:r>
            <a:br>
              <a:rPr lang="pt-BR" sz="2400" dirty="0"/>
            </a:br>
            <a:r>
              <a:rPr lang="pt-BR" sz="2400" dirty="0"/>
              <a:t>• Persistência de dados no </a:t>
            </a:r>
            <a:r>
              <a:rPr lang="pt-BR" sz="2400" dirty="0" err="1"/>
              <a:t>backend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E2C6D85-94C0-67C7-A952-059B45945ED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A534D3-ACF4-A0C6-EDD8-62FB0FFF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22</a:t>
            </a:fld>
            <a:endParaRPr lang="pt-BR"/>
          </a:p>
        </p:txBody>
      </p:sp>
      <p:pic>
        <p:nvPicPr>
          <p:cNvPr id="6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43B745B-B12D-96B3-8FF8-3A509FBC56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44" b="59901"/>
          <a:stretch>
            <a:fillRect/>
          </a:stretch>
        </p:blipFill>
        <p:spPr bwMode="auto">
          <a:xfrm>
            <a:off x="6139136" y="2382742"/>
            <a:ext cx="5750791" cy="20925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1253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3FBC-5B4E-CAB1-AEC6-CC2C3CC7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05880-D31C-BF90-4987-957EBC91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2BADE6-A6C8-EB57-967E-3F7A4A43D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72" y="2991893"/>
            <a:ext cx="5480050" cy="2965562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Logout e Encerramento de Sessão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Remoção do token JWT</a:t>
            </a:r>
            <a:br>
              <a:rPr lang="pt-BR" sz="2400" dirty="0"/>
            </a:br>
            <a:r>
              <a:rPr lang="pt-BR" sz="2400" dirty="0"/>
              <a:t>• Encerramento seguro da sessão</a:t>
            </a:r>
            <a:br>
              <a:rPr lang="pt-BR" sz="2400" dirty="0"/>
            </a:br>
            <a:r>
              <a:rPr lang="pt-BR" sz="2400" dirty="0"/>
              <a:t>• Redirecionamento para o Login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CCDEAD6-C5FD-EEDE-3110-08E4B5CCDAA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117125-740D-335E-DD17-944D58BA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23</a:t>
            </a:fld>
            <a:endParaRPr lang="pt-BR"/>
          </a:p>
        </p:txBody>
      </p:sp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2291951-70D2-E775-BACB-9C42265AE7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706"/>
          <a:stretch>
            <a:fillRect/>
          </a:stretch>
        </p:blipFill>
        <p:spPr bwMode="auto">
          <a:xfrm>
            <a:off x="6001452" y="2387598"/>
            <a:ext cx="5808876" cy="18611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58107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9807-D973-4B77-BAFB-B4DD81A1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52191-5C08-CBAF-0FAE-DF1BA2EC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8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9684D-E3D4-E98B-20DF-13133D31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9655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Questionários para avaliação da plataforma web na visão do usuário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Perfil do participante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Lista de tarefas para execução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Avaliação da usabilidade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5E64481-3512-8ECB-C28B-51CE3C6B9B2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F186D6-33A1-3167-7427-A49C472E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762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739F-8845-41FA-1A67-D9DBDFF6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53540-15F1-DFAE-1B1B-7FFDA6CB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FADA4-F398-6D1E-F78B-D9F75152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158" y="2012193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 de perfil do participante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D798AB9C-0D35-2A3A-2DA8-E04E76B448F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3BE6B8-FD93-B497-0541-54CF4C96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25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C875405-7C11-AA70-92AB-1F272099D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373209"/>
              </p:ext>
            </p:extLst>
          </p:nvPr>
        </p:nvGraphicFramePr>
        <p:xfrm>
          <a:off x="1210092" y="2658402"/>
          <a:ext cx="9771814" cy="371594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49932">
                  <a:extLst>
                    <a:ext uri="{9D8B030D-6E8A-4147-A177-3AD203B41FA5}">
                      <a16:colId xmlns:a16="http://schemas.microsoft.com/office/drawing/2014/main" val="2459905217"/>
                    </a:ext>
                  </a:extLst>
                </a:gridCol>
                <a:gridCol w="2913017">
                  <a:extLst>
                    <a:ext uri="{9D8B030D-6E8A-4147-A177-3AD203B41FA5}">
                      <a16:colId xmlns:a16="http://schemas.microsoft.com/office/drawing/2014/main" val="3112259974"/>
                    </a:ext>
                  </a:extLst>
                </a:gridCol>
                <a:gridCol w="2508865">
                  <a:extLst>
                    <a:ext uri="{9D8B030D-6E8A-4147-A177-3AD203B41FA5}">
                      <a16:colId xmlns:a16="http://schemas.microsoft.com/office/drawing/2014/main" val="2042913687"/>
                    </a:ext>
                  </a:extLst>
                </a:gridCol>
              </a:tblGrid>
              <a:tr h="546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 dirty="0">
                          <a:effectLst/>
                        </a:rPr>
                        <a:t>Pergunta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>
                          <a:effectLst/>
                        </a:rPr>
                        <a:t>Respostas</a:t>
                      </a:r>
                      <a:endParaRPr lang="pt-BR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>
                          <a:effectLst/>
                        </a:rPr>
                        <a:t>Quantidade</a:t>
                      </a:r>
                      <a:endParaRPr lang="pt-BR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9357297"/>
                  </a:ext>
                </a:extLst>
              </a:tr>
              <a:tr h="109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Faixa etária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Menos de 18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18 e 25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26 e 35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36 e 45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46 e 56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Mais de 56 anos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753464"/>
                  </a:ext>
                </a:extLst>
              </a:tr>
              <a:tr h="109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Frequência que utiliza aplicativos/portais financeiros ou de investimento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Nunca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Raramente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Às vezes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Frequentemente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47.1%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753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864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CDE0-8CB8-2D7F-576A-6CCBDEC8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666A0-4892-B480-68F8-294F84EA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110DB-279A-838C-C23A-0949512B5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085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 de tarefas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2439533-DF71-3E27-E3EE-D5D55580DB81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7D66EB-3447-598A-8887-7D4DFB94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26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BE5814E-279E-8F8C-8490-0342C09F5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17977"/>
              </p:ext>
            </p:extLst>
          </p:nvPr>
        </p:nvGraphicFramePr>
        <p:xfrm>
          <a:off x="975358" y="2355521"/>
          <a:ext cx="10378441" cy="3352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770242">
                  <a:extLst>
                    <a:ext uri="{9D8B030D-6E8A-4147-A177-3AD203B41FA5}">
                      <a16:colId xmlns:a16="http://schemas.microsoft.com/office/drawing/2014/main" val="3121750111"/>
                    </a:ext>
                  </a:extLst>
                </a:gridCol>
                <a:gridCol w="1782105">
                  <a:extLst>
                    <a:ext uri="{9D8B030D-6E8A-4147-A177-3AD203B41FA5}">
                      <a16:colId xmlns:a16="http://schemas.microsoft.com/office/drawing/2014/main" val="3111340993"/>
                    </a:ext>
                  </a:extLst>
                </a:gridCol>
                <a:gridCol w="1826094">
                  <a:extLst>
                    <a:ext uri="{9D8B030D-6E8A-4147-A177-3AD203B41FA5}">
                      <a16:colId xmlns:a16="http://schemas.microsoft.com/office/drawing/2014/main" val="3376595651"/>
                    </a:ext>
                  </a:extLst>
                </a:gridCol>
              </a:tblGrid>
              <a:tr h="278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Tarefas/Respostas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Sim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Não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9165678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Criar uma conta (se aplicável) e efetuar login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-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807935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Navegar pelo dashboard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0318612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Iniciar a criação de uma carteira, preencher parâmetros e submeter.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100%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-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2304168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Abrir detalhe de uma carteira existente e interpretar composição.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100%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-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7566075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Alterar dados do perfil e (se desejado) realizar exclusão de conta.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953944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Encerrar sessão/deslogar com segurança.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100%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-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5148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922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51FC-627B-2BF3-74C1-7FE72F2E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2F2B0-5B69-C1B6-E53B-41E8D83E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74656F-7E03-5022-8AF8-1B515CFAC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Funcionalidade da aplicação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08337D9-57CE-0B41-89C4-F05DD561F37D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DDEFD5-1302-9C11-138A-A6E92F9D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27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186EEFF-0BB5-1705-3A0E-1489D6A18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49695"/>
              </p:ext>
            </p:extLst>
          </p:nvPr>
        </p:nvGraphicFramePr>
        <p:xfrm>
          <a:off x="678873" y="2239565"/>
          <a:ext cx="10674927" cy="425331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625817">
                  <a:extLst>
                    <a:ext uri="{9D8B030D-6E8A-4147-A177-3AD203B41FA5}">
                      <a16:colId xmlns:a16="http://schemas.microsoft.com/office/drawing/2014/main" val="113593814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442090767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915771326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445761394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413062252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322275944"/>
                    </a:ext>
                  </a:extLst>
                </a:gridCol>
              </a:tblGrid>
              <a:tr h="13195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Perguntas / Critérios de avaliação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Discordo totalmente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Discordo parcialmente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Não concordo nem discordo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Concordo parcialmente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Concordo totalmente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065734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O design da interface é visualmente atraente.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36956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É fácil navegar entre as telas principais (login, dashboard, carteiras, perfil).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815293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Os ícones e rótulos são claros e intuitivos.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16.7%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450285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 processo de cadastro é simples e rápido.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94.4%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556816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É fácil encontrar e interpretar as informações sobre a composição das carteiras.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15108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As ações (criar, editar, excluir) são fáceis de localizar e executar.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763392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 sistema responde em tempo aceitável às minhas ações (sem lentidão excessiva).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16.7%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548445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As mensagens de erro e ajuda (feedback) são claras e úteis. 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12711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Eu me senti seguro(a) ao utilizar a plataforma (privacidade e controle).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94.4%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649122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  <a:tabLst>
                          <a:tab pos="619125" algn="l"/>
                        </a:tabLst>
                      </a:pPr>
                      <a:r>
                        <a:rPr lang="pt-BR" sz="1600">
                          <a:effectLst/>
                        </a:rPr>
                        <a:t>Eu recomendaria esta plataforma para outras pessoas interessadas em gerenciar carteiras.	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100%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62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734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444-F19D-1860-1593-1C8DCDA7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16230-B913-09F6-0569-962AA101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022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(1/3)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6B1A5C-787D-E40F-553E-942514839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728774"/>
            <a:ext cx="5347856" cy="4633912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</a:pPr>
            <a:r>
              <a:rPr lang="pt-BR" sz="2400" b="1" dirty="0"/>
              <a:t>Contexto e motivação do trabalho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Desafio: conciliar retorno, risco e restrições reais em carteiras personalizadas.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Necessidade de soluções verificáveis, reprodutíveis e alinhadas ao perfil do investidor. 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Plataforma proposta integra: extração automática de dados → otimização → entrega em interface web.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6EF98B5-BBCD-9AE7-BBAF-E4E2CC9E9E2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B0555D-814C-A76A-0AB6-0146A30F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28</a:t>
            </a:fld>
            <a:endParaRPr lang="pt-BR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ADA9D20-7704-6F55-334D-2D3E7BA57224}"/>
              </a:ext>
            </a:extLst>
          </p:cNvPr>
          <p:cNvSpPr txBox="1">
            <a:spLocks/>
          </p:cNvSpPr>
          <p:nvPr/>
        </p:nvSpPr>
        <p:spPr>
          <a:xfrm>
            <a:off x="6095999" y="1728774"/>
            <a:ext cx="5551055" cy="463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pt-BR" sz="2400" b="1" dirty="0"/>
              <a:t>Pontos centrais da solução desenvolvida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Uso de Algoritmo Genético Multiobjetivo (R-NSGA-II) para guiar a busca segundo preferências do usuário. 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Estrutura completa: dados (</a:t>
            </a:r>
            <a:r>
              <a:rPr lang="pt-BR" sz="2400" dirty="0" err="1"/>
              <a:t>yfinance</a:t>
            </a:r>
            <a:r>
              <a:rPr lang="pt-BR" sz="2400" dirty="0"/>
              <a:t>) → preparação → otimização → API </a:t>
            </a:r>
            <a:r>
              <a:rPr lang="pt-BR" sz="2400" dirty="0" err="1"/>
              <a:t>Flask</a:t>
            </a:r>
            <a:r>
              <a:rPr lang="pt-BR" sz="2400" dirty="0"/>
              <a:t> → interface </a:t>
            </a:r>
            <a:r>
              <a:rPr lang="pt-BR" sz="2400" dirty="0" err="1"/>
              <a:t>React</a:t>
            </a:r>
            <a:r>
              <a:rPr lang="pt-BR" sz="2400" dirty="0"/>
              <a:t>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Justificativa técnica: melhor alinhamento da busca com perfis de risco e controle explícito do risco extremo (</a:t>
            </a:r>
            <a:r>
              <a:rPr lang="pt-BR" sz="2400" dirty="0" err="1"/>
              <a:t>CVaR</a:t>
            </a:r>
            <a:r>
              <a:rPr lang="pt-BR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12655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42DA-F076-1567-AB70-690492BE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F54AD-065B-FF1B-14CF-F219CE22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493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(2/3)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95752F-47D1-DD1E-D4B1-8093AD9AD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15" y="1507333"/>
            <a:ext cx="11325895" cy="5298293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Objetivos do trabalho atingidos: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Automatização dos dados</a:t>
            </a:r>
            <a:br>
              <a:rPr lang="pt-BR" dirty="0"/>
            </a:br>
            <a:r>
              <a:rPr lang="pt-BR" dirty="0"/>
              <a:t>– Coleta, limpeza e cálculo das estatísticas centrais (retornos médios e covariância).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Implementação do núcleo de otimização</a:t>
            </a:r>
            <a:br>
              <a:rPr lang="pt-BR" dirty="0"/>
            </a:br>
            <a:r>
              <a:rPr lang="pt-BR" dirty="0"/>
              <a:t>– R-NSGA-II com amostragem </a:t>
            </a:r>
            <a:r>
              <a:rPr lang="pt-BR" dirty="0" err="1"/>
              <a:t>Dirichlet</a:t>
            </a:r>
            <a:r>
              <a:rPr lang="pt-BR" dirty="0"/>
              <a:t>, crossover/</a:t>
            </a:r>
            <a:r>
              <a:rPr lang="pt-BR" dirty="0" err="1"/>
              <a:t>mutation</a:t>
            </a:r>
            <a:r>
              <a:rPr lang="pt-BR" dirty="0"/>
              <a:t> no simplex e controle de cardinalidade.</a:t>
            </a:r>
            <a:br>
              <a:rPr lang="pt-BR" dirty="0"/>
            </a:br>
            <a:r>
              <a:rPr lang="pt-BR" dirty="0"/>
              <a:t>– </a:t>
            </a:r>
            <a:r>
              <a:rPr lang="pt-BR" dirty="0" err="1"/>
              <a:t>Tuning</a:t>
            </a:r>
            <a:r>
              <a:rPr lang="pt-BR" dirty="0"/>
              <a:t> de </a:t>
            </a:r>
            <a:r>
              <a:rPr lang="pt-BR" dirty="0" err="1"/>
              <a:t>hiperparâmetros</a:t>
            </a:r>
            <a:r>
              <a:rPr lang="pt-BR" dirty="0"/>
              <a:t> utilizando R-</a:t>
            </a:r>
            <a:r>
              <a:rPr lang="pt-BR" dirty="0" err="1"/>
              <a:t>Hypervolume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Avaliação dos resultados</a:t>
            </a:r>
            <a:br>
              <a:rPr lang="pt-BR" dirty="0"/>
            </a:br>
            <a:r>
              <a:rPr lang="pt-BR" dirty="0"/>
              <a:t>– Backtests e comparação com benchmarks de mercado.</a:t>
            </a:r>
            <a:br>
              <a:rPr lang="pt-BR" dirty="0"/>
            </a:br>
            <a:r>
              <a:rPr lang="pt-BR" dirty="0"/>
              <a:t>– Perfis conservador, moderado e arrojado coerentes com risco/retorno e </a:t>
            </a:r>
            <a:r>
              <a:rPr lang="pt-BR" dirty="0" err="1"/>
              <a:t>CVaR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Disponibilização da solução</a:t>
            </a:r>
            <a:br>
              <a:rPr lang="pt-BR" dirty="0"/>
            </a:br>
            <a:r>
              <a:rPr lang="pt-BR" dirty="0"/>
              <a:t>– API REST + interface web funcional e replicável.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9BB6BB7-CABD-B55C-BE98-D63CDF6C925D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7AC331-6011-A88E-AA40-8E83550A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525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0BE7-5F40-2C77-5CF1-262922FF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A9D90-4B21-9439-30C6-FD199A6B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1300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(3/3)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F7382-D28D-5D28-CE9D-2DFA1BDC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285"/>
            <a:ext cx="10674927" cy="493316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sz="2400" b="1" dirty="0"/>
              <a:t>Trabalhos correlatos</a:t>
            </a:r>
          </a:p>
          <a:p>
            <a:pPr>
              <a:spcBef>
                <a:spcPts val="1400"/>
              </a:spcBef>
            </a:pPr>
            <a:r>
              <a:rPr lang="pt-BR" sz="2400" dirty="0" err="1"/>
              <a:t>EvoFolio</a:t>
            </a:r>
            <a:r>
              <a:rPr lang="pt-BR" sz="2400" dirty="0"/>
              <a:t> (Guarino et al., 2024): usa NSGA-II e depende de “</a:t>
            </a:r>
            <a:r>
              <a:rPr lang="pt-BR" sz="2400" dirty="0" err="1"/>
              <a:t>views</a:t>
            </a:r>
            <a:r>
              <a:rPr lang="pt-BR" sz="2400" dirty="0"/>
              <a:t>” do investidor.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Diferença do presente trabalho: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Personalização matemática por pontos de referência (sem subjetividade do usuário).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Integração explícita do </a:t>
            </a:r>
            <a:r>
              <a:rPr lang="pt-BR" sz="2400" dirty="0" err="1"/>
              <a:t>CVaR</a:t>
            </a:r>
            <a:r>
              <a:rPr lang="pt-BR" sz="2400" dirty="0"/>
              <a:t> (proteção contra perdas extremas).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Interface web completa para uso prático.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b="1" dirty="0"/>
              <a:t>Limitações identificadas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Uso de séries históricas sujeitas à instabilidade de mercado.</a:t>
            </a:r>
            <a:br>
              <a:rPr lang="pt-BR" sz="2400" dirty="0"/>
            </a:br>
            <a:r>
              <a:rPr lang="pt-BR" sz="2400" dirty="0"/>
              <a:t>• Estimativa do </a:t>
            </a:r>
            <a:r>
              <a:rPr lang="pt-BR" sz="2400" dirty="0" err="1"/>
              <a:t>CVaR</a:t>
            </a:r>
            <a:r>
              <a:rPr lang="pt-BR" sz="2400" dirty="0"/>
              <a:t> sensível a eventos extremos.</a:t>
            </a:r>
            <a:br>
              <a:rPr lang="pt-BR" sz="2400" dirty="0"/>
            </a:br>
            <a:r>
              <a:rPr lang="pt-BR" sz="2400" dirty="0"/>
              <a:t>• Ausência de custos de transação e liquidez no </a:t>
            </a:r>
            <a:r>
              <a:rPr lang="pt-BR" sz="2400" dirty="0" err="1"/>
              <a:t>backtest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• Cardinalidade aumenta complexidade e impacta escalabilidade.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88BD385-15C0-445A-503F-A0C390E88180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88EDB1-BF24-B0A3-B09D-4E18020F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911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F53A-122F-954B-FB8C-CA27AC91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4700E-419D-9307-14C7-148913D1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1300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(3/3)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9991EC-FEBC-E7AE-C309-E8D528CF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285"/>
            <a:ext cx="10674927" cy="4933168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b="1" dirty="0"/>
              <a:t>Sugestões para trabalhos futuros</a:t>
            </a:r>
          </a:p>
          <a:p>
            <a:pPr marL="0" indent="0">
              <a:lnSpc>
                <a:spcPct val="150000"/>
              </a:lnSpc>
              <a:spcBef>
                <a:spcPts val="1400"/>
              </a:spcBef>
              <a:buNone/>
            </a:pPr>
            <a:r>
              <a:rPr lang="pt-BR" sz="2400" dirty="0"/>
              <a:t>• Rebalanceamento automático e registro de operações do usuário.</a:t>
            </a:r>
            <a:br>
              <a:rPr lang="pt-BR" sz="2400" dirty="0"/>
            </a:br>
            <a:r>
              <a:rPr lang="pt-BR" sz="2400" dirty="0"/>
              <a:t>• Adicionar modelos preditivos (redes neurais).</a:t>
            </a:r>
            <a:br>
              <a:rPr lang="pt-BR" sz="2400" dirty="0"/>
            </a:br>
            <a:r>
              <a:rPr lang="pt-BR" sz="2400" dirty="0"/>
              <a:t>• Incluir custos de transação, liquidez e impacto de mercado.</a:t>
            </a:r>
            <a:br>
              <a:rPr lang="pt-BR" sz="2400" dirty="0"/>
            </a:br>
            <a:r>
              <a:rPr lang="pt-BR" sz="2400" dirty="0"/>
              <a:t>• Explorar otimização robusta + previsões.</a:t>
            </a:r>
            <a:br>
              <a:rPr lang="pt-BR" sz="2400" dirty="0"/>
            </a:br>
            <a:r>
              <a:rPr lang="pt-BR" sz="2400" dirty="0"/>
              <a:t>• Testar janelas móveis e validação fora da amostra.</a:t>
            </a:r>
            <a:endParaRPr lang="pt-BR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5D2915D-F54E-8A83-77BD-8E83E8333540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3DAC13-344A-EB2D-B53B-54DB3BB6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416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2176-71D3-2FDB-ED45-C08BBE0A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6E92-A549-9069-30DF-56A8E92A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Demonstração</a:t>
            </a:r>
            <a:endParaRPr lang="pt-BR" sz="38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9527DC1-9261-062D-AAB0-86E91BBFAE1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04A299-D957-5DD0-7C63-25E214E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058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1338"/>
            <a:ext cx="10515600" cy="2056588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Muito obrigado!</a:t>
            </a:r>
            <a:endParaRPr lang="pt-BR" sz="49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66132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E19B60-A7B8-4C54-BAF1-D661FCC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505754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33</a:t>
            </a:fld>
            <a:endParaRPr lang="pt-BR"/>
          </a:p>
        </p:txBody>
      </p:sp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A1D91FF8-5898-4C3F-8AEF-A9A9DD5C3C14}"/>
              </a:ext>
            </a:extLst>
          </p:cNvPr>
          <p:cNvSpPr/>
          <p:nvPr/>
        </p:nvSpPr>
        <p:spPr>
          <a:xfrm>
            <a:off x="4624066" y="3056896"/>
            <a:ext cx="2943865" cy="45719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10" descr="Happy Ears Photos and Images | Shutterstock">
            <a:extLst>
              <a:ext uri="{FF2B5EF4-FFF2-40B4-BE49-F238E27FC236}">
                <a16:creationId xmlns:a16="http://schemas.microsoft.com/office/drawing/2014/main" id="{5CD59700-6E73-B7FD-648D-4CF948725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5152" y1="45000" x2="70606" y2="60714"/>
                        <a14:foregroundMark x1="35152" y1="75000" x2="35152" y2="75000"/>
                        <a14:foregroundMark x1="71818" y1="73929" x2="71818" y2="73929"/>
                        <a14:foregroundMark x1="86667" y1="52143" x2="86667" y2="5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536" y="2957925"/>
            <a:ext cx="4074923" cy="345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359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6572</TotalTime>
  <Words>2235</Words>
  <Application>Microsoft Office PowerPoint</Application>
  <PresentationFormat>Widescreen</PresentationFormat>
  <Paragraphs>341</Paragraphs>
  <Slides>33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Tema do Office</vt:lpstr>
      <vt:lpstr>Otovida: uma plataforma de telemedicina com aprendizado de máquina para diagnóstico de doenças e condições otológicas</vt:lpstr>
      <vt:lpstr>Fundamentação Teórica (1/4) Conceitos</vt:lpstr>
      <vt:lpstr>Apresentação do PowerPoint</vt:lpstr>
      <vt:lpstr>Fundamentação Teórica (2/4) TMP</vt:lpstr>
      <vt:lpstr>Fundamentação Teórica (3/4) NSGA-II</vt:lpstr>
      <vt:lpstr>Fundamentação Teórica (4/4) R-NSGA-II</vt:lpstr>
      <vt:lpstr>Apresentação do PowerPoint</vt:lpstr>
      <vt:lpstr>Trabalhos correlatos (1/5)</vt:lpstr>
      <vt:lpstr>Trabalhos correlatos (2/5)</vt:lpstr>
      <vt:lpstr>Trabalhos correlatos (3/5)</vt:lpstr>
      <vt:lpstr>Trabalhos correlatos (4/5)</vt:lpstr>
      <vt:lpstr>Trabalhos correlatos (5/5)</vt:lpstr>
      <vt:lpstr>Desenvolvimento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Plataforma Web</vt:lpstr>
      <vt:lpstr>Desenvolvimento Teste de Usabilidade</vt:lpstr>
      <vt:lpstr>Desenvolvimento Teste de Usabilidade</vt:lpstr>
      <vt:lpstr>Desenvolvimento Teste de Usabilidade</vt:lpstr>
      <vt:lpstr>Desenvolvimento Teste de Usabilidade</vt:lpstr>
      <vt:lpstr>Conclusões (1/3)</vt:lpstr>
      <vt:lpstr>Conclusões (2/3)</vt:lpstr>
      <vt:lpstr>Conclusões (3/3)</vt:lpstr>
      <vt:lpstr>Conclusões (3/3)</vt:lpstr>
      <vt:lpstr>Demonstração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Juan Carlos Jacintho</dc:creator>
  <cp:lastModifiedBy>Alexandre Silva Zabel</cp:lastModifiedBy>
  <cp:revision>163</cp:revision>
  <dcterms:created xsi:type="dcterms:W3CDTF">2018-10-06T14:09:27Z</dcterms:created>
  <dcterms:modified xsi:type="dcterms:W3CDTF">2025-12-08T02:05:31Z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28577e-0e52-49e2-b52e-02bb75ccb8f1_Enabled">
    <vt:lpwstr>true</vt:lpwstr>
  </property>
  <property fmtid="{D5CDD505-2E9C-101B-9397-08002B2CF9AE}" pid="3" name="MSIP_Label_8c28577e-0e52-49e2-b52e-02bb75ccb8f1_SetDate">
    <vt:lpwstr>2024-05-23T13:20:22Z</vt:lpwstr>
  </property>
  <property fmtid="{D5CDD505-2E9C-101B-9397-08002B2CF9AE}" pid="4" name="MSIP_Label_8c28577e-0e52-49e2-b52e-02bb75ccb8f1_Method">
    <vt:lpwstr>Standard</vt:lpwstr>
  </property>
  <property fmtid="{D5CDD505-2E9C-101B-9397-08002B2CF9AE}" pid="5" name="MSIP_Label_8c28577e-0e52-49e2-b52e-02bb75ccb8f1_Name">
    <vt:lpwstr>defa4170-0d19-0005-0004-bc88714345d2</vt:lpwstr>
  </property>
  <property fmtid="{D5CDD505-2E9C-101B-9397-08002B2CF9AE}" pid="6" name="MSIP_Label_8c28577e-0e52-49e2-b52e-02bb75ccb8f1_SiteId">
    <vt:lpwstr>0c2d222a-ecda-4b70-960a-acef6ced3052</vt:lpwstr>
  </property>
  <property fmtid="{D5CDD505-2E9C-101B-9397-08002B2CF9AE}" pid="7" name="MSIP_Label_8c28577e-0e52-49e2-b52e-02bb75ccb8f1_ActionId">
    <vt:lpwstr>6ba84654-57a9-4fe4-9506-168f768f8603</vt:lpwstr>
  </property>
  <property fmtid="{D5CDD505-2E9C-101B-9397-08002B2CF9AE}" pid="8" name="MSIP_Label_8c28577e-0e52-49e2-b52e-02bb75ccb8f1_ContentBits">
    <vt:lpwstr>0</vt:lpwstr>
  </property>
</Properties>
</file>
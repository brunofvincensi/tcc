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48" r:id="rId1"/>
  </p:sldMasterIdLst>
  <p:notesMasterIdLst>
    <p:notesMasterId r:id="rId53"/>
  </p:notesMasterIdLst>
  <p:sldIdLst>
    <p:sldId id="256" r:id="rId2"/>
    <p:sldId id="283" r:id="rId3"/>
    <p:sldId id="270" r:id="rId4"/>
    <p:sldId id="311" r:id="rId5"/>
    <p:sldId id="268" r:id="rId6"/>
    <p:sldId id="258" r:id="rId7"/>
    <p:sldId id="284" r:id="rId8"/>
    <p:sldId id="355" r:id="rId9"/>
    <p:sldId id="285" r:id="rId10"/>
    <p:sldId id="356" r:id="rId11"/>
    <p:sldId id="357" r:id="rId12"/>
    <p:sldId id="358" r:id="rId13"/>
    <p:sldId id="260" r:id="rId14"/>
    <p:sldId id="273" r:id="rId15"/>
    <p:sldId id="274" r:id="rId16"/>
    <p:sldId id="359" r:id="rId17"/>
    <p:sldId id="360" r:id="rId18"/>
    <p:sldId id="300" r:id="rId19"/>
    <p:sldId id="289" r:id="rId20"/>
    <p:sldId id="334" r:id="rId21"/>
    <p:sldId id="335" r:id="rId22"/>
    <p:sldId id="336" r:id="rId23"/>
    <p:sldId id="313" r:id="rId24"/>
    <p:sldId id="338" r:id="rId25"/>
    <p:sldId id="339" r:id="rId26"/>
    <p:sldId id="340" r:id="rId27"/>
    <p:sldId id="341" r:id="rId28"/>
    <p:sldId id="354" r:id="rId29"/>
    <p:sldId id="342" r:id="rId30"/>
    <p:sldId id="343" r:id="rId31"/>
    <p:sldId id="344" r:id="rId32"/>
    <p:sldId id="351" r:id="rId33"/>
    <p:sldId id="353" r:id="rId34"/>
    <p:sldId id="345" r:id="rId35"/>
    <p:sldId id="347" r:id="rId36"/>
    <p:sldId id="348" r:id="rId37"/>
    <p:sldId id="349" r:id="rId38"/>
    <p:sldId id="301" r:id="rId39"/>
    <p:sldId id="302" r:id="rId40"/>
    <p:sldId id="303" r:id="rId41"/>
    <p:sldId id="369" r:id="rId42"/>
    <p:sldId id="305" r:id="rId43"/>
    <p:sldId id="306" r:id="rId44"/>
    <p:sldId id="307" r:id="rId45"/>
    <p:sldId id="367" r:id="rId46"/>
    <p:sldId id="309" r:id="rId47"/>
    <p:sldId id="321" r:id="rId48"/>
    <p:sldId id="312" r:id="rId49"/>
    <p:sldId id="368" r:id="rId50"/>
    <p:sldId id="333" r:id="rId51"/>
    <p:sldId id="269" r:id="rId5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995B57-488E-4F40-8249-3D6D4525D48B}" v="437" dt="2025-07-03T01:44:37.0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57BF5C-9837-48FA-A716-C6BABE59EC9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D2B9252-CF4C-4F84-BAA0-BC3DCC5905B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Conceito de Carteira de Investimentos: </a:t>
          </a:r>
          <a:r>
            <a:rPr lang="pt-BR"/>
            <a:t>coerência entre risco, retorno, perfil e horizonte temporal</a:t>
          </a:r>
          <a:endParaRPr lang="en-US"/>
        </a:p>
      </dgm:t>
    </dgm:pt>
    <dgm:pt modelId="{F8F10F74-A563-4D20-91D3-B14BCDA6C308}" type="parTrans" cxnId="{42A5EF78-C716-43CA-A489-68D4779F80F1}">
      <dgm:prSet/>
      <dgm:spPr/>
      <dgm:t>
        <a:bodyPr/>
        <a:lstStyle/>
        <a:p>
          <a:endParaRPr lang="en-US"/>
        </a:p>
      </dgm:t>
    </dgm:pt>
    <dgm:pt modelId="{F27CF7BD-07EA-419E-A453-C66DB2C7447C}" type="sibTrans" cxnId="{42A5EF78-C716-43CA-A489-68D4779F80F1}">
      <dgm:prSet/>
      <dgm:spPr/>
      <dgm:t>
        <a:bodyPr/>
        <a:lstStyle/>
        <a:p>
          <a:endParaRPr lang="en-US"/>
        </a:p>
      </dgm:t>
    </dgm:pt>
    <dgm:pt modelId="{324DF199-F747-47E0-8D39-C4244275B1EC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Importância da Diversificação</a:t>
          </a:r>
          <a:r>
            <a:rPr lang="pt-BR"/>
            <a:t>: Redução de risco, correlação entre ativos, ganhos de longo prazo</a:t>
          </a:r>
          <a:endParaRPr lang="en-US"/>
        </a:p>
      </dgm:t>
    </dgm:pt>
    <dgm:pt modelId="{C23A1F49-CB61-4365-BBF6-E91B7E919D6E}" type="parTrans" cxnId="{339209EE-0625-4EAC-BD86-1F8F2D84F4B3}">
      <dgm:prSet/>
      <dgm:spPr/>
      <dgm:t>
        <a:bodyPr/>
        <a:lstStyle/>
        <a:p>
          <a:endParaRPr lang="en-US"/>
        </a:p>
      </dgm:t>
    </dgm:pt>
    <dgm:pt modelId="{B2D6D6E7-B005-4135-87E5-D957CE553111}" type="sibTrans" cxnId="{339209EE-0625-4EAC-BD86-1F8F2D84F4B3}">
      <dgm:prSet/>
      <dgm:spPr/>
      <dgm:t>
        <a:bodyPr/>
        <a:lstStyle/>
        <a:p>
          <a:endParaRPr lang="en-US"/>
        </a:p>
      </dgm:t>
    </dgm:pt>
    <dgm:pt modelId="{2CAAAF1D-3B7E-454E-9EE7-A51EEF7CF964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Teoria Moderna do Portfólio (TMP)</a:t>
          </a:r>
          <a:r>
            <a:rPr lang="pt-BR"/>
            <a:t>: Markowitz (1952), Relação risco-retorno, Fronteira eficiente</a:t>
          </a:r>
          <a:endParaRPr lang="en-US"/>
        </a:p>
      </dgm:t>
    </dgm:pt>
    <dgm:pt modelId="{A602A922-C4C8-4CC5-8456-8BEF1BABA28C}" type="parTrans" cxnId="{31078EA1-9838-43E5-BD80-88DCFCE13F41}">
      <dgm:prSet/>
      <dgm:spPr/>
      <dgm:t>
        <a:bodyPr/>
        <a:lstStyle/>
        <a:p>
          <a:endParaRPr lang="en-US"/>
        </a:p>
      </dgm:t>
    </dgm:pt>
    <dgm:pt modelId="{E06A138C-F597-41D5-9B86-B58445381E7E}" type="sibTrans" cxnId="{31078EA1-9838-43E5-BD80-88DCFCE13F41}">
      <dgm:prSet/>
      <dgm:spPr/>
      <dgm:t>
        <a:bodyPr/>
        <a:lstStyle/>
        <a:p>
          <a:endParaRPr lang="en-US"/>
        </a:p>
      </dgm:t>
    </dgm:pt>
    <dgm:pt modelId="{C1FB1B66-8207-42F0-B886-79866412E80C}" type="pres">
      <dgm:prSet presAssocID="{B157BF5C-9837-48FA-A716-C6BABE59EC90}" presName="root" presStyleCnt="0">
        <dgm:presLayoutVars>
          <dgm:dir/>
          <dgm:resizeHandles val="exact"/>
        </dgm:presLayoutVars>
      </dgm:prSet>
      <dgm:spPr/>
    </dgm:pt>
    <dgm:pt modelId="{EC941DCE-2C8E-414D-815A-97D3D2F7C1B7}" type="pres">
      <dgm:prSet presAssocID="{DD2B9252-CF4C-4F84-BAA0-BC3DCC5905BB}" presName="compNode" presStyleCnt="0"/>
      <dgm:spPr/>
    </dgm:pt>
    <dgm:pt modelId="{3266EC70-2269-4CBB-83CE-56B628AA4F3C}" type="pres">
      <dgm:prSet presAssocID="{DD2B9252-CF4C-4F84-BAA0-BC3DCC5905BB}" presName="bgRect" presStyleLbl="bgShp" presStyleIdx="0" presStyleCnt="3"/>
      <dgm:spPr/>
    </dgm:pt>
    <dgm:pt modelId="{DEBFA940-AFB4-4C84-BDF8-B5D51ACD0BFF}" type="pres">
      <dgm:prSet presAssocID="{DD2B9252-CF4C-4F84-BAA0-BC3DCC5905B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iggy Bank"/>
        </a:ext>
      </dgm:extLst>
    </dgm:pt>
    <dgm:pt modelId="{64A395ED-7F12-4867-BF09-299FBC35952A}" type="pres">
      <dgm:prSet presAssocID="{DD2B9252-CF4C-4F84-BAA0-BC3DCC5905BB}" presName="spaceRect" presStyleCnt="0"/>
      <dgm:spPr/>
    </dgm:pt>
    <dgm:pt modelId="{2666EB79-375B-4C6E-9511-83E03531853B}" type="pres">
      <dgm:prSet presAssocID="{DD2B9252-CF4C-4F84-BAA0-BC3DCC5905BB}" presName="parTx" presStyleLbl="revTx" presStyleIdx="0" presStyleCnt="3">
        <dgm:presLayoutVars>
          <dgm:chMax val="0"/>
          <dgm:chPref val="0"/>
        </dgm:presLayoutVars>
      </dgm:prSet>
      <dgm:spPr/>
    </dgm:pt>
    <dgm:pt modelId="{D921A553-A7EE-4D14-88AD-058E78FD93C1}" type="pres">
      <dgm:prSet presAssocID="{F27CF7BD-07EA-419E-A453-C66DB2C7447C}" presName="sibTrans" presStyleCnt="0"/>
      <dgm:spPr/>
    </dgm:pt>
    <dgm:pt modelId="{A43FD66F-794B-457C-9D80-EFEEECFFF453}" type="pres">
      <dgm:prSet presAssocID="{324DF199-F747-47E0-8D39-C4244275B1EC}" presName="compNode" presStyleCnt="0"/>
      <dgm:spPr/>
    </dgm:pt>
    <dgm:pt modelId="{B370A80A-BEBE-4C67-B767-AD3836195E9A}" type="pres">
      <dgm:prSet presAssocID="{324DF199-F747-47E0-8D39-C4244275B1EC}" presName="bgRect" presStyleLbl="bgShp" presStyleIdx="1" presStyleCnt="3"/>
      <dgm:spPr/>
    </dgm:pt>
    <dgm:pt modelId="{A43D8858-5347-4A7D-9448-EC6BB72C8AB1}" type="pres">
      <dgm:prSet presAssocID="{324DF199-F747-47E0-8D39-C4244275B1E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C35003EC-FD95-4BD9-991F-8A7411677806}" type="pres">
      <dgm:prSet presAssocID="{324DF199-F747-47E0-8D39-C4244275B1EC}" presName="spaceRect" presStyleCnt="0"/>
      <dgm:spPr/>
    </dgm:pt>
    <dgm:pt modelId="{2D0398DC-B969-40C6-88EC-17D0D5F7FE19}" type="pres">
      <dgm:prSet presAssocID="{324DF199-F747-47E0-8D39-C4244275B1EC}" presName="parTx" presStyleLbl="revTx" presStyleIdx="1" presStyleCnt="3">
        <dgm:presLayoutVars>
          <dgm:chMax val="0"/>
          <dgm:chPref val="0"/>
        </dgm:presLayoutVars>
      </dgm:prSet>
      <dgm:spPr/>
    </dgm:pt>
    <dgm:pt modelId="{58229560-9472-4751-AC4C-193A0F0569CE}" type="pres">
      <dgm:prSet presAssocID="{B2D6D6E7-B005-4135-87E5-D957CE553111}" presName="sibTrans" presStyleCnt="0"/>
      <dgm:spPr/>
    </dgm:pt>
    <dgm:pt modelId="{8848FBDF-C76D-4396-9E16-6FDD918E4B9D}" type="pres">
      <dgm:prSet presAssocID="{2CAAAF1D-3B7E-454E-9EE7-A51EEF7CF964}" presName="compNode" presStyleCnt="0"/>
      <dgm:spPr/>
    </dgm:pt>
    <dgm:pt modelId="{E74DB5E5-27F8-412B-94E8-5F45078999B3}" type="pres">
      <dgm:prSet presAssocID="{2CAAAF1D-3B7E-454E-9EE7-A51EEF7CF964}" presName="bgRect" presStyleLbl="bgShp" presStyleIdx="2" presStyleCnt="3"/>
      <dgm:spPr/>
    </dgm:pt>
    <dgm:pt modelId="{AE484EF5-C87E-49E9-B56E-191D6EF40DC6}" type="pres">
      <dgm:prSet presAssocID="{2CAAAF1D-3B7E-454E-9EE7-A51EEF7CF96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5FABC240-7209-4980-8386-794D14C04221}" type="pres">
      <dgm:prSet presAssocID="{2CAAAF1D-3B7E-454E-9EE7-A51EEF7CF964}" presName="spaceRect" presStyleCnt="0"/>
      <dgm:spPr/>
    </dgm:pt>
    <dgm:pt modelId="{9ECA8261-A2CE-4143-9CFB-E229CB3228BE}" type="pres">
      <dgm:prSet presAssocID="{2CAAAF1D-3B7E-454E-9EE7-A51EEF7CF96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EEC3238-0179-4CE0-9218-C655759C2313}" type="presOf" srcId="{324DF199-F747-47E0-8D39-C4244275B1EC}" destId="{2D0398DC-B969-40C6-88EC-17D0D5F7FE19}" srcOrd="0" destOrd="0" presId="urn:microsoft.com/office/officeart/2018/2/layout/IconVerticalSolidList"/>
    <dgm:cxn modelId="{543BE83A-B1A1-49F2-BE10-E390CED1E855}" type="presOf" srcId="{B157BF5C-9837-48FA-A716-C6BABE59EC90}" destId="{C1FB1B66-8207-42F0-B886-79866412E80C}" srcOrd="0" destOrd="0" presId="urn:microsoft.com/office/officeart/2018/2/layout/IconVerticalSolidList"/>
    <dgm:cxn modelId="{42A5EF78-C716-43CA-A489-68D4779F80F1}" srcId="{B157BF5C-9837-48FA-A716-C6BABE59EC90}" destId="{DD2B9252-CF4C-4F84-BAA0-BC3DCC5905BB}" srcOrd="0" destOrd="0" parTransId="{F8F10F74-A563-4D20-91D3-B14BCDA6C308}" sibTransId="{F27CF7BD-07EA-419E-A453-C66DB2C7447C}"/>
    <dgm:cxn modelId="{3D41D68A-DD5F-4FBF-8B59-FD87B1EB5BB5}" type="presOf" srcId="{DD2B9252-CF4C-4F84-BAA0-BC3DCC5905BB}" destId="{2666EB79-375B-4C6E-9511-83E03531853B}" srcOrd="0" destOrd="0" presId="urn:microsoft.com/office/officeart/2018/2/layout/IconVerticalSolidList"/>
    <dgm:cxn modelId="{31078EA1-9838-43E5-BD80-88DCFCE13F41}" srcId="{B157BF5C-9837-48FA-A716-C6BABE59EC90}" destId="{2CAAAF1D-3B7E-454E-9EE7-A51EEF7CF964}" srcOrd="2" destOrd="0" parTransId="{A602A922-C4C8-4CC5-8456-8BEF1BABA28C}" sibTransId="{E06A138C-F597-41D5-9B86-B58445381E7E}"/>
    <dgm:cxn modelId="{339209EE-0625-4EAC-BD86-1F8F2D84F4B3}" srcId="{B157BF5C-9837-48FA-A716-C6BABE59EC90}" destId="{324DF199-F747-47E0-8D39-C4244275B1EC}" srcOrd="1" destOrd="0" parTransId="{C23A1F49-CB61-4365-BBF6-E91B7E919D6E}" sibTransId="{B2D6D6E7-B005-4135-87E5-D957CE553111}"/>
    <dgm:cxn modelId="{5A37C0FD-2833-4B69-972F-645488E5E506}" type="presOf" srcId="{2CAAAF1D-3B7E-454E-9EE7-A51EEF7CF964}" destId="{9ECA8261-A2CE-4143-9CFB-E229CB3228BE}" srcOrd="0" destOrd="0" presId="urn:microsoft.com/office/officeart/2018/2/layout/IconVerticalSolidList"/>
    <dgm:cxn modelId="{FEEB7323-1427-4A37-B428-F21933014459}" type="presParOf" srcId="{C1FB1B66-8207-42F0-B886-79866412E80C}" destId="{EC941DCE-2C8E-414D-815A-97D3D2F7C1B7}" srcOrd="0" destOrd="0" presId="urn:microsoft.com/office/officeart/2018/2/layout/IconVerticalSolidList"/>
    <dgm:cxn modelId="{1BDE7A66-15D9-45C9-BB03-528D2E9E83CF}" type="presParOf" srcId="{EC941DCE-2C8E-414D-815A-97D3D2F7C1B7}" destId="{3266EC70-2269-4CBB-83CE-56B628AA4F3C}" srcOrd="0" destOrd="0" presId="urn:microsoft.com/office/officeart/2018/2/layout/IconVerticalSolidList"/>
    <dgm:cxn modelId="{769D0B1C-3A22-4B1B-B925-7B31448CAE95}" type="presParOf" srcId="{EC941DCE-2C8E-414D-815A-97D3D2F7C1B7}" destId="{DEBFA940-AFB4-4C84-BDF8-B5D51ACD0BFF}" srcOrd="1" destOrd="0" presId="urn:microsoft.com/office/officeart/2018/2/layout/IconVerticalSolidList"/>
    <dgm:cxn modelId="{8A79D6AC-31B7-407F-88E7-368603EFB58A}" type="presParOf" srcId="{EC941DCE-2C8E-414D-815A-97D3D2F7C1B7}" destId="{64A395ED-7F12-4867-BF09-299FBC35952A}" srcOrd="2" destOrd="0" presId="urn:microsoft.com/office/officeart/2018/2/layout/IconVerticalSolidList"/>
    <dgm:cxn modelId="{F3B114D0-B587-4C18-AF7F-E1765A8ED8DF}" type="presParOf" srcId="{EC941DCE-2C8E-414D-815A-97D3D2F7C1B7}" destId="{2666EB79-375B-4C6E-9511-83E03531853B}" srcOrd="3" destOrd="0" presId="urn:microsoft.com/office/officeart/2018/2/layout/IconVerticalSolidList"/>
    <dgm:cxn modelId="{08D23916-00E4-471A-9DEC-4D7125EF0EEA}" type="presParOf" srcId="{C1FB1B66-8207-42F0-B886-79866412E80C}" destId="{D921A553-A7EE-4D14-88AD-058E78FD93C1}" srcOrd="1" destOrd="0" presId="urn:microsoft.com/office/officeart/2018/2/layout/IconVerticalSolidList"/>
    <dgm:cxn modelId="{ADBB7A8A-E7A3-4825-B3DC-F9553AE39397}" type="presParOf" srcId="{C1FB1B66-8207-42F0-B886-79866412E80C}" destId="{A43FD66F-794B-457C-9D80-EFEEECFFF453}" srcOrd="2" destOrd="0" presId="urn:microsoft.com/office/officeart/2018/2/layout/IconVerticalSolidList"/>
    <dgm:cxn modelId="{276A85A0-A807-41FF-8219-518BBD31CEC7}" type="presParOf" srcId="{A43FD66F-794B-457C-9D80-EFEEECFFF453}" destId="{B370A80A-BEBE-4C67-B767-AD3836195E9A}" srcOrd="0" destOrd="0" presId="urn:microsoft.com/office/officeart/2018/2/layout/IconVerticalSolidList"/>
    <dgm:cxn modelId="{3971610E-5C9E-4CBF-9704-F574950A7C91}" type="presParOf" srcId="{A43FD66F-794B-457C-9D80-EFEEECFFF453}" destId="{A43D8858-5347-4A7D-9448-EC6BB72C8AB1}" srcOrd="1" destOrd="0" presId="urn:microsoft.com/office/officeart/2018/2/layout/IconVerticalSolidList"/>
    <dgm:cxn modelId="{C05BFF93-F571-4CA6-96A7-138BB45CA73B}" type="presParOf" srcId="{A43FD66F-794B-457C-9D80-EFEEECFFF453}" destId="{C35003EC-FD95-4BD9-991F-8A7411677806}" srcOrd="2" destOrd="0" presId="urn:microsoft.com/office/officeart/2018/2/layout/IconVerticalSolidList"/>
    <dgm:cxn modelId="{4F362637-4E2E-4C2B-BFAA-B756CCD9362C}" type="presParOf" srcId="{A43FD66F-794B-457C-9D80-EFEEECFFF453}" destId="{2D0398DC-B969-40C6-88EC-17D0D5F7FE19}" srcOrd="3" destOrd="0" presId="urn:microsoft.com/office/officeart/2018/2/layout/IconVerticalSolidList"/>
    <dgm:cxn modelId="{3D39DAB2-F0DA-43B2-BDA3-D51749BF7CD9}" type="presParOf" srcId="{C1FB1B66-8207-42F0-B886-79866412E80C}" destId="{58229560-9472-4751-AC4C-193A0F0569CE}" srcOrd="3" destOrd="0" presId="urn:microsoft.com/office/officeart/2018/2/layout/IconVerticalSolidList"/>
    <dgm:cxn modelId="{80BB7CFB-A622-45B6-8224-BA8F2FA98F1E}" type="presParOf" srcId="{C1FB1B66-8207-42F0-B886-79866412E80C}" destId="{8848FBDF-C76D-4396-9E16-6FDD918E4B9D}" srcOrd="4" destOrd="0" presId="urn:microsoft.com/office/officeart/2018/2/layout/IconVerticalSolidList"/>
    <dgm:cxn modelId="{F1E75801-482D-45C1-87A1-0DF833609FAE}" type="presParOf" srcId="{8848FBDF-C76D-4396-9E16-6FDD918E4B9D}" destId="{E74DB5E5-27F8-412B-94E8-5F45078999B3}" srcOrd="0" destOrd="0" presId="urn:microsoft.com/office/officeart/2018/2/layout/IconVerticalSolidList"/>
    <dgm:cxn modelId="{FABF4B81-9069-4CC8-9D04-78761412E928}" type="presParOf" srcId="{8848FBDF-C76D-4396-9E16-6FDD918E4B9D}" destId="{AE484EF5-C87E-49E9-B56E-191D6EF40DC6}" srcOrd="1" destOrd="0" presId="urn:microsoft.com/office/officeart/2018/2/layout/IconVerticalSolidList"/>
    <dgm:cxn modelId="{25CA360D-1EAF-4D42-8884-396D16E98D2E}" type="presParOf" srcId="{8848FBDF-C76D-4396-9E16-6FDD918E4B9D}" destId="{5FABC240-7209-4980-8386-794D14C04221}" srcOrd="2" destOrd="0" presId="urn:microsoft.com/office/officeart/2018/2/layout/IconVerticalSolidList"/>
    <dgm:cxn modelId="{E35C2287-F197-4B59-BB6C-6E596A779FFA}" type="presParOf" srcId="{8848FBDF-C76D-4396-9E16-6FDD918E4B9D}" destId="{9ECA8261-A2CE-4143-9CFB-E229CB3228B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2B61934-AB7F-4361-9FE3-BAA085DD0A06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EE76CD4-75B2-403E-84FA-B32486C8A2F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800" b="1" dirty="0"/>
            <a:t>Funcionamento dos </a:t>
          </a:r>
          <a:r>
            <a:rPr lang="pt-BR" sz="1800" b="1" dirty="0" err="1"/>
            <a:t>AGMOs</a:t>
          </a:r>
          <a:r>
            <a:rPr lang="pt-BR" sz="1800" b="1" dirty="0"/>
            <a:t>: </a:t>
          </a:r>
          <a:r>
            <a:rPr lang="pt-BR" sz="1800" dirty="0"/>
            <a:t>Seleção,  Cruzamento Mutação,  Convergência gradual</a:t>
          </a:r>
          <a:r>
            <a:rPr lang="pt-BR" sz="1800" b="1" dirty="0"/>
            <a:t> </a:t>
          </a:r>
          <a:endParaRPr lang="en-US" sz="1800" dirty="0"/>
        </a:p>
      </dgm:t>
    </dgm:pt>
    <dgm:pt modelId="{B593F67F-47A1-4DD3-A1E0-03E4EC3AAE34}" type="parTrans" cxnId="{7DAFCDC5-03F7-4CED-8CAF-BC7E245F4BD2}">
      <dgm:prSet/>
      <dgm:spPr/>
      <dgm:t>
        <a:bodyPr/>
        <a:lstStyle/>
        <a:p>
          <a:endParaRPr lang="en-US"/>
        </a:p>
      </dgm:t>
    </dgm:pt>
    <dgm:pt modelId="{1437BB90-2CB2-4CD2-A57F-EC6D1F360679}" type="sibTrans" cxnId="{7DAFCDC5-03F7-4CED-8CAF-BC7E245F4BD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B3CD5F9-E10B-4F4F-95A3-EE344D3A664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800" dirty="0"/>
            <a:t>NSGA-II</a:t>
          </a:r>
          <a:r>
            <a:rPr lang="pt-BR" sz="1800" b="1" dirty="0"/>
            <a:t>:</a:t>
          </a:r>
          <a:r>
            <a:rPr lang="pt-BR" sz="1800" dirty="0"/>
            <a:t> AGMO mais usado no mundo de engenharia</a:t>
          </a:r>
        </a:p>
        <a:p>
          <a:pPr>
            <a:lnSpc>
              <a:spcPct val="100000"/>
            </a:lnSpc>
          </a:pPr>
          <a:r>
            <a:rPr lang="pt-BR" sz="1800" dirty="0"/>
            <a:t>Ordenação não-dominada </a:t>
          </a:r>
        </a:p>
        <a:p>
          <a:pPr>
            <a:lnSpc>
              <a:spcPct val="100000"/>
            </a:lnSpc>
          </a:pPr>
          <a:r>
            <a:rPr lang="pt-BR" sz="1800" dirty="0" err="1"/>
            <a:t>Crowding</a:t>
          </a:r>
          <a:r>
            <a:rPr lang="pt-BR" sz="1800" dirty="0"/>
            <a:t> </a:t>
          </a:r>
          <a:r>
            <a:rPr lang="pt-BR" sz="1800" dirty="0" err="1"/>
            <a:t>distance</a:t>
          </a:r>
          <a:endParaRPr lang="en-US" sz="1800" dirty="0"/>
        </a:p>
      </dgm:t>
    </dgm:pt>
    <dgm:pt modelId="{23C93CBC-F2B6-48FC-9B08-F0A283DC6DC1}" type="parTrans" cxnId="{5CADE0DA-D8AF-42A3-AFBC-99A88BC1FCCA}">
      <dgm:prSet/>
      <dgm:spPr/>
      <dgm:t>
        <a:bodyPr/>
        <a:lstStyle/>
        <a:p>
          <a:endParaRPr lang="en-US"/>
        </a:p>
      </dgm:t>
    </dgm:pt>
    <dgm:pt modelId="{D38CC44C-0E66-4705-8F64-5D43A6A68CA3}" type="sibTrans" cxnId="{5CADE0DA-D8AF-42A3-AFBC-99A88BC1FCC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8E143A1-35E2-4715-B121-CD0FFF5F121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t-BR" sz="1800" dirty="0"/>
            <a:t>Limitações do NSGA-II</a:t>
          </a:r>
          <a:r>
            <a:rPr lang="pt-BR" sz="1800" b="1" dirty="0"/>
            <a:t>:</a:t>
          </a:r>
          <a:r>
            <a:rPr lang="pt-BR" sz="1800" dirty="0"/>
            <a:t> Dificuldade em focar regiões específica,  Diversidade uniforme, Falta de direcionamento </a:t>
          </a:r>
          <a:endParaRPr lang="en-US" sz="1800" dirty="0"/>
        </a:p>
      </dgm:t>
    </dgm:pt>
    <dgm:pt modelId="{047C2043-FAA2-4BCF-962B-381356948EEE}" type="parTrans" cxnId="{F6507E16-3100-443F-8249-CE451FC8DE35}">
      <dgm:prSet/>
      <dgm:spPr/>
      <dgm:t>
        <a:bodyPr/>
        <a:lstStyle/>
        <a:p>
          <a:endParaRPr lang="en-US"/>
        </a:p>
      </dgm:t>
    </dgm:pt>
    <dgm:pt modelId="{9291D7ED-BD8B-4878-9849-69D8FB263017}" type="sibTrans" cxnId="{F6507E16-3100-443F-8249-CE451FC8DE35}">
      <dgm:prSet/>
      <dgm:spPr/>
      <dgm:t>
        <a:bodyPr/>
        <a:lstStyle/>
        <a:p>
          <a:endParaRPr lang="en-US"/>
        </a:p>
      </dgm:t>
    </dgm:pt>
    <dgm:pt modelId="{288F0803-E793-49E0-8A7C-691CB324DA62}" type="pres">
      <dgm:prSet presAssocID="{B2B61934-AB7F-4361-9FE3-BAA085DD0A06}" presName="root" presStyleCnt="0">
        <dgm:presLayoutVars>
          <dgm:dir/>
          <dgm:resizeHandles val="exact"/>
        </dgm:presLayoutVars>
      </dgm:prSet>
      <dgm:spPr/>
    </dgm:pt>
    <dgm:pt modelId="{0681E39D-2DD5-4C8C-B20F-3EE3205D8C35}" type="pres">
      <dgm:prSet presAssocID="{B2B61934-AB7F-4361-9FE3-BAA085DD0A06}" presName="container" presStyleCnt="0">
        <dgm:presLayoutVars>
          <dgm:dir/>
          <dgm:resizeHandles val="exact"/>
        </dgm:presLayoutVars>
      </dgm:prSet>
      <dgm:spPr/>
    </dgm:pt>
    <dgm:pt modelId="{24C193F2-BC32-478F-8FC9-9FF6042A491C}" type="pres">
      <dgm:prSet presAssocID="{6EE76CD4-75B2-403E-84FA-B32486C8A2FE}" presName="compNode" presStyleCnt="0"/>
      <dgm:spPr/>
    </dgm:pt>
    <dgm:pt modelId="{F2DD5425-6E6E-4FC1-847C-FF6F8412F9BC}" type="pres">
      <dgm:prSet presAssocID="{6EE76CD4-75B2-403E-84FA-B32486C8A2FE}" presName="iconBgRect" presStyleLbl="bgShp" presStyleIdx="0" presStyleCnt="3"/>
      <dgm:spPr/>
    </dgm:pt>
    <dgm:pt modelId="{2375928E-0A48-4EE6-8B39-2E5311AA0E88}" type="pres">
      <dgm:prSet presAssocID="{6EE76CD4-75B2-403E-84FA-B32486C8A2F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nger Print"/>
        </a:ext>
      </dgm:extLst>
    </dgm:pt>
    <dgm:pt modelId="{647CAC42-5EC0-4A8C-B979-B86EA56F9A07}" type="pres">
      <dgm:prSet presAssocID="{6EE76CD4-75B2-403E-84FA-B32486C8A2FE}" presName="spaceRect" presStyleCnt="0"/>
      <dgm:spPr/>
    </dgm:pt>
    <dgm:pt modelId="{4BA6D204-BA02-48F8-A0BC-9F890B5079C9}" type="pres">
      <dgm:prSet presAssocID="{6EE76CD4-75B2-403E-84FA-B32486C8A2FE}" presName="textRect" presStyleLbl="revTx" presStyleIdx="0" presStyleCnt="3">
        <dgm:presLayoutVars>
          <dgm:chMax val="1"/>
          <dgm:chPref val="1"/>
        </dgm:presLayoutVars>
      </dgm:prSet>
      <dgm:spPr/>
    </dgm:pt>
    <dgm:pt modelId="{A8EACF11-689B-4FFF-A2F9-D71A4D4EDF5D}" type="pres">
      <dgm:prSet presAssocID="{1437BB90-2CB2-4CD2-A57F-EC6D1F360679}" presName="sibTrans" presStyleLbl="sibTrans2D1" presStyleIdx="0" presStyleCnt="0"/>
      <dgm:spPr/>
    </dgm:pt>
    <dgm:pt modelId="{D33B5310-16E3-4E23-B030-18556989EF71}" type="pres">
      <dgm:prSet presAssocID="{0B3CD5F9-E10B-4F4F-95A3-EE344D3A664B}" presName="compNode" presStyleCnt="0"/>
      <dgm:spPr/>
    </dgm:pt>
    <dgm:pt modelId="{5371DD11-17A5-4203-B1CC-CD951C74D9C1}" type="pres">
      <dgm:prSet presAssocID="{0B3CD5F9-E10B-4F4F-95A3-EE344D3A664B}" presName="iconBgRect" presStyleLbl="bgShp" presStyleIdx="1" presStyleCnt="3"/>
      <dgm:spPr/>
    </dgm:pt>
    <dgm:pt modelId="{3C576759-1AE0-4E81-8ED4-69F61292F0B8}" type="pres">
      <dgm:prSet presAssocID="{0B3CD5F9-E10B-4F4F-95A3-EE344D3A664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uxograma"/>
        </a:ext>
      </dgm:extLst>
    </dgm:pt>
    <dgm:pt modelId="{27515CE6-6A5A-44E3-A200-53C8099F4EEA}" type="pres">
      <dgm:prSet presAssocID="{0B3CD5F9-E10B-4F4F-95A3-EE344D3A664B}" presName="spaceRect" presStyleCnt="0"/>
      <dgm:spPr/>
    </dgm:pt>
    <dgm:pt modelId="{6001C31A-62C7-4AEA-A226-76FC293E9BBA}" type="pres">
      <dgm:prSet presAssocID="{0B3CD5F9-E10B-4F4F-95A3-EE344D3A664B}" presName="textRect" presStyleLbl="revTx" presStyleIdx="1" presStyleCnt="3" custLinFactNeighborX="-1012" custLinFactNeighborY="-15496">
        <dgm:presLayoutVars>
          <dgm:chMax val="1"/>
          <dgm:chPref val="1"/>
        </dgm:presLayoutVars>
      </dgm:prSet>
      <dgm:spPr/>
    </dgm:pt>
    <dgm:pt modelId="{47C5D30D-16A9-47CE-A27C-ECB3DDDD80C8}" type="pres">
      <dgm:prSet presAssocID="{D38CC44C-0E66-4705-8F64-5D43A6A68CA3}" presName="sibTrans" presStyleLbl="sibTrans2D1" presStyleIdx="0" presStyleCnt="0"/>
      <dgm:spPr/>
    </dgm:pt>
    <dgm:pt modelId="{37559776-645A-418C-A6CB-5C6EC8BEE59F}" type="pres">
      <dgm:prSet presAssocID="{98E143A1-35E2-4715-B121-CD0FFF5F1212}" presName="compNode" presStyleCnt="0"/>
      <dgm:spPr/>
    </dgm:pt>
    <dgm:pt modelId="{C776F82D-0599-4B6B-B2B5-47100D1ADD2B}" type="pres">
      <dgm:prSet presAssocID="{98E143A1-35E2-4715-B121-CD0FFF5F1212}" presName="iconBgRect" presStyleLbl="bgShp" presStyleIdx="2" presStyleCnt="3"/>
      <dgm:spPr/>
    </dgm:pt>
    <dgm:pt modelId="{04810785-D4D7-4214-803D-0D07BCFEFAE2}" type="pres">
      <dgm:prSet presAssocID="{98E143A1-35E2-4715-B121-CD0FFF5F121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viso"/>
        </a:ext>
      </dgm:extLst>
    </dgm:pt>
    <dgm:pt modelId="{F1DFF1DE-11EF-4ADF-AEF7-1E029F543F8B}" type="pres">
      <dgm:prSet presAssocID="{98E143A1-35E2-4715-B121-CD0FFF5F1212}" presName="spaceRect" presStyleCnt="0"/>
      <dgm:spPr/>
    </dgm:pt>
    <dgm:pt modelId="{A551753E-80F2-4474-8E8E-0AACD7D7AF8D}" type="pres">
      <dgm:prSet presAssocID="{98E143A1-35E2-4715-B121-CD0FFF5F121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6507E16-3100-443F-8249-CE451FC8DE35}" srcId="{B2B61934-AB7F-4361-9FE3-BAA085DD0A06}" destId="{98E143A1-35E2-4715-B121-CD0FFF5F1212}" srcOrd="2" destOrd="0" parTransId="{047C2043-FAA2-4BCF-962B-381356948EEE}" sibTransId="{9291D7ED-BD8B-4878-9849-69D8FB263017}"/>
    <dgm:cxn modelId="{D691101B-B13A-4F61-9DAE-7FFB6136F4CF}" type="presOf" srcId="{B2B61934-AB7F-4361-9FE3-BAA085DD0A06}" destId="{288F0803-E793-49E0-8A7C-691CB324DA62}" srcOrd="0" destOrd="0" presId="urn:microsoft.com/office/officeart/2018/2/layout/IconCircleList"/>
    <dgm:cxn modelId="{C4002469-CC0F-4A1B-B555-E903CD57016D}" type="presOf" srcId="{D38CC44C-0E66-4705-8F64-5D43A6A68CA3}" destId="{47C5D30D-16A9-47CE-A27C-ECB3DDDD80C8}" srcOrd="0" destOrd="0" presId="urn:microsoft.com/office/officeart/2018/2/layout/IconCircleList"/>
    <dgm:cxn modelId="{0E2F4E9D-A488-48FD-8388-39B134E8C5F5}" type="presOf" srcId="{1437BB90-2CB2-4CD2-A57F-EC6D1F360679}" destId="{A8EACF11-689B-4FFF-A2F9-D71A4D4EDF5D}" srcOrd="0" destOrd="0" presId="urn:microsoft.com/office/officeart/2018/2/layout/IconCircleList"/>
    <dgm:cxn modelId="{7DAFCDC5-03F7-4CED-8CAF-BC7E245F4BD2}" srcId="{B2B61934-AB7F-4361-9FE3-BAA085DD0A06}" destId="{6EE76CD4-75B2-403E-84FA-B32486C8A2FE}" srcOrd="0" destOrd="0" parTransId="{B593F67F-47A1-4DD3-A1E0-03E4EC3AAE34}" sibTransId="{1437BB90-2CB2-4CD2-A57F-EC6D1F360679}"/>
    <dgm:cxn modelId="{5CADE0DA-D8AF-42A3-AFBC-99A88BC1FCCA}" srcId="{B2B61934-AB7F-4361-9FE3-BAA085DD0A06}" destId="{0B3CD5F9-E10B-4F4F-95A3-EE344D3A664B}" srcOrd="1" destOrd="0" parTransId="{23C93CBC-F2B6-48FC-9B08-F0A283DC6DC1}" sibTransId="{D38CC44C-0E66-4705-8F64-5D43A6A68CA3}"/>
    <dgm:cxn modelId="{F2791BE1-65CC-4BD7-BB87-2F68386108A9}" type="presOf" srcId="{98E143A1-35E2-4715-B121-CD0FFF5F1212}" destId="{A551753E-80F2-4474-8E8E-0AACD7D7AF8D}" srcOrd="0" destOrd="0" presId="urn:microsoft.com/office/officeart/2018/2/layout/IconCircleList"/>
    <dgm:cxn modelId="{381027E1-026C-46A8-9093-3C896280FF04}" type="presOf" srcId="{6EE76CD4-75B2-403E-84FA-B32486C8A2FE}" destId="{4BA6D204-BA02-48F8-A0BC-9F890B5079C9}" srcOrd="0" destOrd="0" presId="urn:microsoft.com/office/officeart/2018/2/layout/IconCircleList"/>
    <dgm:cxn modelId="{27C027FF-943E-4F1C-8A43-C208431FFE00}" type="presOf" srcId="{0B3CD5F9-E10B-4F4F-95A3-EE344D3A664B}" destId="{6001C31A-62C7-4AEA-A226-76FC293E9BBA}" srcOrd="0" destOrd="0" presId="urn:microsoft.com/office/officeart/2018/2/layout/IconCircleList"/>
    <dgm:cxn modelId="{52D29F27-606D-4C34-A542-00C4F27A31F7}" type="presParOf" srcId="{288F0803-E793-49E0-8A7C-691CB324DA62}" destId="{0681E39D-2DD5-4C8C-B20F-3EE3205D8C35}" srcOrd="0" destOrd="0" presId="urn:microsoft.com/office/officeart/2018/2/layout/IconCircleList"/>
    <dgm:cxn modelId="{2E81C526-DB79-426C-A75A-67E1AE3AA95C}" type="presParOf" srcId="{0681E39D-2DD5-4C8C-B20F-3EE3205D8C35}" destId="{24C193F2-BC32-478F-8FC9-9FF6042A491C}" srcOrd="0" destOrd="0" presId="urn:microsoft.com/office/officeart/2018/2/layout/IconCircleList"/>
    <dgm:cxn modelId="{EE44ED94-0156-467E-A6BE-5586DC1F8289}" type="presParOf" srcId="{24C193F2-BC32-478F-8FC9-9FF6042A491C}" destId="{F2DD5425-6E6E-4FC1-847C-FF6F8412F9BC}" srcOrd="0" destOrd="0" presId="urn:microsoft.com/office/officeart/2018/2/layout/IconCircleList"/>
    <dgm:cxn modelId="{66BEE967-76C1-4CA9-809B-939E6F73F25A}" type="presParOf" srcId="{24C193F2-BC32-478F-8FC9-9FF6042A491C}" destId="{2375928E-0A48-4EE6-8B39-2E5311AA0E88}" srcOrd="1" destOrd="0" presId="urn:microsoft.com/office/officeart/2018/2/layout/IconCircleList"/>
    <dgm:cxn modelId="{2CE59026-01D5-4795-8968-10E07C3AD89D}" type="presParOf" srcId="{24C193F2-BC32-478F-8FC9-9FF6042A491C}" destId="{647CAC42-5EC0-4A8C-B979-B86EA56F9A07}" srcOrd="2" destOrd="0" presId="urn:microsoft.com/office/officeart/2018/2/layout/IconCircleList"/>
    <dgm:cxn modelId="{387CD595-4BBA-4A88-B17A-9954FE47726B}" type="presParOf" srcId="{24C193F2-BC32-478F-8FC9-9FF6042A491C}" destId="{4BA6D204-BA02-48F8-A0BC-9F890B5079C9}" srcOrd="3" destOrd="0" presId="urn:microsoft.com/office/officeart/2018/2/layout/IconCircleList"/>
    <dgm:cxn modelId="{62D80F2A-D47C-429A-AD2A-EA67E2631A0A}" type="presParOf" srcId="{0681E39D-2DD5-4C8C-B20F-3EE3205D8C35}" destId="{A8EACF11-689B-4FFF-A2F9-D71A4D4EDF5D}" srcOrd="1" destOrd="0" presId="urn:microsoft.com/office/officeart/2018/2/layout/IconCircleList"/>
    <dgm:cxn modelId="{46F98DF8-C333-4D26-BD50-C7D1920D388E}" type="presParOf" srcId="{0681E39D-2DD5-4C8C-B20F-3EE3205D8C35}" destId="{D33B5310-16E3-4E23-B030-18556989EF71}" srcOrd="2" destOrd="0" presId="urn:microsoft.com/office/officeart/2018/2/layout/IconCircleList"/>
    <dgm:cxn modelId="{AED86CB4-1D07-41D8-9AB7-79273E0B971F}" type="presParOf" srcId="{D33B5310-16E3-4E23-B030-18556989EF71}" destId="{5371DD11-17A5-4203-B1CC-CD951C74D9C1}" srcOrd="0" destOrd="0" presId="urn:microsoft.com/office/officeart/2018/2/layout/IconCircleList"/>
    <dgm:cxn modelId="{22FD7D31-6A68-4AE8-B8E5-FF94B7671A2F}" type="presParOf" srcId="{D33B5310-16E3-4E23-B030-18556989EF71}" destId="{3C576759-1AE0-4E81-8ED4-69F61292F0B8}" srcOrd="1" destOrd="0" presId="urn:microsoft.com/office/officeart/2018/2/layout/IconCircleList"/>
    <dgm:cxn modelId="{34F66E2C-6183-49CF-B6F2-1D5DD6A3D2AB}" type="presParOf" srcId="{D33B5310-16E3-4E23-B030-18556989EF71}" destId="{27515CE6-6A5A-44E3-A200-53C8099F4EEA}" srcOrd="2" destOrd="0" presId="urn:microsoft.com/office/officeart/2018/2/layout/IconCircleList"/>
    <dgm:cxn modelId="{941CF8E0-071C-4CDA-B910-8B5D4D983F56}" type="presParOf" srcId="{D33B5310-16E3-4E23-B030-18556989EF71}" destId="{6001C31A-62C7-4AEA-A226-76FC293E9BBA}" srcOrd="3" destOrd="0" presId="urn:microsoft.com/office/officeart/2018/2/layout/IconCircleList"/>
    <dgm:cxn modelId="{A22C98CD-7698-4D4C-8FAC-7F792E8850A1}" type="presParOf" srcId="{0681E39D-2DD5-4C8C-B20F-3EE3205D8C35}" destId="{47C5D30D-16A9-47CE-A27C-ECB3DDDD80C8}" srcOrd="3" destOrd="0" presId="urn:microsoft.com/office/officeart/2018/2/layout/IconCircleList"/>
    <dgm:cxn modelId="{4DAACBCB-737E-49CE-984A-D32961E5ACE9}" type="presParOf" srcId="{0681E39D-2DD5-4C8C-B20F-3EE3205D8C35}" destId="{37559776-645A-418C-A6CB-5C6EC8BEE59F}" srcOrd="4" destOrd="0" presId="urn:microsoft.com/office/officeart/2018/2/layout/IconCircleList"/>
    <dgm:cxn modelId="{173F8B7B-45C8-4212-BF85-93612E60A101}" type="presParOf" srcId="{37559776-645A-418C-A6CB-5C6EC8BEE59F}" destId="{C776F82D-0599-4B6B-B2B5-47100D1ADD2B}" srcOrd="0" destOrd="0" presId="urn:microsoft.com/office/officeart/2018/2/layout/IconCircleList"/>
    <dgm:cxn modelId="{5130C91B-BE30-48BF-B2B4-95BBBE481F01}" type="presParOf" srcId="{37559776-645A-418C-A6CB-5C6EC8BEE59F}" destId="{04810785-D4D7-4214-803D-0D07BCFEFAE2}" srcOrd="1" destOrd="0" presId="urn:microsoft.com/office/officeart/2018/2/layout/IconCircleList"/>
    <dgm:cxn modelId="{97EFB36E-7245-4BD2-ACF9-CF440772AE0C}" type="presParOf" srcId="{37559776-645A-418C-A6CB-5C6EC8BEE59F}" destId="{F1DFF1DE-11EF-4ADF-AEF7-1E029F543F8B}" srcOrd="2" destOrd="0" presId="urn:microsoft.com/office/officeart/2018/2/layout/IconCircleList"/>
    <dgm:cxn modelId="{76241EBC-B016-4505-B27F-DF0530D9379F}" type="presParOf" srcId="{37559776-645A-418C-A6CB-5C6EC8BEE59F}" destId="{A551753E-80F2-4474-8E8E-0AACD7D7AF8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66EC70-2269-4CBB-83CE-56B628AA4F3C}">
      <dsp:nvSpPr>
        <dsp:cNvPr id="0" name=""/>
        <dsp:cNvSpPr/>
      </dsp:nvSpPr>
      <dsp:spPr>
        <a:xfrm>
          <a:off x="0" y="531"/>
          <a:ext cx="11132129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BFA940-AFB4-4C84-BDF8-B5D51ACD0BFF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66EB79-375B-4C6E-9511-83E03531853B}">
      <dsp:nvSpPr>
        <dsp:cNvPr id="0" name=""/>
        <dsp:cNvSpPr/>
      </dsp:nvSpPr>
      <dsp:spPr>
        <a:xfrm>
          <a:off x="1435590" y="531"/>
          <a:ext cx="9696538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b="1" kern="1200"/>
            <a:t>Conceito de Carteira de Investimentos: </a:t>
          </a:r>
          <a:r>
            <a:rPr lang="pt-BR" sz="2500" kern="1200"/>
            <a:t>coerência entre risco, retorno, perfil e horizonte temporal</a:t>
          </a:r>
          <a:endParaRPr lang="en-US" sz="2500" kern="1200"/>
        </a:p>
      </dsp:txBody>
      <dsp:txXfrm>
        <a:off x="1435590" y="531"/>
        <a:ext cx="9696538" cy="1242935"/>
      </dsp:txXfrm>
    </dsp:sp>
    <dsp:sp modelId="{B370A80A-BEBE-4C67-B767-AD3836195E9A}">
      <dsp:nvSpPr>
        <dsp:cNvPr id="0" name=""/>
        <dsp:cNvSpPr/>
      </dsp:nvSpPr>
      <dsp:spPr>
        <a:xfrm>
          <a:off x="0" y="1554201"/>
          <a:ext cx="11132129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3D8858-5347-4A7D-9448-EC6BB72C8AB1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0398DC-B969-40C6-88EC-17D0D5F7FE19}">
      <dsp:nvSpPr>
        <dsp:cNvPr id="0" name=""/>
        <dsp:cNvSpPr/>
      </dsp:nvSpPr>
      <dsp:spPr>
        <a:xfrm>
          <a:off x="1435590" y="1554201"/>
          <a:ext cx="9696538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b="1" kern="1200"/>
            <a:t>Importância da Diversificação</a:t>
          </a:r>
          <a:r>
            <a:rPr lang="pt-BR" sz="2500" kern="1200"/>
            <a:t>: Redução de risco, correlação entre ativos, ganhos de longo prazo</a:t>
          </a:r>
          <a:endParaRPr lang="en-US" sz="2500" kern="1200"/>
        </a:p>
      </dsp:txBody>
      <dsp:txXfrm>
        <a:off x="1435590" y="1554201"/>
        <a:ext cx="9696538" cy="1242935"/>
      </dsp:txXfrm>
    </dsp:sp>
    <dsp:sp modelId="{E74DB5E5-27F8-412B-94E8-5F45078999B3}">
      <dsp:nvSpPr>
        <dsp:cNvPr id="0" name=""/>
        <dsp:cNvSpPr/>
      </dsp:nvSpPr>
      <dsp:spPr>
        <a:xfrm>
          <a:off x="0" y="3107870"/>
          <a:ext cx="11132129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484EF5-C87E-49E9-B56E-191D6EF40DC6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CA8261-A2CE-4143-9CFB-E229CB3228BE}">
      <dsp:nvSpPr>
        <dsp:cNvPr id="0" name=""/>
        <dsp:cNvSpPr/>
      </dsp:nvSpPr>
      <dsp:spPr>
        <a:xfrm>
          <a:off x="1435590" y="3107870"/>
          <a:ext cx="9696538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b="1" kern="1200"/>
            <a:t>Teoria Moderna do Portfólio (TMP)</a:t>
          </a:r>
          <a:r>
            <a:rPr lang="pt-BR" sz="2500" kern="1200"/>
            <a:t>: Markowitz (1952), Relação risco-retorno, Fronteira eficiente</a:t>
          </a:r>
          <a:endParaRPr lang="en-US" sz="2500" kern="1200"/>
        </a:p>
      </dsp:txBody>
      <dsp:txXfrm>
        <a:off x="1435590" y="3107870"/>
        <a:ext cx="9696538" cy="12429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DD5425-6E6E-4FC1-847C-FF6F8412F9BC}">
      <dsp:nvSpPr>
        <dsp:cNvPr id="0" name=""/>
        <dsp:cNvSpPr/>
      </dsp:nvSpPr>
      <dsp:spPr>
        <a:xfrm>
          <a:off x="218403" y="1004168"/>
          <a:ext cx="913187" cy="91318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75928E-0A48-4EE6-8B39-2E5311AA0E88}">
      <dsp:nvSpPr>
        <dsp:cNvPr id="0" name=""/>
        <dsp:cNvSpPr/>
      </dsp:nvSpPr>
      <dsp:spPr>
        <a:xfrm>
          <a:off x="410172" y="1195938"/>
          <a:ext cx="529648" cy="5296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A6D204-BA02-48F8-A0BC-9F890B5079C9}">
      <dsp:nvSpPr>
        <dsp:cNvPr id="0" name=""/>
        <dsp:cNvSpPr/>
      </dsp:nvSpPr>
      <dsp:spPr>
        <a:xfrm>
          <a:off x="1327274" y="1004168"/>
          <a:ext cx="2152514" cy="913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 dirty="0"/>
            <a:t>Funcionamento dos </a:t>
          </a:r>
          <a:r>
            <a:rPr lang="pt-BR" sz="1800" b="1" kern="1200" dirty="0" err="1"/>
            <a:t>AGMOs</a:t>
          </a:r>
          <a:r>
            <a:rPr lang="pt-BR" sz="1800" b="1" kern="1200" dirty="0"/>
            <a:t>: </a:t>
          </a:r>
          <a:r>
            <a:rPr lang="pt-BR" sz="1800" kern="1200" dirty="0"/>
            <a:t>Seleção,  Cruzamento Mutação,  Convergência gradual</a:t>
          </a:r>
          <a:r>
            <a:rPr lang="pt-BR" sz="1800" b="1" kern="1200" dirty="0"/>
            <a:t> </a:t>
          </a:r>
          <a:endParaRPr lang="en-US" sz="1800" kern="1200" dirty="0"/>
        </a:p>
      </dsp:txBody>
      <dsp:txXfrm>
        <a:off x="1327274" y="1004168"/>
        <a:ext cx="2152514" cy="913187"/>
      </dsp:txXfrm>
    </dsp:sp>
    <dsp:sp modelId="{5371DD11-17A5-4203-B1CC-CD951C74D9C1}">
      <dsp:nvSpPr>
        <dsp:cNvPr id="0" name=""/>
        <dsp:cNvSpPr/>
      </dsp:nvSpPr>
      <dsp:spPr>
        <a:xfrm>
          <a:off x="3854847" y="1004168"/>
          <a:ext cx="913187" cy="91318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576759-1AE0-4E81-8ED4-69F61292F0B8}">
      <dsp:nvSpPr>
        <dsp:cNvPr id="0" name=""/>
        <dsp:cNvSpPr/>
      </dsp:nvSpPr>
      <dsp:spPr>
        <a:xfrm>
          <a:off x="4046617" y="1195938"/>
          <a:ext cx="529648" cy="5296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01C31A-62C7-4AEA-A226-76FC293E9BBA}">
      <dsp:nvSpPr>
        <dsp:cNvPr id="0" name=""/>
        <dsp:cNvSpPr/>
      </dsp:nvSpPr>
      <dsp:spPr>
        <a:xfrm>
          <a:off x="4941935" y="862660"/>
          <a:ext cx="2152514" cy="913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NSGA-II</a:t>
          </a:r>
          <a:r>
            <a:rPr lang="pt-BR" sz="1800" b="1" kern="1200" dirty="0"/>
            <a:t>:</a:t>
          </a:r>
          <a:r>
            <a:rPr lang="pt-BR" sz="1800" kern="1200" dirty="0"/>
            <a:t> AGMO mais usado no mundo de engenharia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Ordenação não-dominada 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 err="1"/>
            <a:t>Crowding</a:t>
          </a:r>
          <a:r>
            <a:rPr lang="pt-BR" sz="1800" kern="1200" dirty="0"/>
            <a:t> </a:t>
          </a:r>
          <a:r>
            <a:rPr lang="pt-BR" sz="1800" kern="1200" dirty="0" err="1"/>
            <a:t>distance</a:t>
          </a:r>
          <a:endParaRPr lang="en-US" sz="1800" kern="1200" dirty="0"/>
        </a:p>
      </dsp:txBody>
      <dsp:txXfrm>
        <a:off x="4941935" y="862660"/>
        <a:ext cx="2152514" cy="913187"/>
      </dsp:txXfrm>
    </dsp:sp>
    <dsp:sp modelId="{C776F82D-0599-4B6B-B2B5-47100D1ADD2B}">
      <dsp:nvSpPr>
        <dsp:cNvPr id="0" name=""/>
        <dsp:cNvSpPr/>
      </dsp:nvSpPr>
      <dsp:spPr>
        <a:xfrm>
          <a:off x="7491292" y="1004168"/>
          <a:ext cx="913187" cy="91318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810785-D4D7-4214-803D-0D07BCFEFAE2}">
      <dsp:nvSpPr>
        <dsp:cNvPr id="0" name=""/>
        <dsp:cNvSpPr/>
      </dsp:nvSpPr>
      <dsp:spPr>
        <a:xfrm>
          <a:off x="7683061" y="1195938"/>
          <a:ext cx="529648" cy="5296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51753E-80F2-4474-8E8E-0AACD7D7AF8D}">
      <dsp:nvSpPr>
        <dsp:cNvPr id="0" name=""/>
        <dsp:cNvSpPr/>
      </dsp:nvSpPr>
      <dsp:spPr>
        <a:xfrm>
          <a:off x="8600163" y="1004168"/>
          <a:ext cx="2152514" cy="913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Limitações do NSGA-II</a:t>
          </a:r>
          <a:r>
            <a:rPr lang="pt-BR" sz="1800" b="1" kern="1200" dirty="0"/>
            <a:t>:</a:t>
          </a:r>
          <a:r>
            <a:rPr lang="pt-BR" sz="1800" kern="1200" dirty="0"/>
            <a:t> Dificuldade em focar regiões específica,  Diversidade uniforme, Falta de direcionamento </a:t>
          </a:r>
          <a:endParaRPr lang="en-US" sz="1800" kern="1200" dirty="0"/>
        </a:p>
      </dsp:txBody>
      <dsp:txXfrm>
        <a:off x="8600163" y="1004168"/>
        <a:ext cx="2152514" cy="9131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F8E096-050E-459A-A386-57BAB0E2D7EF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1D1C2-EA49-4FCF-A8CC-8190D7C40F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0061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1D1C2-EA49-4FCF-A8CC-8190D7C40F96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270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48049-942C-3903-EF8B-BE69355B3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2E300D4-DA69-6EA6-4E2B-816A5389F7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1BC419F-C3FC-2F06-132A-DF03DEB1E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7E0838-4693-0195-F44E-4B79D0610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1D1C2-EA49-4FCF-A8CC-8190D7C40F96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96416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6300B-8EFC-342D-E31F-919C9B9FD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741883B-7479-88EF-3F88-944CED065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461A103-A959-8B68-7A9B-37EB44E906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B363417-0964-335B-A186-947E275DE1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1D1C2-EA49-4FCF-A8CC-8190D7C40F96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19222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E3A1A-1E49-F134-9B33-95675F4A7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661E24D-7136-9525-2423-CF7D5BDCD6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FFF32E3-3D71-A3FC-82A9-6842BFE75E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CB226E4-CB6F-A2D4-B38C-7679ECB667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1D1C2-EA49-4FCF-A8CC-8190D7C40F96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2898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438F6-FA7B-9C96-5773-5C28D908B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0478CB7-355B-4D6C-F1B4-F2215254A2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BAE3E17-CD60-F38B-7FD3-10815DD8F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EFADEF4-69C9-65FB-41D0-73C26ADCE3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1D1C2-EA49-4FCF-A8CC-8190D7C40F96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3284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4ED5A-1550-01FC-ED47-5A215A538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1E66E86-016F-5886-2C34-C1DE0CACA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1D68895-E30A-0C56-BBCA-80D66B0CB5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7AA15C2-55AF-DD9F-E1A7-B7F3DE9BFA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1D1C2-EA49-4FCF-A8CC-8190D7C40F96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39396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1D1C2-EA49-4FCF-A8CC-8190D7C40F96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33542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1D1C2-EA49-4FCF-A8CC-8190D7C40F96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5935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6327EB-F1E4-42C5-8C7A-A06F8F6852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9E71F08-7AA9-43B0-AADB-58655C006D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B414A1-AC92-4E2E-BFB0-F392BD995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17A70-5173-4473-8551-31626E7BAB07}" type="datetime1">
              <a:rPr lang="pt-BR" smtClean="0"/>
              <a:t>10/12/2025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8A8AAD-4347-44B1-A199-36D1B5955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6320AE-9768-41EC-9B36-A260E2D66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BBA3-2AF6-4638-8DDB-B8126A63A0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3729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9ADFBF-13DA-4867-A13F-69C66D425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DDC80E-364E-4AA1-B1A5-7056CD04C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4B83A4-18F3-49B2-A886-96C510800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14812-1B0D-4558-9881-C105DE35176D}" type="datetime1">
              <a:rPr lang="pt-BR" smtClean="0"/>
              <a:t>10/12/2025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8B8084-BB02-40C4-9D9C-A73E46630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D91036-63E2-4641-BD4F-A61D1BE64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BBA3-2AF6-4638-8DDB-B8126A63A0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7551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E29681-4116-4AC3-B6F4-E58E29E45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877B7CF-A885-489D-86EA-3E28BB740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343794-3E1C-44EC-A13F-EDC2E552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54A39-E471-438B-A272-31D35BF358BE}" type="datetime1">
              <a:rPr lang="pt-BR" smtClean="0"/>
              <a:t>10/12/2025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31FAE5-2F15-45EA-B053-95A6E2C9A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C6088E-64CD-4C38-B65A-716D62B79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BBA3-2AF6-4638-8DDB-B8126A63A0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7528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E715DF-086B-4208-BFA2-62B0CBFB1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BF2A91-07A2-4286-8B83-701D2D761E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909BBA-DE83-46BB-84E5-302D857BE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60B7C37-154A-4EEA-8057-9ECDE63EE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DBA20-2E8B-4A68-A33D-9577821FB087}" type="datetime1">
              <a:rPr lang="pt-BR" smtClean="0"/>
              <a:t>10/12/2025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B48CCA5-8EF0-4277-89F7-F480CCF10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AC657E1-7616-43CE-9A2C-5C8D01592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BBA3-2AF6-4638-8DDB-B8126A63A0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5616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720938-C75B-4D78-B59F-AB9E139B1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D1914ED-737D-4730-8138-B4562A051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6F0C8E7-F37D-4411-BDE5-2AC19B25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544291B-9539-44F0-895A-AFEAA0BE79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4CE7EE8-FA44-4407-B93F-F0E6EFBB19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1251604-D17B-4339-AD41-2E8FD41D9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07BB8-E6F3-42B5-A0AE-C605D440E7B7}" type="datetime1">
              <a:rPr lang="pt-BR" smtClean="0"/>
              <a:t>10/12/2025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9DA1959-2E96-457B-8F81-5A5625C19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36A9AD3-0D01-4E4C-9DDA-BB7DF1491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BBA3-2AF6-4638-8DDB-B8126A63A0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452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837348-379F-4B10-AF53-E3141E253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BB522BF-8981-4B55-8873-FA617F8F0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F648-4D9C-42C0-9119-E3D404181A62}" type="datetime1">
              <a:rPr lang="pt-BR" smtClean="0"/>
              <a:t>10/12/2025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9638D40-E164-45F6-8540-2181047C3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1B7215C-5FBA-482E-8FC5-113B8E546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BBA3-2AF6-4638-8DDB-B8126A63A0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1154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72275DC-1A6F-4765-A25E-74F82233E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5C84-9B9F-47C3-92A3-BD9A43F4872A}" type="datetime1">
              <a:rPr lang="pt-BR" smtClean="0"/>
              <a:t>10/12/2025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C8DFD1B-B9C2-4CEB-89DB-765CF5F1F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55E7517-4F3A-40ED-8DBE-8B92B37D5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BBA3-2AF6-4638-8DDB-B8126A63A0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8925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164225-9447-4A90-B8C0-E884C6901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44A7E0-0F49-4391-8FCB-B1C4324B0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172325A-B2DB-4995-9B63-1013F4702C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5A3CAFC-F972-4C51-A07D-EDF5A1F51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2F6F2-08B1-4392-BFFB-DC7F46E97E8C}" type="datetime1">
              <a:rPr lang="pt-BR" smtClean="0"/>
              <a:t>10/12/2025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32D2E2D-C7E7-4256-800A-2ADF9E5DF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EFE7D4-2D9F-471F-8880-3E227DE78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BBA3-2AF6-4638-8DDB-B8126A63A0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4873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9C7A7E-E5B5-40AB-B867-FF653829E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A155170-7A6B-4398-9B14-4EA19C6F35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62AE46-4B3D-4A11-B264-E4D572FF2B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BB2B3E5-C16A-43DB-B869-C2EE7BDF2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42CB5-6E25-43A9-A0BA-EE7DBD00B114}" type="datetime1">
              <a:rPr lang="pt-BR" smtClean="0"/>
              <a:t>10/12/2025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799385-B84B-407D-985B-93EE8E7D8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F218123-8A3D-4BC4-B639-03A42429F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BBA3-2AF6-4638-8DDB-B8126A63A0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3154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13D5B7-B4D3-41C2-AE30-E25A14A19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86E43B-59DE-46C5-89E8-7A841E4E08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AAC22C-3864-467A-BCE3-5739AAE4F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EE631-25F9-4CA4-9F45-1293AA7A56F3}" type="datetime1">
              <a:rPr lang="pt-BR" smtClean="0"/>
              <a:t>10/12/2025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6F3A301-F9BC-448C-A5D5-7A0B49B89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12F7D4-2E05-4A64-8F28-9AE95654C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BBA3-2AF6-4638-8DDB-B8126A63A0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2776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60BBC0-04D5-4C45-A30B-7497E5054C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F0625D0-EB96-477D-B47D-C02FFEE295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6606FD-FE00-43B3-8A26-642C0841B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4E1DB-B025-4F31-A1B2-E60A57CDFDCC}" type="datetime1">
              <a:rPr lang="pt-BR" smtClean="0"/>
              <a:t>10/12/2025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EB4B15-8AF0-498E-A84F-BBF4B1987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FABEF1E-BF47-4B1B-AC3E-E196EF317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BBA3-2AF6-4638-8DDB-B8126A63A0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488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  <a:alpha val="3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89D515D-4EC2-403D-93B3-9BB0DFD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82EA9A7-390F-4199-A43C-8395AC3E9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6D0ED4-029C-4B32-9362-220F58610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3AFF5-C036-43AB-BBCE-777116AE678A}" type="datetime1">
              <a:rPr lang="pt-BR" smtClean="0"/>
              <a:t>10/12/2025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D3C678-0858-4BEC-B0F9-E181BC76D8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799D48-DF0F-4564-840D-844043D0A6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88BBA3-2AF6-4638-8DDB-B8126A63A0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2966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4BEBAD-2012-424A-AD4B-8E4C9BA3C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9503" y="-270400"/>
            <a:ext cx="9144000" cy="1876672"/>
          </a:xfrm>
        </p:spPr>
        <p:txBody>
          <a:bodyPr>
            <a:normAutofit/>
          </a:bodyPr>
          <a:lstStyle/>
          <a:p>
            <a:r>
              <a:rPr lang="pt-BR" sz="4000" dirty="0">
                <a:latin typeface="+mn-lt"/>
                <a:cs typeface="Times New Roman" panose="02020603050405020304" pitchFamily="18" charset="0"/>
              </a:rPr>
              <a:t>Otimização de Portfólios Personalizados com Algoritmo Genético Multiobjetivo</a:t>
            </a:r>
          </a:p>
        </p:txBody>
      </p:sp>
      <p:sp>
        <p:nvSpPr>
          <p:cNvPr id="4" name="Retângulo: Cantos Superiores Arredondados 3">
            <a:extLst>
              <a:ext uri="{FF2B5EF4-FFF2-40B4-BE49-F238E27FC236}">
                <a16:creationId xmlns:a16="http://schemas.microsoft.com/office/drawing/2014/main" id="{C844ED3C-88CE-4690-9283-F6169C5EAE05}"/>
              </a:ext>
            </a:extLst>
          </p:cNvPr>
          <p:cNvSpPr/>
          <p:nvPr/>
        </p:nvSpPr>
        <p:spPr>
          <a:xfrm>
            <a:off x="1399504" y="6753253"/>
            <a:ext cx="9392991" cy="121919"/>
          </a:xfrm>
          <a:prstGeom prst="round2Same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1E77205-CB86-45A5-A73F-D920583D4C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386" y="4823868"/>
            <a:ext cx="2181225" cy="12954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70848A7-E4C5-43EF-B15C-609873705A83}"/>
              </a:ext>
            </a:extLst>
          </p:cNvPr>
          <p:cNvSpPr txBox="1"/>
          <p:nvPr/>
        </p:nvSpPr>
        <p:spPr>
          <a:xfrm>
            <a:off x="3605214" y="2589030"/>
            <a:ext cx="50053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2">
                    <a:lumMod val="50000"/>
                  </a:schemeClr>
                </a:solidFill>
                <a:cs typeface="Times New Roman" panose="02020603050405020304" pitchFamily="18" charset="0"/>
              </a:rPr>
              <a:t>Departamento de Sistemas e Computação – FURB</a:t>
            </a:r>
          </a:p>
          <a:p>
            <a:pPr algn="ctr"/>
            <a:r>
              <a:rPr lang="pt-BR" b="1" dirty="0">
                <a:solidFill>
                  <a:schemeClr val="bg2">
                    <a:lumMod val="50000"/>
                  </a:schemeClr>
                </a:solidFill>
                <a:cs typeface="Times New Roman" panose="02020603050405020304" pitchFamily="18" charset="0"/>
              </a:rPr>
              <a:t>Curso de Sistemas de Informação</a:t>
            </a:r>
          </a:p>
          <a:p>
            <a:pPr algn="ctr"/>
            <a:r>
              <a:rPr lang="pt-BR" b="1" dirty="0">
                <a:solidFill>
                  <a:schemeClr val="bg2">
                    <a:lumMod val="50000"/>
                  </a:schemeClr>
                </a:solidFill>
                <a:cs typeface="Times New Roman" panose="02020603050405020304" pitchFamily="18" charset="0"/>
              </a:rPr>
              <a:t>Trabalho de Conclusão de Curso II – 2025/2</a:t>
            </a:r>
          </a:p>
        </p:txBody>
      </p:sp>
      <p:sp>
        <p:nvSpPr>
          <p:cNvPr id="8" name="Retângulo: Cantos Superiores Arredondados 7">
            <a:extLst>
              <a:ext uri="{FF2B5EF4-FFF2-40B4-BE49-F238E27FC236}">
                <a16:creationId xmlns:a16="http://schemas.microsoft.com/office/drawing/2014/main" id="{BCB4ECC9-985E-4F10-8EC9-D17A752AAFD8}"/>
              </a:ext>
            </a:extLst>
          </p:cNvPr>
          <p:cNvSpPr/>
          <p:nvPr/>
        </p:nvSpPr>
        <p:spPr>
          <a:xfrm flipV="1">
            <a:off x="2412639" y="1802908"/>
            <a:ext cx="7366718" cy="45719"/>
          </a:xfrm>
          <a:prstGeom prst="round2Same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D6E6615F-ED6C-4F2E-887A-77A584E6B79D}"/>
              </a:ext>
            </a:extLst>
          </p:cNvPr>
          <p:cNvSpPr txBox="1">
            <a:spLocks/>
          </p:cNvSpPr>
          <p:nvPr/>
        </p:nvSpPr>
        <p:spPr>
          <a:xfrm>
            <a:off x="6787165" y="4976268"/>
            <a:ext cx="4005329" cy="114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2000" dirty="0">
                <a:cs typeface="Times New Roman" panose="02020603050405020304" pitchFamily="18" charset="0"/>
              </a:rPr>
              <a:t>Orientador: </a:t>
            </a:r>
          </a:p>
          <a:p>
            <a:pPr algn="r"/>
            <a:r>
              <a:rPr lang="pt-BR" sz="2000" b="1" dirty="0">
                <a:cs typeface="Times New Roman" panose="02020603050405020304" pitchFamily="18" charset="0"/>
              </a:rPr>
              <a:t>Aurélio Faustino </a:t>
            </a:r>
            <a:r>
              <a:rPr lang="pt-BR" sz="2000" b="1" dirty="0" err="1">
                <a:cs typeface="Times New Roman" panose="02020603050405020304" pitchFamily="18" charset="0"/>
              </a:rPr>
              <a:t>Hoppe</a:t>
            </a:r>
            <a:endParaRPr lang="pt-BR" sz="2000" b="1" dirty="0">
              <a:cs typeface="Times New Roman" panose="02020603050405020304" pitchFamily="18" charset="0"/>
            </a:endParaRPr>
          </a:p>
          <a:p>
            <a:pPr algn="r"/>
            <a:r>
              <a:rPr lang="pt-BR" sz="1800" dirty="0">
                <a:solidFill>
                  <a:schemeClr val="accent5">
                    <a:lumMod val="50000"/>
                  </a:schemeClr>
                </a:solidFill>
                <a:cs typeface="Times New Roman" panose="02020603050405020304" pitchFamily="18" charset="0"/>
              </a:rPr>
              <a:t>aureliof@furb.br</a:t>
            </a:r>
          </a:p>
        </p:txBody>
      </p:sp>
      <p:sp>
        <p:nvSpPr>
          <p:cNvPr id="5" name="Google Shape;130;p25">
            <a:extLst>
              <a:ext uri="{FF2B5EF4-FFF2-40B4-BE49-F238E27FC236}">
                <a16:creationId xmlns:a16="http://schemas.microsoft.com/office/drawing/2014/main" id="{4BE85A23-04BF-B2DC-CA31-A3C0EDC9CEAF}"/>
              </a:ext>
            </a:extLst>
          </p:cNvPr>
          <p:cNvSpPr txBox="1">
            <a:spLocks/>
          </p:cNvSpPr>
          <p:nvPr/>
        </p:nvSpPr>
        <p:spPr>
          <a:xfrm>
            <a:off x="1399503" y="4341298"/>
            <a:ext cx="30039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1500"/>
            </a:pPr>
            <a:r>
              <a:rPr lang="pt-BR" sz="2000" dirty="0"/>
              <a:t>Acadêmicos: </a:t>
            </a:r>
          </a:p>
          <a:p>
            <a:pPr algn="l">
              <a:spcBef>
                <a:spcPts val="800"/>
              </a:spcBef>
              <a:buClr>
                <a:schemeClr val="dk1"/>
              </a:buClr>
              <a:buSzPts val="1500"/>
            </a:pPr>
            <a:r>
              <a:rPr lang="pt-BR" sz="2000" b="1" dirty="0"/>
              <a:t>Alexandre Silva Zabel</a:t>
            </a:r>
          </a:p>
          <a:p>
            <a:pPr algn="l">
              <a:spcBef>
                <a:spcPts val="800"/>
              </a:spcBef>
              <a:buClr>
                <a:srgbClr val="1E4E79"/>
              </a:buClr>
              <a:buSzPts val="1400"/>
              <a:buFont typeface="Arial"/>
              <a:buNone/>
            </a:pPr>
            <a:r>
              <a:rPr lang="pt-BR" sz="1800" dirty="0">
                <a:solidFill>
                  <a:srgbClr val="1E4E79"/>
                </a:solidFill>
              </a:rPr>
              <a:t>aszabel@furb.br</a:t>
            </a:r>
            <a:endParaRPr lang="pt-BR" sz="1800" b="1" dirty="0"/>
          </a:p>
          <a:p>
            <a:pPr algn="l">
              <a:spcBef>
                <a:spcPts val="800"/>
              </a:spcBef>
              <a:buClr>
                <a:schemeClr val="dk1"/>
              </a:buClr>
              <a:buSzPts val="1500"/>
            </a:pPr>
            <a:r>
              <a:rPr lang="pt-BR" sz="2000" b="1" dirty="0"/>
              <a:t>Bruno Ferrari Vincensi</a:t>
            </a:r>
          </a:p>
          <a:p>
            <a:pPr algn="l">
              <a:spcBef>
                <a:spcPts val="800"/>
              </a:spcBef>
              <a:buClr>
                <a:srgbClr val="1E4E79"/>
              </a:buClr>
              <a:buSzPts val="1400"/>
            </a:pPr>
            <a:r>
              <a:rPr lang="pt-BR" sz="1800" dirty="0">
                <a:solidFill>
                  <a:srgbClr val="1E4E79"/>
                </a:solidFill>
              </a:rPr>
              <a:t>bvincensi@furb.br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165375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9772E-783D-BD07-6590-5A9FB1291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5367E1-4500-6982-6A3D-BB5E55C35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Roteiro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17F72A-DACD-F833-1DF5-28A3B023B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528" y="1657579"/>
            <a:ext cx="7388035" cy="4608028"/>
          </a:xfrm>
        </p:spPr>
        <p:txBody>
          <a:bodyPr>
            <a:normAutofit lnSpcReduction="10000"/>
          </a:bodyPr>
          <a:lstStyle/>
          <a:p>
            <a:r>
              <a:rPr lang="pt-BR" dirty="0"/>
              <a:t>Introdução</a:t>
            </a:r>
          </a:p>
          <a:p>
            <a:r>
              <a:rPr lang="pt-BR" dirty="0"/>
              <a:t>Objetivos</a:t>
            </a:r>
          </a:p>
          <a:p>
            <a:r>
              <a:rPr lang="pt-BR" dirty="0"/>
              <a:t>Fundamentação Teórica</a:t>
            </a:r>
          </a:p>
          <a:p>
            <a:r>
              <a:rPr lang="pt-BR" dirty="0"/>
              <a:t>Revisão sistemática</a:t>
            </a:r>
          </a:p>
          <a:p>
            <a:r>
              <a:rPr lang="pt-BR" dirty="0"/>
              <a:t>Trabalhos Correlatos</a:t>
            </a:r>
          </a:p>
          <a:p>
            <a:r>
              <a:rPr lang="pt-BR" dirty="0"/>
              <a:t>Desenvolvimento</a:t>
            </a:r>
          </a:p>
          <a:p>
            <a:pPr lvl="1"/>
            <a:r>
              <a:rPr lang="pt-BR" sz="2600" dirty="0"/>
              <a:t>Modelo Otimização</a:t>
            </a:r>
          </a:p>
          <a:p>
            <a:pPr lvl="1"/>
            <a:r>
              <a:rPr lang="pt-BR" sz="2600" dirty="0"/>
              <a:t>Plataforma Web</a:t>
            </a:r>
          </a:p>
          <a:p>
            <a:pPr lvl="1"/>
            <a:r>
              <a:rPr lang="pt-BR" sz="2600" dirty="0"/>
              <a:t>Teste de Usabilidade</a:t>
            </a:r>
          </a:p>
          <a:p>
            <a:r>
              <a:rPr lang="pt-BR" dirty="0"/>
              <a:t>Conclusões</a:t>
            </a: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6BCE4AB5-73BC-2418-D21D-E4AEDFE06765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B400A20-858B-150F-0926-E56DEB1B0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9563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38A0FA-C780-42E0-8795-CA1825163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2246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Introdução (1/2)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8CE2F6-5CEB-4732-96E3-12AE4B0DE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630" y="1804935"/>
            <a:ext cx="5855369" cy="4842754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pt-BR" sz="3100" b="1" dirty="0"/>
              <a:t>Contexto do Investidor Brasileiro</a:t>
            </a:r>
          </a:p>
          <a:p>
            <a:r>
              <a:rPr lang="pt-BR" b="1" dirty="0"/>
              <a:t>64% dos brasileiros </a:t>
            </a:r>
            <a:r>
              <a:rPr lang="pt-BR" dirty="0"/>
              <a:t>não sabem reconhecer um bom investimento, segundo pesquisa do </a:t>
            </a:r>
            <a:r>
              <a:rPr lang="pt-BR" b="1" dirty="0"/>
              <a:t>Febraban</a:t>
            </a:r>
            <a:endParaRPr lang="pt-BR" dirty="0"/>
          </a:p>
          <a:p>
            <a:r>
              <a:rPr lang="pt-BR" dirty="0"/>
              <a:t>A maioria depende de opiniões de terceiros</a:t>
            </a:r>
          </a:p>
          <a:p>
            <a:r>
              <a:rPr lang="pt-BR" dirty="0"/>
              <a:t>Assessores de investimentos gastam muito tempo para construir portifólios personalizados para seus clientes.</a:t>
            </a:r>
            <a:br>
              <a:rPr lang="pt-BR" dirty="0"/>
            </a:br>
            <a:endParaRPr lang="pt-BR" dirty="0"/>
          </a:p>
          <a:p>
            <a:pPr marL="0" indent="0">
              <a:buNone/>
            </a:pPr>
            <a:r>
              <a:rPr lang="pt-BR" sz="3100" b="1" dirty="0"/>
              <a:t>Desafios Atuais</a:t>
            </a:r>
          </a:p>
          <a:p>
            <a:r>
              <a:rPr lang="pt-BR" sz="2900" dirty="0"/>
              <a:t>Excesso de informações e recomendações conflitantes online.</a:t>
            </a:r>
          </a:p>
          <a:p>
            <a:r>
              <a:rPr lang="pt-BR" sz="2900" dirty="0"/>
              <a:t>Dificuldade em filtrar análises confiáveis.</a:t>
            </a:r>
          </a:p>
          <a:p>
            <a:r>
              <a:rPr lang="pt-BR" sz="29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Compreensão simultânea de retorno, volatilidade e risco</a:t>
            </a:r>
            <a:endParaRPr lang="pt-BR" sz="2900" dirty="0"/>
          </a:p>
          <a:p>
            <a:r>
              <a:rPr lang="pt-BR" sz="2900" dirty="0"/>
              <a:t>Falta de ferramentas acessíveis para montar carteiras alinhadas ao perfil pessoal.</a:t>
            </a: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5EAE89C7-C9A4-4D03-ABCD-CBF7CA673DDF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D3BCA6-F070-4C77-B875-CB3AB6586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3</a:t>
            </a:fld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C5411E0-E172-987F-6B8A-CAEC71DC3321}"/>
              </a:ext>
            </a:extLst>
          </p:cNvPr>
          <p:cNvSpPr txBox="1"/>
          <p:nvPr/>
        </p:nvSpPr>
        <p:spPr>
          <a:xfrm>
            <a:off x="6373657" y="5528585"/>
            <a:ext cx="6094476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pt-BR" sz="1200" dirty="0"/>
              <a:t>Pesquisa da </a:t>
            </a:r>
            <a:r>
              <a:rPr lang="pt-BR" sz="1200" dirty="0" err="1"/>
              <a:t>Anbima</a:t>
            </a:r>
            <a:r>
              <a:rPr lang="pt-BR" sz="1200" dirty="0"/>
              <a:t> com 5.846 pessoas</a:t>
            </a:r>
            <a:endParaRPr lang="pt-BR" sz="1200" dirty="0">
              <a:cs typeface="Calibri"/>
            </a:endParaRPr>
          </a:p>
        </p:txBody>
      </p:sp>
      <p:pic>
        <p:nvPicPr>
          <p:cNvPr id="8" name="Imagem 7" descr="Diagrama&#10;&#10;O conteúdo gerado por IA pode estar incorreto.">
            <a:extLst>
              <a:ext uri="{FF2B5EF4-FFF2-40B4-BE49-F238E27FC236}">
                <a16:creationId xmlns:a16="http://schemas.microsoft.com/office/drawing/2014/main" id="{C62082C5-D5C5-4FF0-CE6B-02782E849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286" y="1835549"/>
            <a:ext cx="4963218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489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394EE-1158-0A4B-A6EF-0D8C509A7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429765-D880-F9DF-6319-85B01D1B9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2246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Introdução (2/2)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30D458-BCEB-23EB-F457-27BB1DB62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293" y="1683544"/>
            <a:ext cx="7039911" cy="36330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2200" b="1" dirty="0"/>
              <a:t>Uso de Inteligência Artificial em investimentos</a:t>
            </a:r>
          </a:p>
          <a:p>
            <a:r>
              <a:rPr lang="pt-BR" sz="2000" dirty="0"/>
              <a:t>Analisa grandes volumes de dados rapidamente</a:t>
            </a:r>
          </a:p>
          <a:p>
            <a:r>
              <a:rPr lang="pt-BR" sz="2000" dirty="0"/>
              <a:t>Reduz vieses humanos e melhora a tomada de decisão</a:t>
            </a:r>
          </a:p>
          <a:p>
            <a:r>
              <a:rPr lang="pt-BR" sz="2000" dirty="0"/>
              <a:t>Identifica combinações eficientes de ativos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2200" b="1" dirty="0"/>
              <a:t>Como algoritmos de otimização ajudam</a:t>
            </a:r>
          </a:p>
          <a:p>
            <a:r>
              <a:rPr lang="pt-BR" sz="2000" dirty="0"/>
              <a:t>Equilibram retorno, risco e diversificação</a:t>
            </a:r>
          </a:p>
          <a:p>
            <a:r>
              <a:rPr lang="pt-BR" sz="2000" dirty="0"/>
              <a:t>Consideram perfil do investidor e restrições reais</a:t>
            </a:r>
            <a:endParaRPr lang="pt-BR" sz="1800" dirty="0"/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DA092E39-E123-C039-89EE-26B1DFE3E223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2B43D5-3C96-A427-F32B-F269BFDE5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4</a:t>
            </a:fld>
            <a:endParaRPr lang="pt-BR"/>
          </a:p>
        </p:txBody>
      </p:sp>
      <p:pic>
        <p:nvPicPr>
          <p:cNvPr id="9" name="Imagem 8" descr="Tela de computador com jogo&#10;&#10;O conteúdo gerado por IA pode estar incorreto.">
            <a:extLst>
              <a:ext uri="{FF2B5EF4-FFF2-40B4-BE49-F238E27FC236}">
                <a16:creationId xmlns:a16="http://schemas.microsoft.com/office/drawing/2014/main" id="{F878AAFB-491B-EFE9-2E9D-591ABD06F0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2813" y="1462563"/>
            <a:ext cx="3929682" cy="504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225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38A0FA-C780-42E0-8795-CA1825163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Objetivos (1/2)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8CE2F6-5CEB-4732-96E3-12AE4B0DE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6301"/>
            <a:ext cx="11104418" cy="4351338"/>
          </a:xfrm>
        </p:spPr>
        <p:txBody>
          <a:bodyPr/>
          <a:lstStyle/>
          <a:p>
            <a:pPr marL="0" indent="0">
              <a:buNone/>
            </a:pPr>
            <a:r>
              <a:rPr lang="pt-BR" b="1" dirty="0"/>
              <a:t>Objetivo geral: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sz="2400" dirty="0"/>
              <a:t>Disponibilizar uma plataforma web para a otimização de portfólios de investimento utilizando Algoritmos Genéticos </a:t>
            </a:r>
            <a:r>
              <a:rPr lang="pt-BR" sz="2400" dirty="0" err="1"/>
              <a:t>MultiObjetivo</a:t>
            </a:r>
            <a:r>
              <a:rPr lang="pt-BR" sz="2400" dirty="0"/>
              <a:t> (AGMO), capaz de considerar simultaneamente múltiplos critérios de decisão (retorno esperado, risco, diversificação e restrições do investidor) e personalizar recomendações de acordo com o perfil individual do usuário.</a:t>
            </a: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5EAE89C7-C9A4-4D03-ABCD-CBF7CA673DDF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FB54074-1404-4B44-8380-E2D6EBDF8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5967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38A0FA-C780-42E0-8795-CA1825163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Objetivos (2/2)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8CE2F6-5CEB-4732-96E3-12AE4B0DE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16112"/>
            <a:ext cx="10674927" cy="4351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pt-BR" b="1" dirty="0"/>
              <a:t>Objetivos específicos:</a:t>
            </a:r>
          </a:p>
          <a:p>
            <a:pPr marL="571500" indent="-571500">
              <a:spcBef>
                <a:spcPts val="1400"/>
              </a:spcBef>
              <a:buFont typeface="+mj-lt"/>
              <a:buAutoNum type="alphaLcParenR"/>
            </a:pPr>
            <a:r>
              <a:rPr lang="pt-BR" sz="2400" dirty="0"/>
              <a:t>Modelar o problema da alocação de ativos como um problema de otimização multiobjetivo, considerando funções de retorno, risco e diversificação</a:t>
            </a:r>
          </a:p>
          <a:p>
            <a:pPr marL="571500" indent="-571500">
              <a:spcBef>
                <a:spcPts val="1400"/>
              </a:spcBef>
              <a:buFont typeface="+mj-lt"/>
              <a:buAutoNum type="alphaLcParenR"/>
            </a:pPr>
            <a:r>
              <a:rPr lang="pt-BR" sz="2400" dirty="0"/>
              <a:t>Implementar e testar diferentes configurações do algoritmo genético multiobjetivo, analisando impacto de parâmetros como tamanho da população, taxas de cruzamento e mutação, e número de gerações</a:t>
            </a:r>
          </a:p>
          <a:p>
            <a:pPr marL="571500" indent="-571500">
              <a:spcBef>
                <a:spcPts val="1400"/>
              </a:spcBef>
              <a:buFont typeface="+mj-lt"/>
              <a:buAutoNum type="alphaLcParenR"/>
            </a:pPr>
            <a:r>
              <a:rPr lang="pt-BR" sz="2400" dirty="0"/>
              <a:t>Validar o desempenho do aplicativo por meio de </a:t>
            </a:r>
            <a:r>
              <a:rPr lang="pt-BR" sz="2400" dirty="0" err="1"/>
              <a:t>backtesting</a:t>
            </a:r>
            <a:r>
              <a:rPr lang="pt-BR" sz="2400" dirty="0"/>
              <a:t> histórico e comparação com benchmarks relevantes como o Ibovespa</a:t>
            </a:r>
          </a:p>
          <a:p>
            <a:pPr marL="571500" indent="-571500">
              <a:spcBef>
                <a:spcPts val="1400"/>
              </a:spcBef>
              <a:buFont typeface="+mj-lt"/>
              <a:buAutoNum type="alphaLcParenR"/>
            </a:pPr>
            <a:r>
              <a:rPr lang="pt-BR" sz="2400" dirty="0"/>
              <a:t>Avaliar diferentes critérios de decisão e restrições de portfólio, incluindo limites de ativos, ativos indesejados e horizonte de investimento</a:t>
            </a:r>
          </a:p>
          <a:p>
            <a:pPr marL="571500" indent="-571500">
              <a:spcBef>
                <a:spcPts val="1400"/>
              </a:spcBef>
              <a:buFont typeface="+mj-lt"/>
              <a:buAutoNum type="alphaLcParenR"/>
            </a:pPr>
            <a:r>
              <a:rPr lang="pt-BR" sz="2400" dirty="0"/>
              <a:t>Disponibilizar o modelo desenvolvido em uma plataforma web para avaliar a aderência do sistema a diferentes perfis de investidor</a:t>
            </a: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5EAE89C7-C9A4-4D03-ABCD-CBF7CA673DDF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FB54074-1404-4B44-8380-E2D6EBDF8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9400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10E28-F629-4F3F-06C7-053EC2B50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84B28F-4691-12E2-887C-239B3B9DF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94463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Fundamentação Teórica (1/4)</a:t>
            </a:r>
            <a:br>
              <a:rPr lang="pt-BR" dirty="0"/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Conceitos</a:t>
            </a:r>
            <a:endParaRPr lang="pt-BR" sz="38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10" name="Espaço Reservado para Conteúdo 2">
            <a:extLst>
              <a:ext uri="{FF2B5EF4-FFF2-40B4-BE49-F238E27FC236}">
                <a16:creationId xmlns:a16="http://schemas.microsoft.com/office/drawing/2014/main" id="{424606C4-FC3B-261D-BB81-CAECF03BED6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2499" y="1520026"/>
          <a:ext cx="11132129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B05D17F4-8FFD-3AB1-137D-B4F644BC7529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B4E711-A402-EAF6-2A8E-C2477A5E5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0705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85B1E2D-22D9-DFB7-90CB-2DBC161A9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BBA3-2AF6-4638-8DDB-B8126A63A035}" type="slidenum">
              <a:rPr lang="pt-BR" smtClean="0"/>
              <a:t>8</a:t>
            </a:fld>
            <a:endParaRPr lang="pt-BR"/>
          </a:p>
        </p:txBody>
      </p:sp>
      <p:pic>
        <p:nvPicPr>
          <p:cNvPr id="5" name="Imagem 4" descr="Diagrama">
            <a:extLst>
              <a:ext uri="{FF2B5EF4-FFF2-40B4-BE49-F238E27FC236}">
                <a16:creationId xmlns:a16="http://schemas.microsoft.com/office/drawing/2014/main" id="{AAD65C24-5C60-2929-0DE9-2E4FEF525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857" y="1136651"/>
            <a:ext cx="7402286" cy="4584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431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A055B-03EA-A24B-DA1A-E3A0A86C0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B2860-2EFC-42F0-ABF7-7A81DAD85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2246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Fundamentação Teórica (2/4)</a:t>
            </a:r>
            <a:br>
              <a:rPr lang="pt-BR" dirty="0"/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TMP</a:t>
            </a:r>
            <a:endParaRPr lang="pt-B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7F8998-DC5E-3578-9D77-538A2A7E2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718" y="3584229"/>
            <a:ext cx="10971081" cy="29215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BR" dirty="0">
              <a:solidFill>
                <a:prstClr val="black"/>
              </a:solidFill>
              <a:latin typeface="Calibri" panose="020F0502020204030204"/>
            </a:endParaRPr>
          </a:p>
          <a:p>
            <a:pPr lvl="0">
              <a:defRPr/>
            </a:pPr>
            <a:r>
              <a:rPr lang="pt-BR" b="1" dirty="0"/>
              <a:t>Limitações da TMP</a:t>
            </a:r>
            <a:r>
              <a:rPr lang="pt-BR" b="1" dirty="0">
                <a:solidFill>
                  <a:prstClr val="black"/>
                </a:solidFill>
                <a:latin typeface="Calibri" panose="020F0502020204030204"/>
              </a:rPr>
              <a:t>:</a:t>
            </a:r>
            <a:r>
              <a:rPr lang="pt-BR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pt-BR" dirty="0">
                <a:solidFill>
                  <a:prstClr val="black"/>
                </a:solidFill>
              </a:rPr>
              <a:t>Premissas idealizadas, Racionalidade perfeita, Parâmetros estáticos</a:t>
            </a:r>
          </a:p>
          <a:p>
            <a:pPr lvl="0">
              <a:defRPr/>
            </a:pPr>
            <a:r>
              <a:rPr lang="pt-BR" b="1" dirty="0"/>
              <a:t>Necessidade de Abordagens Alternativas:</a:t>
            </a:r>
            <a:r>
              <a:rPr lang="pt-BR" dirty="0"/>
              <a:t> Alta volatilidade, Eventos extremos, Instabilidade dos parâmetros, Modelos mais flexíveis</a:t>
            </a: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E9AF34D9-8F36-7285-B4E1-BBAB1E0A0714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7A0CD6-7BBB-846A-6E66-4516A9E70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9</a:t>
            </a:fld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6DCF7FC-9D1D-0B5B-C709-86A8F8F107B7}"/>
              </a:ext>
            </a:extLst>
          </p:cNvPr>
          <p:cNvSpPr txBox="1"/>
          <p:nvPr/>
        </p:nvSpPr>
        <p:spPr>
          <a:xfrm>
            <a:off x="382718" y="1925308"/>
            <a:ext cx="7308252" cy="2028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pt-BR" sz="2800" b="1" dirty="0"/>
              <a:t>Fundamentos Matemáticos da TMP</a:t>
            </a: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lang="pt-BR" sz="2800" dirty="0">
                <a:solidFill>
                  <a:prstClr val="black"/>
                </a:solidFill>
              </a:rPr>
              <a:t>- Retorno esperado 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lang="pt-BR" sz="2800" dirty="0">
                <a:solidFill>
                  <a:prstClr val="black"/>
                </a:solidFill>
              </a:rPr>
              <a:t>- Variância e covariância 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lang="pt-BR" sz="2800" dirty="0">
                <a:solidFill>
                  <a:prstClr val="black"/>
                </a:solidFill>
              </a:rPr>
              <a:t>- Equações</a:t>
            </a: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449E5A08-AF0C-907D-8D7F-7D549F2A6814}"/>
                  </a:ext>
                </a:extLst>
              </p:cNvPr>
              <p:cNvSpPr txBox="1"/>
              <p:nvPr/>
            </p:nvSpPr>
            <p:spPr>
              <a:xfrm>
                <a:off x="5912974" y="1976350"/>
                <a:ext cx="6096000" cy="5306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pt-BR" sz="2800" i="0">
                              <a:latin typeface="Cambria Math" panose="02040503050406030204" pitchFamily="18" charset="0"/>
                            </a:rPr>
                            <m:t>ₚ</m:t>
                          </m:r>
                        </m:e>
                      </m:d>
                      <m:r>
                        <a:rPr lang="pt-BR" sz="2800" i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𝛴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pt-BR" sz="2800" i="0">
                          <a:latin typeface="Cambria Math" panose="02040503050406030204" pitchFamily="18" charset="0"/>
                        </a:rPr>
                        <m:t>ᵢ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pt-BR" sz="2800" i="0">
                              <a:latin typeface="Cambria Math" panose="02040503050406030204" pitchFamily="18" charset="0"/>
                            </a:rPr>
                            <m:t>ᵢ</m:t>
                          </m:r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449E5A08-AF0C-907D-8D7F-7D549F2A6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2974" y="1976350"/>
                <a:ext cx="6096000" cy="5306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F0BE0027-7F1F-9C4C-C698-18499AEE99FE}"/>
                  </a:ext>
                </a:extLst>
              </p:cNvPr>
              <p:cNvSpPr txBox="1"/>
              <p:nvPr/>
            </p:nvSpPr>
            <p:spPr>
              <a:xfrm>
                <a:off x="5757853" y="2995347"/>
                <a:ext cx="6406242" cy="5378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pt-BR" sz="2800" i="0">
                          <a:latin typeface="Cambria Math" panose="02040503050406030204" pitchFamily="18" charset="0"/>
                        </a:rPr>
                        <m:t>ₚ² =</m:t>
                      </m:r>
                      <m:r>
                        <a:rPr lang="pt-BR" sz="280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𝛴𝛴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pt-BR" sz="2800" i="0">
                          <a:latin typeface="Cambria Math" panose="02040503050406030204" pitchFamily="18" charset="0"/>
                        </a:rPr>
                        <m:t>ᵢ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pt-BR" sz="2800" i="0">
                          <a:latin typeface="Cambria Math" panose="02040503050406030204" pitchFamily="18" charset="0"/>
                        </a:rPr>
                        <m:t>ⱼ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pt-BR" sz="2800" i="0">
                          <a:latin typeface="Cambria Math" panose="02040503050406030204" pitchFamily="18" charset="0"/>
                        </a:rPr>
                        <m:t>ᵢ</m:t>
                      </m:r>
                      <m:r>
                        <a:rPr lang="pt-BR" sz="2800" i="0">
                          <a:latin typeface="Cambria Math" panose="02040503050406030204" pitchFamily="18" charset="0"/>
                        </a:rPr>
                        <m:t>ⱼ</m:t>
                      </m:r>
                      <m:r>
                        <a:rPr lang="pt-BR" sz="2800" i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F0BE0027-7F1F-9C4C-C698-18499AEE9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7853" y="2995347"/>
                <a:ext cx="6406242" cy="5378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9457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AA84F-46A1-D11B-DC7C-3A76D6400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A7C920-624E-B475-2713-BC7ABF37A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2246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Fundamentação Teórica (3/4)</a:t>
            </a:r>
            <a:br>
              <a:rPr lang="pt-BR" dirty="0"/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NSGA-II</a:t>
            </a:r>
          </a:p>
        </p:txBody>
      </p:sp>
      <p:graphicFrame>
        <p:nvGraphicFramePr>
          <p:cNvPr id="14" name="Espaço Reservado para Conteúdo 2">
            <a:extLst>
              <a:ext uri="{FF2B5EF4-FFF2-40B4-BE49-F238E27FC236}">
                <a16:creationId xmlns:a16="http://schemas.microsoft.com/office/drawing/2014/main" id="{7E7D8F73-B9D5-F390-AB08-59BD7F62ED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6506967"/>
              </p:ext>
            </p:extLst>
          </p:nvPr>
        </p:nvGraphicFramePr>
        <p:xfrm>
          <a:off x="382719" y="1677809"/>
          <a:ext cx="10971081" cy="2921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CC3D1EDF-F9DD-FEAF-4AE0-9C4F54392EC3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ED1036-6F2E-FDD3-72E3-C5DD7EA6E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10</a:t>
            </a:fld>
            <a:endParaRPr lang="pt-BR"/>
          </a:p>
        </p:txBody>
      </p:sp>
      <p:pic>
        <p:nvPicPr>
          <p:cNvPr id="12" name="Imagem 11" descr="Diagrama, Desenho técnico&#10;&#10;O conteúdo gerado por IA pode estar incorreto.">
            <a:extLst>
              <a:ext uri="{FF2B5EF4-FFF2-40B4-BE49-F238E27FC236}">
                <a16:creationId xmlns:a16="http://schemas.microsoft.com/office/drawing/2014/main" id="{CD995A77-03BD-B9B6-EF8A-B42B86819D6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2" t="6995" r="4785" b="3746"/>
          <a:stretch>
            <a:fillRect/>
          </a:stretch>
        </p:blipFill>
        <p:spPr bwMode="auto">
          <a:xfrm>
            <a:off x="3487421" y="3995057"/>
            <a:ext cx="5217156" cy="2497818"/>
          </a:xfrm>
          <a:prstGeom prst="rect">
            <a:avLst/>
          </a:prstGeom>
          <a:noFill/>
          <a:ln w="3175" cmpd="sng">
            <a:solidFill>
              <a:srgbClr val="000000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783790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F8B88-6D33-EE16-49E6-87C7745B4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16023E-F8A9-7626-7B66-23A938B23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2246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Fundamentação Teórica (4/4)</a:t>
            </a:r>
            <a:br>
              <a:rPr lang="pt-BR" dirty="0"/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R-NSGA-II</a:t>
            </a:r>
            <a:endParaRPr lang="pt-B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EE6638-7804-2A72-D7A5-E5FDFBA15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719" y="1938187"/>
            <a:ext cx="10971081" cy="29215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defRPr/>
            </a:pPr>
            <a:r>
              <a:rPr lang="pt-BR" b="1" dirty="0"/>
              <a:t>R-NSGA-II:</a:t>
            </a:r>
            <a:r>
              <a:rPr lang="pt-BR" dirty="0"/>
              <a:t> Uso de pontos de referência, Priorização de regiões de interesse, Seleção orientada</a:t>
            </a:r>
            <a:endParaRPr lang="pt-BR" dirty="0">
              <a:solidFill>
                <a:prstClr val="black"/>
              </a:solidFill>
              <a:latin typeface="Calibri" panose="020F0502020204030204"/>
            </a:endParaRPr>
          </a:p>
          <a:p>
            <a:pPr lvl="0">
              <a:defRPr/>
            </a:pPr>
            <a:r>
              <a:rPr lang="pt-BR" b="1" dirty="0"/>
              <a:t>Mecanismo do R-NSGA-II</a:t>
            </a:r>
            <a:r>
              <a:rPr lang="pt-BR" b="1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pt-BR" dirty="0">
                <a:solidFill>
                  <a:prstClr val="black"/>
                </a:solidFill>
              </a:rPr>
              <a:t>Distância aos pontos de referência, Seleção guiada, </a:t>
            </a:r>
            <a:r>
              <a:rPr lang="pt-BR" dirty="0" err="1">
                <a:solidFill>
                  <a:prstClr val="black"/>
                </a:solidFill>
              </a:rPr>
              <a:t>Epsilon</a:t>
            </a:r>
            <a:r>
              <a:rPr lang="pt-BR" dirty="0">
                <a:solidFill>
                  <a:prstClr val="black"/>
                </a:solidFill>
              </a:rPr>
              <a:t>-Clearing</a:t>
            </a:r>
          </a:p>
          <a:p>
            <a:pPr lvl="0">
              <a:defRPr/>
            </a:pPr>
            <a:r>
              <a:rPr lang="pt-BR" b="1" dirty="0"/>
              <a:t>Etapas do Algoritmo (Pseudocódigo):</a:t>
            </a:r>
            <a:r>
              <a:rPr lang="pt-BR" dirty="0"/>
              <a:t> Inicialização, Ciclo evolutivo, Seleção orientada</a:t>
            </a: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4D9BC6A5-B788-C23D-9374-42EAA6ED8356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80C887-AB85-6198-A2DE-008249D24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11</a:t>
            </a:fld>
            <a:endParaRPr lang="pt-BR"/>
          </a:p>
        </p:txBody>
      </p:sp>
      <p:pic>
        <p:nvPicPr>
          <p:cNvPr id="9" name="Imagem 8" descr="Diagrama">
            <a:extLst>
              <a:ext uri="{FF2B5EF4-FFF2-40B4-BE49-F238E27FC236}">
                <a16:creationId xmlns:a16="http://schemas.microsoft.com/office/drawing/2014/main" id="{5B797D6F-6948-D51B-B1C8-EE372D6B19A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5" t="2616" r="10231" b="4094"/>
          <a:stretch>
            <a:fillRect/>
          </a:stretch>
        </p:blipFill>
        <p:spPr bwMode="auto">
          <a:xfrm>
            <a:off x="8932545" y="4253865"/>
            <a:ext cx="2421255" cy="22390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16890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2E8721-B659-5466-B0CA-9AB62FBA7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Fundamentação Teórica (4/4)</a:t>
            </a:r>
            <a:br>
              <a:rPr lang="pt-BR" dirty="0"/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R-NSGA-II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2522188-AF49-A984-3B2A-52921A032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BBA3-2AF6-4638-8DDB-B8126A63A035}" type="slidenum">
              <a:rPr lang="pt-BR" smtClean="0"/>
              <a:t>12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D8F65AA-BFA9-29B6-30D6-469BF35175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9" t="3712" r="52591" b="7860"/>
          <a:stretch>
            <a:fillRect/>
          </a:stretch>
        </p:blipFill>
        <p:spPr bwMode="auto">
          <a:xfrm>
            <a:off x="838200" y="1591060"/>
            <a:ext cx="4713167" cy="4820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0446479-2A4B-4DFA-4FA7-1F4F5F31EF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24" t="1870" r="5623" b="8078"/>
          <a:stretch>
            <a:fillRect/>
          </a:stretch>
        </p:blipFill>
        <p:spPr bwMode="auto">
          <a:xfrm>
            <a:off x="6640635" y="1619930"/>
            <a:ext cx="4855376" cy="479159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5504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38A0FA-C780-42E0-8795-CA1825163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746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Trabalhos correlatos (1/5)</a:t>
            </a: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5EAE89C7-C9A4-4D03-ABCD-CBF7CA673DDF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3E19B60-A7B8-4C54-BAF1-D661FCCE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13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7C5134C-D560-423A-97B4-54313DC9304F}"/>
              </a:ext>
            </a:extLst>
          </p:cNvPr>
          <p:cNvSpPr txBox="1"/>
          <p:nvPr/>
        </p:nvSpPr>
        <p:spPr>
          <a:xfrm>
            <a:off x="166947" y="1172424"/>
            <a:ext cx="1124884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200" b="1" dirty="0"/>
              <a:t>Título</a:t>
            </a:r>
            <a:r>
              <a:rPr lang="pt-BR" sz="2200" dirty="0"/>
              <a:t>: </a:t>
            </a:r>
            <a:r>
              <a:rPr lang="pt-BR" sz="2400" i="1" dirty="0" err="1"/>
              <a:t>Forecasting</a:t>
            </a:r>
            <a:r>
              <a:rPr lang="pt-BR" sz="2400" i="1" dirty="0"/>
              <a:t> de séries financeiras com ARIMA e Programação Genética</a:t>
            </a:r>
            <a:r>
              <a:rPr lang="pt-BR" sz="2400" dirty="0"/>
              <a:t> – Garcez (2022)</a:t>
            </a:r>
            <a:endParaRPr lang="pt-BR" sz="22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FFF00"/>
              </a:highlight>
              <a:cs typeface="Calibri" panose="020F0502020204030204"/>
            </a:endParaRPr>
          </a:p>
        </p:txBody>
      </p:sp>
      <p:graphicFrame>
        <p:nvGraphicFramePr>
          <p:cNvPr id="14" name="Espaço Reservado para Conteúdo 13">
            <a:extLst>
              <a:ext uri="{FF2B5EF4-FFF2-40B4-BE49-F238E27FC236}">
                <a16:creationId xmlns:a16="http://schemas.microsoft.com/office/drawing/2014/main" id="{2DA2C24F-026D-2981-27E4-A3AEA3D2C99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99049" y="2175912"/>
          <a:ext cx="7499477" cy="2377440"/>
        </p:xfrm>
        <a:graphic>
          <a:graphicData uri="http://schemas.openxmlformats.org/drawingml/2006/table">
            <a:tbl>
              <a:tblPr firstRow="1" firstCol="1" bandRow="1"/>
              <a:tblGrid>
                <a:gridCol w="1571389">
                  <a:extLst>
                    <a:ext uri="{9D8B030D-6E8A-4147-A177-3AD203B41FA5}">
                      <a16:colId xmlns:a16="http://schemas.microsoft.com/office/drawing/2014/main" val="1269749848"/>
                    </a:ext>
                  </a:extLst>
                </a:gridCol>
                <a:gridCol w="5928088">
                  <a:extLst>
                    <a:ext uri="{9D8B030D-6E8A-4147-A177-3AD203B41FA5}">
                      <a16:colId xmlns:a16="http://schemas.microsoft.com/office/drawing/2014/main" val="12899702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Objetivos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Comparar ARIMA e Programação Genética para prever séries temporais do mercado financeiro.</a:t>
                      </a:r>
                      <a:endParaRPr lang="pt-BR" sz="16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0604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Principais </a:t>
                      </a:r>
                      <a:r>
                        <a:rPr lang="pt-BR" sz="1400" err="1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funcionali-dades</a:t>
                      </a:r>
                      <a:endParaRPr lang="pt-BR" sz="140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Geração de modelos preditivos para índices como IBOVESPA, NASDAQ e Dow Jones.</a:t>
                      </a:r>
                      <a:endParaRPr lang="pt-BR" sz="16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9759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400" err="1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Ferramen-tas</a:t>
                      </a:r>
                      <a:r>
                        <a:rPr lang="pt-BR" sz="14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 de desenvolvimento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ARIMA, Programação Genética, séries históricas reais.</a:t>
                      </a:r>
                      <a:endParaRPr lang="pt-BR" sz="16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166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Resultados e conclusões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PG superou ARIMA nas previsões iniciais </a:t>
                      </a:r>
                      <a:r>
                        <a:rPr lang="pt-BR" sz="1600" dirty="0" err="1"/>
                        <a:t>ex-post</a:t>
                      </a:r>
                      <a:r>
                        <a:rPr lang="pt-BR" sz="1600" dirty="0"/>
                        <a:t>.</a:t>
                      </a:r>
                    </a:p>
                    <a:p>
                      <a:r>
                        <a:rPr lang="pt-BR" sz="1600" dirty="0"/>
                        <a:t>PG apresentou maior flexibilidade e adaptação em cenários voláteis.</a:t>
                      </a:r>
                    </a:p>
                    <a:p>
                      <a:r>
                        <a:rPr lang="pt-BR" sz="1600" dirty="0"/>
                        <a:t>Conclusão: modelos evolutivos podem ser mais eficazes que métodos estatísticos tradicionais em ambientes financeiros dinâmicos.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6801466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F8C31642-22CE-1E3F-13DC-D9AA0A3F555D}"/>
              </a:ext>
            </a:extLst>
          </p:cNvPr>
          <p:cNvSpPr txBox="1"/>
          <p:nvPr/>
        </p:nvSpPr>
        <p:spPr>
          <a:xfrm>
            <a:off x="8063742" y="5485081"/>
            <a:ext cx="35713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Motivo</a:t>
            </a:r>
            <a:r>
              <a:rPr lang="pt-BR" dirty="0"/>
              <a:t>: Metodologia clara, comparação direta entre técnicas e relevância para previsões financeiras.</a:t>
            </a:r>
            <a:endParaRPr lang="pt-BR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3662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E8C67-A565-006C-C9FA-3DB167E8D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950C69-2E77-FA50-9124-5D3B68045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693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Trabalhos correlatos (2/5)</a:t>
            </a: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4D434177-516B-B975-8E35-7A0BD1D1F4C1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0931A16-A3A6-3127-EDC7-7A11CAE40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14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88DB8EA-0DA3-100F-A79E-B5FF34E156A4}"/>
              </a:ext>
            </a:extLst>
          </p:cNvPr>
          <p:cNvSpPr txBox="1"/>
          <p:nvPr/>
        </p:nvSpPr>
        <p:spPr>
          <a:xfrm>
            <a:off x="316301" y="1213091"/>
            <a:ext cx="1133798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200" b="1" dirty="0"/>
              <a:t>Título</a:t>
            </a:r>
            <a:r>
              <a:rPr lang="pt-BR" sz="2200" dirty="0"/>
              <a:t>: </a:t>
            </a:r>
            <a:r>
              <a:rPr lang="pt-BR" sz="2400" i="1" dirty="0"/>
              <a:t>Aplicação da IA na previsão de preços: modelo ETS para PETR4</a:t>
            </a:r>
            <a:r>
              <a:rPr lang="pt-BR" sz="2400" dirty="0"/>
              <a:t> – Pavão (2023) </a:t>
            </a:r>
          </a:p>
        </p:txBody>
      </p:sp>
      <p:graphicFrame>
        <p:nvGraphicFramePr>
          <p:cNvPr id="12" name="Espaço Reservado para Conteúdo 11">
            <a:extLst>
              <a:ext uri="{FF2B5EF4-FFF2-40B4-BE49-F238E27FC236}">
                <a16:creationId xmlns:a16="http://schemas.microsoft.com/office/drawing/2014/main" id="{5732F5E6-69FF-559A-C2AE-E700AF748C8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16301" y="2271622"/>
          <a:ext cx="6808900" cy="3225849"/>
        </p:xfrm>
        <a:graphic>
          <a:graphicData uri="http://schemas.openxmlformats.org/drawingml/2006/table">
            <a:tbl>
              <a:tblPr firstRow="1" firstCol="1" bandRow="1"/>
              <a:tblGrid>
                <a:gridCol w="1718235">
                  <a:extLst>
                    <a:ext uri="{9D8B030D-6E8A-4147-A177-3AD203B41FA5}">
                      <a16:colId xmlns:a16="http://schemas.microsoft.com/office/drawing/2014/main" val="1506150108"/>
                    </a:ext>
                  </a:extLst>
                </a:gridCol>
                <a:gridCol w="5090665">
                  <a:extLst>
                    <a:ext uri="{9D8B030D-6E8A-4147-A177-3AD203B41FA5}">
                      <a16:colId xmlns:a16="http://schemas.microsoft.com/office/drawing/2014/main" val="3369270827"/>
                    </a:ext>
                  </a:extLst>
                </a:gridCol>
              </a:tblGrid>
              <a:tr h="755930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Objetivos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Aplicar IA simples para prever preços de ações de forma acessível a qualquer investidor.</a:t>
                      </a:r>
                      <a:endParaRPr lang="pt-BR" sz="16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517052"/>
                  </a:ext>
                </a:extLst>
              </a:tr>
              <a:tr h="479725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Principais funcionalidades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Previsão usando ETS; análise exploratória; suporte à decisão.</a:t>
                      </a:r>
                      <a:endParaRPr lang="pt-BR" sz="16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2842953"/>
                  </a:ext>
                </a:extLst>
              </a:tr>
              <a:tr h="724999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Ferramentas de desenvolvimento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Python, ETS, dados PETR4.</a:t>
                      </a:r>
                      <a:endParaRPr lang="pt-BR" sz="16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274934"/>
                  </a:ext>
                </a:extLst>
              </a:tr>
              <a:tr h="1257240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Resultados e conclusões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ETS mostrou boa capacidade de prever tendências.</a:t>
                      </a:r>
                    </a:p>
                    <a:p>
                      <a:r>
                        <a:rPr lang="pt-BR" sz="1600" dirty="0"/>
                        <a:t>Demonstra que IA acessível pode ajudar investidores iniciantes.</a:t>
                      </a:r>
                    </a:p>
                    <a:p>
                      <a:r>
                        <a:rPr lang="pt-BR" sz="1600" dirty="0"/>
                        <a:t>Abordagem prática e de baixo custo técnico.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5837926"/>
                  </a:ext>
                </a:extLst>
              </a:tr>
            </a:tbl>
          </a:graphicData>
        </a:graphic>
      </p:graphicFrame>
      <p:sp>
        <p:nvSpPr>
          <p:cNvPr id="14" name="CaixaDeTexto 13">
            <a:extLst>
              <a:ext uri="{FF2B5EF4-FFF2-40B4-BE49-F238E27FC236}">
                <a16:creationId xmlns:a16="http://schemas.microsoft.com/office/drawing/2014/main" id="{BE444C65-6C0C-10EB-AF54-C8045361A444}"/>
              </a:ext>
            </a:extLst>
          </p:cNvPr>
          <p:cNvSpPr txBox="1"/>
          <p:nvPr/>
        </p:nvSpPr>
        <p:spPr>
          <a:xfrm>
            <a:off x="7373628" y="5758250"/>
            <a:ext cx="46065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Motivo</a:t>
            </a:r>
            <a:r>
              <a:rPr lang="pt-BR" dirty="0"/>
              <a:t>: Demonstra uso real, simples e direto de IA para previsão financeira.</a:t>
            </a:r>
            <a:endParaRPr lang="pt-BR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3478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CB3A2-D105-AD22-07CD-5A4C5E737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285FDA-083A-7136-5F96-90EC8D011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5783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Trabalhos correlatos (3/5)</a:t>
            </a: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30FC7FE6-D658-0F24-A64E-F6810B1C8B02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C3684B-40A7-1BC8-FF26-C7D42A193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15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24A9991-64FF-A2DB-0AA6-6723AE8BC415}"/>
              </a:ext>
            </a:extLst>
          </p:cNvPr>
          <p:cNvSpPr txBox="1"/>
          <p:nvPr/>
        </p:nvSpPr>
        <p:spPr>
          <a:xfrm>
            <a:off x="227161" y="1199329"/>
            <a:ext cx="1174055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200" b="1" dirty="0"/>
              <a:t>Título</a:t>
            </a:r>
            <a:r>
              <a:rPr lang="pt-BR" sz="2200" dirty="0"/>
              <a:t>: </a:t>
            </a:r>
            <a:r>
              <a:rPr lang="pt-BR" sz="2400" i="1" dirty="0"/>
              <a:t>IA transformando trading e análise de mercado</a:t>
            </a:r>
            <a:r>
              <a:rPr lang="pt-BR" sz="2400" dirty="0"/>
              <a:t> – Slack (2024/2025)</a:t>
            </a:r>
            <a:endParaRPr lang="pt-BR" sz="2200" dirty="0">
              <a:solidFill>
                <a:schemeClr val="tx1">
                  <a:lumMod val="50000"/>
                  <a:lumOff val="50000"/>
                </a:schemeClr>
              </a:solidFill>
              <a:cs typeface="Calibri" panose="020F0502020204030204"/>
            </a:endParaRPr>
          </a:p>
        </p:txBody>
      </p:sp>
      <p:graphicFrame>
        <p:nvGraphicFramePr>
          <p:cNvPr id="12" name="Espaço Reservado para Conteúdo 11">
            <a:extLst>
              <a:ext uri="{FF2B5EF4-FFF2-40B4-BE49-F238E27FC236}">
                <a16:creationId xmlns:a16="http://schemas.microsoft.com/office/drawing/2014/main" id="{BE8B5789-1761-1C7D-0F80-7B547B4E3DA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72767" y="1937533"/>
          <a:ext cx="6960884" cy="4278803"/>
        </p:xfrm>
        <a:graphic>
          <a:graphicData uri="http://schemas.openxmlformats.org/drawingml/2006/table">
            <a:tbl>
              <a:tblPr firstRow="1" firstCol="1" bandRow="1"/>
              <a:tblGrid>
                <a:gridCol w="1570282">
                  <a:extLst>
                    <a:ext uri="{9D8B030D-6E8A-4147-A177-3AD203B41FA5}">
                      <a16:colId xmlns:a16="http://schemas.microsoft.com/office/drawing/2014/main" val="1086249236"/>
                    </a:ext>
                  </a:extLst>
                </a:gridCol>
                <a:gridCol w="5390602">
                  <a:extLst>
                    <a:ext uri="{9D8B030D-6E8A-4147-A177-3AD203B41FA5}">
                      <a16:colId xmlns:a16="http://schemas.microsoft.com/office/drawing/2014/main" val="704334102"/>
                    </a:ext>
                  </a:extLst>
                </a:gridCol>
              </a:tblGrid>
              <a:tr h="539234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Objetivos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Explorar como IA vem sendo usada no trading moderno.</a:t>
                      </a:r>
                      <a:endParaRPr lang="pt-BR" sz="16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4086506"/>
                  </a:ext>
                </a:extLst>
              </a:tr>
              <a:tr h="456275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Principais funcionalidades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Trading algorítmico</a:t>
                      </a:r>
                    </a:p>
                    <a:p>
                      <a:r>
                        <a:rPr lang="pt-BR" sz="1600" dirty="0"/>
                        <a:t>HFT</a:t>
                      </a:r>
                    </a:p>
                    <a:p>
                      <a:r>
                        <a:rPr lang="pt-BR" sz="1600" dirty="0"/>
                        <a:t>Análise preditiva</a:t>
                      </a:r>
                    </a:p>
                    <a:p>
                      <a:r>
                        <a:rPr lang="pt-BR" sz="1600" dirty="0"/>
                        <a:t>Análise de sentimento</a:t>
                      </a:r>
                    </a:p>
                    <a:p>
                      <a:r>
                        <a:rPr lang="pt-BR" sz="1600" dirty="0"/>
                        <a:t>Gestão de risco</a:t>
                      </a:r>
                    </a:p>
                    <a:p>
                      <a:r>
                        <a:rPr lang="pt-BR" sz="1600" dirty="0"/>
                        <a:t>Otimização de carteiras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243216"/>
                  </a:ext>
                </a:extLst>
              </a:tr>
              <a:tr h="898723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Ferramentas de desenvolvimento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Técnicas de ML, algoritmos de trading, ferramentas como </a:t>
                      </a:r>
                      <a:r>
                        <a:rPr lang="pt-BR" sz="1600" dirty="0" err="1"/>
                        <a:t>InvestingPro</a:t>
                      </a:r>
                      <a:r>
                        <a:rPr lang="pt-BR" sz="1600" dirty="0"/>
                        <a:t>.</a:t>
                      </a:r>
                      <a:endParaRPr lang="pt-BR" sz="16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422988"/>
                  </a:ext>
                </a:extLst>
              </a:tr>
              <a:tr h="1377806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Resultados e conclusões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IA aumenta eficiência e velocidade de análise.</a:t>
                      </a:r>
                    </a:p>
                    <a:p>
                      <a:r>
                        <a:rPr lang="pt-BR" sz="1600" dirty="0"/>
                        <a:t>Robôs assessores e filtros inteligentes ajudam na seleção de ativos.</a:t>
                      </a:r>
                    </a:p>
                    <a:p>
                      <a:r>
                        <a:rPr lang="pt-BR" sz="1600" dirty="0"/>
                        <a:t>Mostra que IA democratiza acesso a estratégias avançadas.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1619549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0B13A317-5AB5-53BE-7217-E4A977CE2976}"/>
              </a:ext>
            </a:extLst>
          </p:cNvPr>
          <p:cNvSpPr txBox="1"/>
          <p:nvPr/>
        </p:nvSpPr>
        <p:spPr>
          <a:xfrm>
            <a:off x="7661177" y="5571345"/>
            <a:ext cx="41032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Motivo</a:t>
            </a:r>
            <a:r>
              <a:rPr lang="pt-BR" dirty="0"/>
              <a:t>: Abrange várias técnicas, reforçando o impacto amplo da IA no mercado financeiro.</a:t>
            </a:r>
          </a:p>
        </p:txBody>
      </p:sp>
    </p:spTree>
    <p:extLst>
      <p:ext uri="{BB962C8B-B14F-4D97-AF65-F5344CB8AC3E}">
        <p14:creationId xmlns:p14="http://schemas.microsoft.com/office/powerpoint/2010/main" val="28551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298FF-4695-E3EE-16BE-0A3F5DC8E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C463BA-C27B-7EC3-AF0E-136561F93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5783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Trabalhos correlatos (4/5)</a:t>
            </a: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313C79A2-647F-6441-4BB7-96575BB180D7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0C4C6D-AB9C-3D10-0B94-7BCA6A8D8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16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0B77138-EE7A-371D-EC1A-D86830D7E075}"/>
              </a:ext>
            </a:extLst>
          </p:cNvPr>
          <p:cNvSpPr txBox="1"/>
          <p:nvPr/>
        </p:nvSpPr>
        <p:spPr>
          <a:xfrm>
            <a:off x="225724" y="1203108"/>
            <a:ext cx="1174055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200" b="1" dirty="0"/>
              <a:t>Título</a:t>
            </a:r>
            <a:r>
              <a:rPr lang="pt-BR" sz="2200" dirty="0"/>
              <a:t>: </a:t>
            </a:r>
            <a:r>
              <a:rPr lang="pt-BR" sz="2400" i="1" dirty="0"/>
              <a:t>Impacto da IA na gestão financeira de empresas brasileiras</a:t>
            </a:r>
            <a:r>
              <a:rPr lang="pt-BR" sz="2400" dirty="0"/>
              <a:t> – Públio (2022)</a:t>
            </a:r>
            <a:endParaRPr lang="pt-BR" sz="2200" dirty="0">
              <a:solidFill>
                <a:schemeClr val="tx1">
                  <a:lumMod val="50000"/>
                  <a:lumOff val="50000"/>
                </a:schemeClr>
              </a:solidFill>
              <a:cs typeface="Calibri" panose="020F0502020204030204"/>
            </a:endParaRPr>
          </a:p>
        </p:txBody>
      </p:sp>
      <p:graphicFrame>
        <p:nvGraphicFramePr>
          <p:cNvPr id="12" name="Espaço Reservado para Conteúdo 11">
            <a:extLst>
              <a:ext uri="{FF2B5EF4-FFF2-40B4-BE49-F238E27FC236}">
                <a16:creationId xmlns:a16="http://schemas.microsoft.com/office/drawing/2014/main" id="{25F0C1BB-C2C3-A609-70AF-1B91B2456B2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25724" y="2050024"/>
          <a:ext cx="6960884" cy="3791123"/>
        </p:xfrm>
        <a:graphic>
          <a:graphicData uri="http://schemas.openxmlformats.org/drawingml/2006/table">
            <a:tbl>
              <a:tblPr firstRow="1" firstCol="1" bandRow="1"/>
              <a:tblGrid>
                <a:gridCol w="1570282">
                  <a:extLst>
                    <a:ext uri="{9D8B030D-6E8A-4147-A177-3AD203B41FA5}">
                      <a16:colId xmlns:a16="http://schemas.microsoft.com/office/drawing/2014/main" val="1086249236"/>
                    </a:ext>
                  </a:extLst>
                </a:gridCol>
                <a:gridCol w="5390602">
                  <a:extLst>
                    <a:ext uri="{9D8B030D-6E8A-4147-A177-3AD203B41FA5}">
                      <a16:colId xmlns:a16="http://schemas.microsoft.com/office/drawing/2014/main" val="704334102"/>
                    </a:ext>
                  </a:extLst>
                </a:gridCol>
              </a:tblGrid>
              <a:tr h="539234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Objetivos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Investigar percepção e uso real de IA na gestão financeira corporativa.</a:t>
                      </a:r>
                      <a:endParaRPr lang="pt-BR" sz="16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4086506"/>
                  </a:ext>
                </a:extLst>
              </a:tr>
              <a:tr h="456275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Principais funcionalidades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Análise de dados</a:t>
                      </a:r>
                    </a:p>
                    <a:p>
                      <a:r>
                        <a:rPr lang="pt-BR" sz="1600" dirty="0"/>
                        <a:t>Detecção de fraudes</a:t>
                      </a:r>
                    </a:p>
                    <a:p>
                      <a:r>
                        <a:rPr lang="pt-BR" sz="1600" dirty="0"/>
                        <a:t>Avaliação de riscos</a:t>
                      </a:r>
                    </a:p>
                    <a:p>
                      <a:r>
                        <a:rPr lang="pt-BR" sz="1600" dirty="0"/>
                        <a:t>Automação de processos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243216"/>
                  </a:ext>
                </a:extLst>
              </a:tr>
              <a:tr h="898723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Ferramentas de desenvolvimento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Pesquisa de campo com profissionais + revisão bibliográfica.</a:t>
                      </a:r>
                      <a:endParaRPr lang="pt-BR" sz="16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422988"/>
                  </a:ext>
                </a:extLst>
              </a:tr>
              <a:tr h="1377806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Resultados e conclusões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80% consideram IA essencial.</a:t>
                      </a:r>
                    </a:p>
                    <a:p>
                      <a:r>
                        <a:rPr lang="pt-BR" sz="1600" dirty="0"/>
                        <a:t>70% reportam ganhos reais (custo, precisão, eficiência).</a:t>
                      </a:r>
                    </a:p>
                    <a:p>
                      <a:r>
                        <a:rPr lang="pt-BR" sz="1600" dirty="0"/>
                        <a:t>Desafios: segurança, ética, capacitação.</a:t>
                      </a:r>
                    </a:p>
                    <a:p>
                      <a:endParaRPr lang="pt-BR" sz="1600" dirty="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1619549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BF664246-C7EC-368B-A4BC-B9F0490D9DBB}"/>
              </a:ext>
            </a:extLst>
          </p:cNvPr>
          <p:cNvSpPr txBox="1"/>
          <p:nvPr/>
        </p:nvSpPr>
        <p:spPr>
          <a:xfrm>
            <a:off x="7661177" y="5571345"/>
            <a:ext cx="4103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Motivo</a:t>
            </a:r>
            <a:r>
              <a:rPr lang="pt-BR" dirty="0"/>
              <a:t>: Complementa o tema mostrando impacto prático e empresarial da IA.</a:t>
            </a:r>
          </a:p>
        </p:txBody>
      </p:sp>
    </p:spTree>
    <p:extLst>
      <p:ext uri="{BB962C8B-B14F-4D97-AF65-F5344CB8AC3E}">
        <p14:creationId xmlns:p14="http://schemas.microsoft.com/office/powerpoint/2010/main" val="2200737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97BB2-2B08-D459-F25A-43E41303D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B95D8-2922-04A4-A395-8086454C0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5783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Trabalhos correlatos (5/5)</a:t>
            </a: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5CED6E86-1110-CD0B-CDAE-CA0CE6E680CF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FFFC28E-6879-D002-F5E5-F8B3B4513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17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16FF070-57E6-4692-9F14-A02C8F33606B}"/>
              </a:ext>
            </a:extLst>
          </p:cNvPr>
          <p:cNvSpPr txBox="1"/>
          <p:nvPr/>
        </p:nvSpPr>
        <p:spPr>
          <a:xfrm>
            <a:off x="225724" y="1203108"/>
            <a:ext cx="11740551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200" b="1" dirty="0"/>
              <a:t>Título</a:t>
            </a:r>
            <a:r>
              <a:rPr lang="pt-BR" sz="2200" dirty="0"/>
              <a:t>: </a:t>
            </a:r>
            <a:r>
              <a:rPr lang="pt-BR" sz="2400" i="1" dirty="0" err="1"/>
              <a:t>EvoFolio</a:t>
            </a:r>
            <a:r>
              <a:rPr lang="pt-BR" sz="2400" i="1" dirty="0"/>
              <a:t>: otimização de portfólios com NSGA-II e preferências do investidor</a:t>
            </a:r>
            <a:r>
              <a:rPr lang="pt-BR" sz="2400" dirty="0"/>
              <a:t> – Guarino (2024)</a:t>
            </a:r>
            <a:endParaRPr lang="pt-BR" sz="2200" dirty="0">
              <a:solidFill>
                <a:schemeClr val="tx1">
                  <a:lumMod val="50000"/>
                  <a:lumOff val="50000"/>
                </a:schemeClr>
              </a:solidFill>
              <a:cs typeface="Calibri" panose="020F0502020204030204"/>
            </a:endParaRPr>
          </a:p>
        </p:txBody>
      </p:sp>
      <p:graphicFrame>
        <p:nvGraphicFramePr>
          <p:cNvPr id="12" name="Espaço Reservado para Conteúdo 11">
            <a:extLst>
              <a:ext uri="{FF2B5EF4-FFF2-40B4-BE49-F238E27FC236}">
                <a16:creationId xmlns:a16="http://schemas.microsoft.com/office/drawing/2014/main" id="{1B60FC8B-AB8D-2927-7D59-F85A25C7F84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70293" y="2408917"/>
          <a:ext cx="6960884" cy="3791123"/>
        </p:xfrm>
        <a:graphic>
          <a:graphicData uri="http://schemas.openxmlformats.org/drawingml/2006/table">
            <a:tbl>
              <a:tblPr firstRow="1" firstCol="1" bandRow="1"/>
              <a:tblGrid>
                <a:gridCol w="1570282">
                  <a:extLst>
                    <a:ext uri="{9D8B030D-6E8A-4147-A177-3AD203B41FA5}">
                      <a16:colId xmlns:a16="http://schemas.microsoft.com/office/drawing/2014/main" val="1086249236"/>
                    </a:ext>
                  </a:extLst>
                </a:gridCol>
                <a:gridCol w="5390602">
                  <a:extLst>
                    <a:ext uri="{9D8B030D-6E8A-4147-A177-3AD203B41FA5}">
                      <a16:colId xmlns:a16="http://schemas.microsoft.com/office/drawing/2014/main" val="704334102"/>
                    </a:ext>
                  </a:extLst>
                </a:gridCol>
              </a:tblGrid>
              <a:tr h="539234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Objetivos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Criar método evolutivo multiobjetivo para otimização de portfólios.</a:t>
                      </a:r>
                      <a:endParaRPr lang="pt-BR" sz="16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4086506"/>
                  </a:ext>
                </a:extLst>
              </a:tr>
              <a:tr h="456275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Principais funcionalidades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NSGA-II</a:t>
                      </a:r>
                    </a:p>
                    <a:p>
                      <a:r>
                        <a:rPr lang="pt-BR" sz="1600" dirty="0"/>
                        <a:t>Maximização de retorno e minimização de risco</a:t>
                      </a:r>
                    </a:p>
                    <a:p>
                      <a:r>
                        <a:rPr lang="pt-BR" sz="1600" dirty="0"/>
                        <a:t>Preferências (“</a:t>
                      </a:r>
                      <a:r>
                        <a:rPr lang="pt-BR" sz="1600" dirty="0" err="1"/>
                        <a:t>views</a:t>
                      </a:r>
                      <a:r>
                        <a:rPr lang="pt-BR" sz="1600" dirty="0"/>
                        <a:t>”) personalizadas</a:t>
                      </a:r>
                    </a:p>
                    <a:p>
                      <a:r>
                        <a:rPr lang="pt-BR" sz="1600" dirty="0"/>
                        <a:t>Elitismo interativo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243216"/>
                  </a:ext>
                </a:extLst>
              </a:tr>
              <a:tr h="898723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Ferramentas de desenvolvimento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Algoritmos evolutivos, base de 47 ativos (2020–2022).</a:t>
                      </a:r>
                      <a:endParaRPr lang="pt-BR" sz="1600" dirty="0">
                        <a:effectLst/>
                        <a:latin typeface="Times New Roman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422988"/>
                  </a:ext>
                </a:extLst>
              </a:tr>
              <a:tr h="1377806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Times New Roman"/>
                          <a:ea typeface="Times New Roman" panose="02020603050405020304" pitchFamily="18" charset="0"/>
                        </a:rPr>
                        <a:t>Resultados e conclusões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Redução significativa do risco quando o investidor guia o algoritmo.</a:t>
                      </a:r>
                    </a:p>
                    <a:p>
                      <a:r>
                        <a:rPr lang="pt-BR" sz="1600" dirty="0"/>
                        <a:t>Supera agentes de Aprendizado por Reforço em desempenho.</a:t>
                      </a:r>
                    </a:p>
                    <a:p>
                      <a:r>
                        <a:rPr lang="pt-BR" sz="1600" dirty="0"/>
                        <a:t>Modelo robusto mesmo em período de alta volatilidade.</a:t>
                      </a:r>
                    </a:p>
                    <a:p>
                      <a:endParaRPr lang="pt-BR" sz="1600" dirty="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1619549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B2A857A6-C5FD-0657-A22B-2BAC0506C76F}"/>
              </a:ext>
            </a:extLst>
          </p:cNvPr>
          <p:cNvSpPr txBox="1"/>
          <p:nvPr/>
        </p:nvSpPr>
        <p:spPr>
          <a:xfrm>
            <a:off x="7661177" y="5571345"/>
            <a:ext cx="41032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Motivo</a:t>
            </a:r>
            <a:r>
              <a:rPr lang="pt-BR" dirty="0"/>
              <a:t>: Fortemente alinhado à personalização de portfólios e uso prático de algoritmos genéticos.</a:t>
            </a:r>
          </a:p>
        </p:txBody>
      </p:sp>
    </p:spTree>
    <p:extLst>
      <p:ext uri="{BB962C8B-B14F-4D97-AF65-F5344CB8AC3E}">
        <p14:creationId xmlns:p14="http://schemas.microsoft.com/office/powerpoint/2010/main" val="38838039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B6AC5-3682-24DF-C3BC-65A568480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016D26-A30E-37E6-3A3C-AB2242F83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Desenvolvimento</a:t>
            </a:r>
            <a:br>
              <a:rPr lang="pt-BR" dirty="0"/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Diagrama de arquitetura</a:t>
            </a: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87C48F0B-220C-5281-482A-A1DC37DABBEA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8DF9AE0-988D-9EEC-A4E5-87286E64F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18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05995B7-BE19-9AEC-30E9-9FBED323FA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2385" y="1690688"/>
            <a:ext cx="7607227" cy="42774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482884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C1FC8-2F24-897D-8806-FF8A2E1DC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ED1411-65B1-2F88-7CE9-54529E7BD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Desenvolvimento</a:t>
            </a:r>
            <a:br>
              <a:rPr lang="pt-BR" dirty="0"/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Modelo de Otimização</a:t>
            </a:r>
            <a:endParaRPr lang="pt-BR" sz="3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9007F7-70A9-95EC-1402-C3225DAB3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873" y="1828450"/>
            <a:ext cx="10674927" cy="807632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1400"/>
              </a:spcBef>
              <a:buNone/>
            </a:pPr>
            <a:r>
              <a:rPr lang="pt-BR" sz="2400" b="1" dirty="0"/>
              <a:t>Requisitos funcionais</a:t>
            </a:r>
            <a:endParaRPr lang="pt-BR" sz="2400" b="1" dirty="0">
              <a:highlight>
                <a:srgbClr val="FFFF00"/>
              </a:highlight>
            </a:endParaRP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6FA06F96-069D-5FAF-B1B9-BADEA255DD86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B41271-4F7E-F09C-40AF-B9BB19B6E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19</a:t>
            </a:fld>
            <a:endParaRPr lang="pt-BR"/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39F2EF44-ABF3-0628-622A-36471CCD3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51576"/>
              </p:ext>
            </p:extLst>
          </p:nvPr>
        </p:nvGraphicFramePr>
        <p:xfrm>
          <a:off x="678872" y="2291736"/>
          <a:ext cx="10834255" cy="36701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34255">
                  <a:extLst>
                    <a:ext uri="{9D8B030D-6E8A-4147-A177-3AD203B41FA5}">
                      <a16:colId xmlns:a16="http://schemas.microsoft.com/office/drawing/2014/main" val="3975763982"/>
                    </a:ext>
                  </a:extLst>
                </a:gridCol>
              </a:tblGrid>
              <a:tr h="734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>
                          <a:effectLst/>
                        </a:rPr>
                        <a:t>RF01 – </a:t>
                      </a:r>
                      <a:r>
                        <a:rPr lang="pt-BR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Autenticar usuários através de credenciais seguras (</a:t>
                      </a:r>
                      <a:r>
                        <a:rPr lang="pt-BR" sz="2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email</a:t>
                      </a:r>
                      <a:r>
                        <a:rPr lang="pt-BR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 senha) e gerar </a:t>
                      </a:r>
                      <a:r>
                        <a:rPr lang="pt-BR" sz="20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tokens</a:t>
                      </a:r>
                      <a:r>
                        <a:rPr lang="pt-BR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JWT para manutenção de sessões autorizadas </a:t>
                      </a:r>
                      <a:endParaRPr lang="pt-B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98916179"/>
                  </a:ext>
                </a:extLst>
              </a:tr>
              <a:tr h="734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>
                          <a:effectLst/>
                        </a:rPr>
                        <a:t>RF02 – </a:t>
                      </a:r>
                      <a:r>
                        <a:rPr lang="pt-BR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coletar dados históricos mensais de preços via API Yahoo </a:t>
                      </a:r>
                      <a:r>
                        <a:rPr lang="pt-BR" sz="2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Finance</a:t>
                      </a:r>
                      <a:r>
                        <a:rPr lang="pt-BR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 armazenar séries temporais com cálculo de variações percentuais </a:t>
                      </a:r>
                      <a:endParaRPr lang="pt-B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84119021"/>
                  </a:ext>
                </a:extLst>
              </a:tr>
              <a:tr h="734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>
                          <a:effectLst/>
                        </a:rPr>
                        <a:t>RF03 – </a:t>
                      </a:r>
                      <a:r>
                        <a:rPr lang="pt-BR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otimizar carteiras através do algoritmo R-NSGA-II considerando maximização de retorno, minimização de variância e minimização de </a:t>
                      </a:r>
                      <a:r>
                        <a:rPr lang="pt-BR" sz="2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CVaR</a:t>
                      </a:r>
                      <a:endParaRPr lang="pt-B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0788081"/>
                  </a:ext>
                </a:extLst>
              </a:tr>
              <a:tr h="734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>
                          <a:effectLst/>
                        </a:rPr>
                        <a:t>RF04 – </a:t>
                      </a:r>
                      <a:r>
                        <a:rPr lang="pt-BR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aplicar perfis de risco personalizados (conservador, moderado e arrojado), restrições de ativos e limitação na quantidade de ativos da carteira</a:t>
                      </a:r>
                      <a:endParaRPr lang="pt-B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79346521"/>
                  </a:ext>
                </a:extLst>
              </a:tr>
              <a:tr h="734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>
                          <a:effectLst/>
                        </a:rPr>
                        <a:t>RF05 – </a:t>
                      </a:r>
                      <a:r>
                        <a:rPr lang="pt-BR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realizar simulação de </a:t>
                      </a:r>
                      <a:r>
                        <a:rPr lang="pt-BR" sz="200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backtest</a:t>
                      </a:r>
                      <a:r>
                        <a:rPr lang="pt-BR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comparando performance histórica das carteiras otimizadas com </a:t>
                      </a:r>
                      <a:r>
                        <a:rPr lang="pt-BR" sz="20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benchmark</a:t>
                      </a:r>
                      <a:r>
                        <a:rPr lang="pt-BR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mercado </a:t>
                      </a:r>
                      <a:endParaRPr lang="pt-B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88987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79915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46269-9ABA-93F6-22D0-CC5F86576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0C19E7-D84D-DDE8-834E-692F7A93A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Desenvolvimento</a:t>
            </a:r>
            <a:br>
              <a:rPr lang="pt-BR" dirty="0"/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Modelo de Otimização</a:t>
            </a:r>
            <a:endParaRPr lang="pt-BR" sz="3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2A0CCA-83F9-DFE5-B86A-AD561B4F2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873" y="1828450"/>
            <a:ext cx="10674927" cy="807632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1400"/>
              </a:spcBef>
              <a:buNone/>
            </a:pPr>
            <a:r>
              <a:rPr lang="pt-BR" sz="2400" b="1" dirty="0"/>
              <a:t>Requisitos não funcionais</a:t>
            </a:r>
            <a:endParaRPr lang="pt-BR" sz="2400" b="1" dirty="0">
              <a:highlight>
                <a:srgbClr val="FFFF00"/>
              </a:highlight>
            </a:endParaRP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55B82025-0098-B83C-7323-9C5AFD686CD3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972BB7B-E926-3585-77CE-A692D347C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20</a:t>
            </a:fld>
            <a:endParaRPr lang="pt-BR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D20BA30B-3E77-4B9F-BCB9-B38CA0343F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401762"/>
              </p:ext>
            </p:extLst>
          </p:nvPr>
        </p:nvGraphicFramePr>
        <p:xfrm>
          <a:off x="678873" y="2259701"/>
          <a:ext cx="10834254" cy="24220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34254">
                  <a:extLst>
                    <a:ext uri="{9D8B030D-6E8A-4147-A177-3AD203B41FA5}">
                      <a16:colId xmlns:a16="http://schemas.microsoft.com/office/drawing/2014/main" val="3975763982"/>
                    </a:ext>
                  </a:extLst>
                </a:gridCol>
              </a:tblGrid>
              <a:tr h="574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>
                          <a:effectLst/>
                        </a:rPr>
                        <a:t>RF01 – </a:t>
                      </a:r>
                      <a:r>
                        <a:rPr lang="pt-BR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utilizar linguagem Python com </a:t>
                      </a:r>
                      <a:r>
                        <a:rPr lang="pt-BR" sz="20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framework</a:t>
                      </a:r>
                      <a:r>
                        <a:rPr lang="pt-BR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2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Flask</a:t>
                      </a:r>
                      <a:r>
                        <a:rPr lang="pt-BR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para API REST </a:t>
                      </a:r>
                      <a:endParaRPr lang="pt-B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98916179"/>
                  </a:ext>
                </a:extLst>
              </a:tr>
              <a:tr h="574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>
                          <a:effectLst/>
                        </a:rPr>
                        <a:t>RF02 – </a:t>
                      </a:r>
                      <a:r>
                        <a:rPr lang="pt-BR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utilizar o PostgreSQL como banco de dados relacional </a:t>
                      </a:r>
                      <a:endParaRPr lang="pt-B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84119021"/>
                  </a:ext>
                </a:extLst>
              </a:tr>
              <a:tr h="574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>
                          <a:effectLst/>
                        </a:rPr>
                        <a:t>RF03 – </a:t>
                      </a:r>
                      <a:r>
                        <a:rPr lang="pt-BR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utilizar a biblioteca </a:t>
                      </a:r>
                      <a:r>
                        <a:rPr lang="pt-BR" sz="2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pymoo</a:t>
                      </a:r>
                      <a:r>
                        <a:rPr lang="pt-BR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para realizar o processamento do AGMO</a:t>
                      </a:r>
                      <a:endParaRPr lang="pt-B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0788081"/>
                  </a:ext>
                </a:extLst>
              </a:tr>
              <a:tr h="698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>
                          <a:effectLst/>
                        </a:rPr>
                        <a:t>RF03 – </a:t>
                      </a:r>
                      <a:r>
                        <a:rPr lang="pt-BR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 capaz de realizar a otimização em um tempo máximo de um minuto</a:t>
                      </a:r>
                      <a:endParaRPr lang="pt-B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793465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27509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5C729-41B5-78C5-B92F-030589D5E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AEA410-7D48-E0B2-D151-3EDED4518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Desenvolvimento</a:t>
            </a:r>
            <a:br>
              <a:rPr lang="pt-BR" dirty="0"/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Banco de dados</a:t>
            </a:r>
            <a:endParaRPr lang="pt-BR" sz="3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96AE67DA-A039-AE8A-F702-A0D2F81B8104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594504D-89B5-C152-71EB-BFD85DFC7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21</a:t>
            </a:fld>
            <a:endParaRPr lang="pt-BR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8307E4D0-594B-E0B4-7134-ECB54AD08344}"/>
              </a:ext>
            </a:extLst>
          </p:cNvPr>
          <p:cNvSpPr txBox="1">
            <a:spLocks/>
          </p:cNvSpPr>
          <p:nvPr/>
        </p:nvSpPr>
        <p:spPr bwMode="auto">
          <a:xfrm>
            <a:off x="838200" y="1951066"/>
            <a:ext cx="10834254" cy="3339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spcBef>
                <a:spcPts val="1400"/>
              </a:spcBef>
              <a:buNone/>
            </a:pPr>
            <a:r>
              <a:rPr lang="pt-BR" sz="2000" b="1" dirty="0"/>
              <a:t>Banco de dados PostgreSQL:</a:t>
            </a:r>
            <a:endParaRPr lang="pt-BR" sz="2000" b="1" dirty="0">
              <a:highlight>
                <a:srgbClr val="FFFF00"/>
              </a:highlight>
            </a:endParaRPr>
          </a:p>
          <a:p>
            <a:pPr>
              <a:spcBef>
                <a:spcPts val="1400"/>
              </a:spcBef>
            </a:pPr>
            <a:r>
              <a:rPr lang="pt-BR" sz="2200" dirty="0"/>
              <a:t>Banco de dados relacional robusto e confiável</a:t>
            </a:r>
          </a:p>
          <a:p>
            <a:pPr>
              <a:spcBef>
                <a:spcPts val="1400"/>
              </a:spcBef>
            </a:pPr>
            <a:r>
              <a:rPr lang="pt-BR" sz="2200" dirty="0"/>
              <a:t>Ideal para sistemas que exigem consistência e integridade dos dados</a:t>
            </a:r>
            <a:endParaRPr lang="pt-BR" sz="2400" dirty="0"/>
          </a:p>
          <a:p>
            <a:pPr marL="0" indent="0" algn="just">
              <a:spcBef>
                <a:spcPts val="1400"/>
              </a:spcBef>
              <a:buFontTx/>
              <a:buNone/>
            </a:pPr>
            <a:r>
              <a:rPr lang="pt-BR" sz="2200" b="1" kern="0" dirty="0"/>
              <a:t>Vantagens do PostgreSQL:</a:t>
            </a:r>
          </a:p>
          <a:p>
            <a:pPr>
              <a:spcBef>
                <a:spcPts val="1400"/>
              </a:spcBef>
            </a:pPr>
            <a:r>
              <a:rPr lang="pt-BR" sz="2200" dirty="0"/>
              <a:t>Alta segurança e estabilidade em ambientes de produção</a:t>
            </a:r>
          </a:p>
          <a:p>
            <a:pPr>
              <a:spcBef>
                <a:spcPts val="1400"/>
              </a:spcBef>
            </a:pPr>
            <a:r>
              <a:rPr lang="pt-BR" sz="2200" dirty="0"/>
              <a:t>Bom desempenho mesmo com grande volume de registros</a:t>
            </a:r>
            <a:endParaRPr lang="pt-BR" sz="2400" b="1" kern="0" dirty="0">
              <a:highlight>
                <a:srgbClr val="FFFF00"/>
              </a:highlight>
            </a:endParaRPr>
          </a:p>
          <a:p>
            <a:pPr marL="0" indent="0" algn="just">
              <a:spcBef>
                <a:spcPts val="1400"/>
              </a:spcBef>
              <a:buFontTx/>
              <a:buNone/>
            </a:pPr>
            <a:endParaRPr lang="pt-BR" sz="2400" b="1" kern="0" dirty="0">
              <a:highlight>
                <a:srgbClr val="FFFF00"/>
              </a:highlight>
            </a:endParaRPr>
          </a:p>
          <a:p>
            <a:pPr marL="0" indent="0" algn="just">
              <a:spcBef>
                <a:spcPts val="1400"/>
              </a:spcBef>
              <a:buFontTx/>
              <a:buNone/>
            </a:pPr>
            <a:endParaRPr lang="pt-BR" sz="2400" b="1" kern="0" dirty="0">
              <a:highlight>
                <a:srgbClr val="FFFF00"/>
              </a:highlight>
            </a:endParaRPr>
          </a:p>
          <a:p>
            <a:pPr marL="0" indent="0" algn="just">
              <a:spcBef>
                <a:spcPts val="1400"/>
              </a:spcBef>
              <a:buFontTx/>
              <a:buNone/>
            </a:pPr>
            <a:endParaRPr lang="pt-BR" sz="2400" b="1" kern="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248735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D41B8-2D08-FC0C-A48B-E24506D49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E16F7E-1062-C185-5DC7-F9EF39676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40312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Desenvolvimento</a:t>
            </a:r>
            <a:br>
              <a:rPr lang="pt-BR" dirty="0"/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Banco de dados</a:t>
            </a:r>
            <a:endParaRPr lang="pt-BR" sz="3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3FFB7B0C-23F0-47F3-FF45-0CF43E07FA87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C1A5105-EABC-205C-5B9F-FA2C0167B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22</a:t>
            </a:fld>
            <a:endParaRPr lang="pt-BR"/>
          </a:p>
        </p:txBody>
      </p:sp>
      <p:pic>
        <p:nvPicPr>
          <p:cNvPr id="7" name="Imagem 6" descr="Diagrama&#10;&#10;O conteúdo gerado por IA pode estar incorreto.">
            <a:extLst>
              <a:ext uri="{FF2B5EF4-FFF2-40B4-BE49-F238E27FC236}">
                <a16:creationId xmlns:a16="http://schemas.microsoft.com/office/drawing/2014/main" id="{5232E0BE-BD3B-71B6-B30A-D071B9116C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7" t="3104" r="1225" b="1869"/>
          <a:stretch>
            <a:fillRect/>
          </a:stretch>
        </p:blipFill>
        <p:spPr bwMode="auto">
          <a:xfrm>
            <a:off x="2422546" y="1772983"/>
            <a:ext cx="7346906" cy="4505677"/>
          </a:xfrm>
          <a:prstGeom prst="rect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6280198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EDA0F-E888-264A-58ED-230C634C3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03305C-EBB1-6E2D-6D94-7BB4AEDA4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Desenvolvimento</a:t>
            </a:r>
            <a:br>
              <a:rPr lang="pt-BR" dirty="0">
                <a:highlight>
                  <a:srgbClr val="FFFF00"/>
                </a:highlight>
              </a:rPr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Extração de dados (1/2)</a:t>
            </a:r>
            <a:endParaRPr lang="pt-BR" sz="3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3E454F03-2ED0-3AD6-8D28-0419CBF15544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5D99E9D-2299-25CB-8CAC-DADD6B15E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23</a:t>
            </a:fld>
            <a:endParaRPr lang="pt-BR"/>
          </a:p>
        </p:txBody>
      </p:sp>
      <p:sp>
        <p:nvSpPr>
          <p:cNvPr id="12" name="Espaço Reservado para Conteúdo 2">
            <a:extLst>
              <a:ext uri="{FF2B5EF4-FFF2-40B4-BE49-F238E27FC236}">
                <a16:creationId xmlns:a16="http://schemas.microsoft.com/office/drawing/2014/main" id="{665DE8F4-C6FE-48FD-D798-3A57028B3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873" y="1828450"/>
            <a:ext cx="4908111" cy="1874870"/>
          </a:xfrm>
        </p:spPr>
        <p:txBody>
          <a:bodyPr>
            <a:normAutofit/>
          </a:bodyPr>
          <a:lstStyle/>
          <a:p>
            <a:r>
              <a:rPr lang="pt-BR" sz="2400" dirty="0"/>
              <a:t>Escolha do universo de ativos (IBX100)</a:t>
            </a:r>
          </a:p>
          <a:p>
            <a:r>
              <a:rPr lang="pt-BR" sz="2400" dirty="0"/>
              <a:t>Importar os ativos no sistema através de um arquivo .</a:t>
            </a:r>
            <a:r>
              <a:rPr lang="pt-BR" sz="2400" dirty="0" err="1"/>
              <a:t>csv</a:t>
            </a:r>
            <a:endParaRPr lang="pt-BR" sz="2400" dirty="0"/>
          </a:p>
          <a:p>
            <a:pPr algn="just">
              <a:spcBef>
                <a:spcPts val="1400"/>
              </a:spcBef>
            </a:pPr>
            <a:endParaRPr lang="pt-BR" sz="2400" dirty="0">
              <a:highlight>
                <a:srgbClr val="FFFF00"/>
              </a:highlight>
            </a:endParaRPr>
          </a:p>
        </p:txBody>
      </p:sp>
      <p:pic>
        <p:nvPicPr>
          <p:cNvPr id="13" name="Imagem 12" descr="Texto&#10;&#10;O conteúdo gerado por IA pode estar incorreto.">
            <a:extLst>
              <a:ext uri="{FF2B5EF4-FFF2-40B4-BE49-F238E27FC236}">
                <a16:creationId xmlns:a16="http://schemas.microsoft.com/office/drawing/2014/main" id="{2AAE80B4-5259-DF37-1197-B532223C83A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83"/>
          <a:stretch>
            <a:fillRect/>
          </a:stretch>
        </p:blipFill>
        <p:spPr bwMode="auto">
          <a:xfrm>
            <a:off x="5586984" y="1828450"/>
            <a:ext cx="5926143" cy="360109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072087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B3062-1D23-99DA-CA45-EDDE685AB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822531-B565-4774-083C-D573D4D6F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Desenvolvimento</a:t>
            </a:r>
            <a:br>
              <a:rPr lang="pt-BR" dirty="0">
                <a:highlight>
                  <a:srgbClr val="FFFF00"/>
                </a:highlight>
              </a:rPr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Extração de dados (2/2)</a:t>
            </a:r>
            <a:endParaRPr lang="pt-BR" sz="3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CB90EB2D-5133-B131-26AA-BF6151781D75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A3DC956-2659-36CD-A923-D129BD122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24</a:t>
            </a:fld>
            <a:endParaRPr lang="pt-BR"/>
          </a:p>
        </p:txBody>
      </p:sp>
      <p:sp>
        <p:nvSpPr>
          <p:cNvPr id="12" name="Espaço Reservado para Conteúdo 2">
            <a:extLst>
              <a:ext uri="{FF2B5EF4-FFF2-40B4-BE49-F238E27FC236}">
                <a16:creationId xmlns:a16="http://schemas.microsoft.com/office/drawing/2014/main" id="{91530038-7D84-6B92-1D24-47784001F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873" y="1828450"/>
            <a:ext cx="4908111" cy="1874870"/>
          </a:xfrm>
        </p:spPr>
        <p:txBody>
          <a:bodyPr>
            <a:normAutofit fontScale="92500"/>
          </a:bodyPr>
          <a:lstStyle/>
          <a:p>
            <a:r>
              <a:rPr lang="pt-BR" sz="2400" dirty="0"/>
              <a:t>Coleta dos preços históricos ajustados pelo </a:t>
            </a:r>
            <a:r>
              <a:rPr lang="pt-BR" sz="2400" dirty="0" err="1"/>
              <a:t>yfinance</a:t>
            </a:r>
            <a:r>
              <a:rPr lang="pt-BR" sz="2400" dirty="0"/>
              <a:t> (Date e Close)</a:t>
            </a:r>
          </a:p>
          <a:p>
            <a:r>
              <a:rPr lang="pt-BR" sz="2400" dirty="0"/>
              <a:t>Calculo da variação mensal (</a:t>
            </a:r>
            <a:r>
              <a:rPr lang="pt-BR" sz="2400" dirty="0" err="1"/>
              <a:t>Variation</a:t>
            </a:r>
            <a:r>
              <a:rPr lang="pt-BR" sz="2400" dirty="0"/>
              <a:t>)</a:t>
            </a:r>
          </a:p>
          <a:p>
            <a:r>
              <a:rPr lang="pt-BR" sz="2400" dirty="0"/>
              <a:t>Agendador noturno para atualizar às 23:00</a:t>
            </a:r>
          </a:p>
          <a:p>
            <a:pPr algn="just">
              <a:spcBef>
                <a:spcPts val="1400"/>
              </a:spcBef>
            </a:pPr>
            <a:endParaRPr lang="pt-BR" sz="2400" dirty="0">
              <a:highlight>
                <a:srgbClr val="FFFF00"/>
              </a:highlight>
            </a:endParaRPr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47182B91-9379-399A-807A-405444502A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75443"/>
              </p:ext>
            </p:extLst>
          </p:nvPr>
        </p:nvGraphicFramePr>
        <p:xfrm>
          <a:off x="5586984" y="1828450"/>
          <a:ext cx="5926143" cy="3877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9232">
                  <a:extLst>
                    <a:ext uri="{9D8B030D-6E8A-4147-A177-3AD203B41FA5}">
                      <a16:colId xmlns:a16="http://schemas.microsoft.com/office/drawing/2014/main" val="2694719678"/>
                    </a:ext>
                  </a:extLst>
                </a:gridCol>
                <a:gridCol w="1302371">
                  <a:extLst>
                    <a:ext uri="{9D8B030D-6E8A-4147-A177-3AD203B41FA5}">
                      <a16:colId xmlns:a16="http://schemas.microsoft.com/office/drawing/2014/main" val="3396729520"/>
                    </a:ext>
                  </a:extLst>
                </a:gridCol>
                <a:gridCol w="2314540">
                  <a:extLst>
                    <a:ext uri="{9D8B030D-6E8A-4147-A177-3AD203B41FA5}">
                      <a16:colId xmlns:a16="http://schemas.microsoft.com/office/drawing/2014/main" val="2968871095"/>
                    </a:ext>
                  </a:extLst>
                </a:gridCol>
              </a:tblGrid>
              <a:tr h="553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dirty="0">
                          <a:solidFill>
                            <a:schemeClr val="bg1"/>
                          </a:solidFill>
                          <a:effectLst/>
                        </a:rPr>
                        <a:t>Date</a:t>
                      </a:r>
                      <a:endParaRPr lang="pt-BR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dirty="0">
                          <a:solidFill>
                            <a:schemeClr val="bg1"/>
                          </a:solidFill>
                          <a:effectLst/>
                        </a:rPr>
                        <a:t>Close</a:t>
                      </a:r>
                      <a:endParaRPr lang="pt-BR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>
                          <a:solidFill>
                            <a:schemeClr val="bg1"/>
                          </a:solidFill>
                          <a:effectLst/>
                        </a:rPr>
                        <a:t>Variation</a:t>
                      </a:r>
                      <a:endParaRPr lang="pt-BR" sz="12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094489"/>
                  </a:ext>
                </a:extLst>
              </a:tr>
              <a:tr h="553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dirty="0">
                          <a:solidFill>
                            <a:schemeClr val="bg1"/>
                          </a:solidFill>
                          <a:effectLst/>
                        </a:rPr>
                        <a:t>2000-01-01</a:t>
                      </a:r>
                      <a:endParaRPr lang="pt-BR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>
                          <a:solidFill>
                            <a:schemeClr val="bg1"/>
                          </a:solidFill>
                          <a:effectLst/>
                        </a:rPr>
                        <a:t>0.43</a:t>
                      </a:r>
                      <a:endParaRPr lang="pt-BR" sz="12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pt-BR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699237"/>
                  </a:ext>
                </a:extLst>
              </a:tr>
              <a:tr h="553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dirty="0">
                          <a:solidFill>
                            <a:schemeClr val="bg1"/>
                          </a:solidFill>
                          <a:effectLst/>
                        </a:rPr>
                        <a:t>2000-02-01</a:t>
                      </a:r>
                      <a:endParaRPr lang="pt-BR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dirty="0">
                          <a:solidFill>
                            <a:schemeClr val="bg1"/>
                          </a:solidFill>
                          <a:effectLst/>
                        </a:rPr>
                        <a:t>0.40</a:t>
                      </a:r>
                      <a:endParaRPr lang="pt-BR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dirty="0">
                          <a:solidFill>
                            <a:schemeClr val="bg1"/>
                          </a:solidFill>
                          <a:effectLst/>
                        </a:rPr>
                        <a:t>-0.056963</a:t>
                      </a:r>
                      <a:endParaRPr lang="pt-BR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557933"/>
                  </a:ext>
                </a:extLst>
              </a:tr>
              <a:tr h="553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dirty="0">
                          <a:solidFill>
                            <a:schemeClr val="bg1"/>
                          </a:solidFill>
                          <a:effectLst/>
                        </a:rPr>
                        <a:t>2000-03-01</a:t>
                      </a:r>
                      <a:endParaRPr lang="pt-BR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dirty="0">
                          <a:solidFill>
                            <a:schemeClr val="bg1"/>
                          </a:solidFill>
                          <a:effectLst/>
                        </a:rPr>
                        <a:t>0.34</a:t>
                      </a:r>
                      <a:endParaRPr lang="pt-BR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>
                          <a:solidFill>
                            <a:schemeClr val="bg1"/>
                          </a:solidFill>
                          <a:effectLst/>
                        </a:rPr>
                        <a:t>-0.155704</a:t>
                      </a:r>
                      <a:endParaRPr lang="pt-BR" sz="12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171381"/>
                  </a:ext>
                </a:extLst>
              </a:tr>
              <a:tr h="553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dirty="0">
                          <a:solidFill>
                            <a:schemeClr val="bg1"/>
                          </a:solidFill>
                          <a:effectLst/>
                        </a:rPr>
                        <a:t>2000-04-01</a:t>
                      </a:r>
                      <a:endParaRPr lang="pt-BR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dirty="0">
                          <a:solidFill>
                            <a:schemeClr val="bg1"/>
                          </a:solidFill>
                          <a:effectLst/>
                        </a:rPr>
                        <a:t>0.33</a:t>
                      </a:r>
                      <a:endParaRPr lang="pt-BR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dirty="0">
                          <a:solidFill>
                            <a:schemeClr val="bg1"/>
                          </a:solidFill>
                          <a:effectLst/>
                        </a:rPr>
                        <a:t>-0.046104</a:t>
                      </a:r>
                      <a:endParaRPr lang="pt-BR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5538544"/>
                  </a:ext>
                </a:extLst>
              </a:tr>
              <a:tr h="553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dirty="0">
                          <a:solidFill>
                            <a:schemeClr val="bg1"/>
                          </a:solidFill>
                          <a:effectLst/>
                        </a:rPr>
                        <a:t>2000-05-01</a:t>
                      </a:r>
                      <a:endParaRPr lang="pt-BR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>
                          <a:solidFill>
                            <a:schemeClr val="bg1"/>
                          </a:solidFill>
                          <a:effectLst/>
                        </a:rPr>
                        <a:t>0.30</a:t>
                      </a:r>
                      <a:endParaRPr lang="pt-BR" sz="12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dirty="0">
                          <a:solidFill>
                            <a:schemeClr val="bg1"/>
                          </a:solidFill>
                          <a:effectLst/>
                        </a:rPr>
                        <a:t>-0.066667</a:t>
                      </a:r>
                      <a:endParaRPr lang="pt-BR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687155"/>
                  </a:ext>
                </a:extLst>
              </a:tr>
              <a:tr h="553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>
                          <a:solidFill>
                            <a:schemeClr val="bg1"/>
                          </a:solidFill>
                          <a:effectLst/>
                        </a:rPr>
                        <a:t>2000-06-01</a:t>
                      </a:r>
                      <a:endParaRPr lang="pt-BR" sz="12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dirty="0">
                          <a:solidFill>
                            <a:schemeClr val="bg1"/>
                          </a:solidFill>
                          <a:effectLst/>
                        </a:rPr>
                        <a:t>0.35</a:t>
                      </a:r>
                      <a:endParaRPr lang="pt-BR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dirty="0">
                          <a:solidFill>
                            <a:schemeClr val="bg1"/>
                          </a:solidFill>
                          <a:effectLst/>
                        </a:rPr>
                        <a:t> 0.151786</a:t>
                      </a:r>
                      <a:endParaRPr lang="pt-BR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15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01678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CFC16-DE1E-5FB8-DBD1-41B6BFFA1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1286C5-7264-73DA-4128-7CDA71997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Desenvolvimento</a:t>
            </a:r>
            <a:br>
              <a:rPr lang="pt-BR" dirty="0">
                <a:highlight>
                  <a:srgbClr val="FFFF00"/>
                </a:highlight>
              </a:rPr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Implementação do AGMO</a:t>
            </a:r>
            <a:endParaRPr lang="pt-BR" sz="3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7A36D778-DAF9-4B17-4659-2A5E31C64E0F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E4E4FF-51F9-D19A-EDED-459DFDDC2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25</a:t>
            </a:fld>
            <a:endParaRPr lang="pt-BR"/>
          </a:p>
        </p:txBody>
      </p:sp>
      <p:sp>
        <p:nvSpPr>
          <p:cNvPr id="12" name="Espaço Reservado para Conteúdo 2">
            <a:extLst>
              <a:ext uri="{FF2B5EF4-FFF2-40B4-BE49-F238E27FC236}">
                <a16:creationId xmlns:a16="http://schemas.microsoft.com/office/drawing/2014/main" id="{29569178-D261-9098-2945-7A0D2C3EA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873" y="1828449"/>
            <a:ext cx="10834254" cy="2387667"/>
          </a:xfrm>
        </p:spPr>
        <p:txBody>
          <a:bodyPr>
            <a:normAutofit lnSpcReduction="10000"/>
          </a:bodyPr>
          <a:lstStyle/>
          <a:p>
            <a:pPr marL="0" indent="0" algn="just">
              <a:spcBef>
                <a:spcPts val="1400"/>
              </a:spcBef>
              <a:buNone/>
            </a:pPr>
            <a:r>
              <a:rPr lang="pt-BR" sz="2000" b="1" dirty="0"/>
              <a:t>Parâmetros:</a:t>
            </a:r>
          </a:p>
          <a:p>
            <a:pPr algn="just">
              <a:spcBef>
                <a:spcPts val="1400"/>
              </a:spcBef>
            </a:pPr>
            <a:r>
              <a:rPr lang="pt-BR" sz="1800" dirty="0"/>
              <a:t>Perfil de risco (conservador, moderado e arrojado)</a:t>
            </a:r>
          </a:p>
          <a:p>
            <a:pPr algn="just">
              <a:spcBef>
                <a:spcPts val="1400"/>
              </a:spcBef>
            </a:pPr>
            <a:r>
              <a:rPr lang="pt-BR" sz="1800" dirty="0"/>
              <a:t>Restrição de ativos específicos</a:t>
            </a:r>
          </a:p>
          <a:p>
            <a:pPr algn="just">
              <a:spcBef>
                <a:spcPts val="1400"/>
              </a:spcBef>
            </a:pPr>
            <a:r>
              <a:rPr lang="pt-BR" sz="1800" dirty="0"/>
              <a:t>Limite da quantidade de ativos</a:t>
            </a:r>
          </a:p>
          <a:p>
            <a:pPr algn="just">
              <a:spcBef>
                <a:spcPts val="1400"/>
              </a:spcBef>
            </a:pPr>
            <a:r>
              <a:rPr lang="pt-BR" sz="1800" dirty="0"/>
              <a:t>Horizonte de investimento</a:t>
            </a:r>
          </a:p>
          <a:p>
            <a:pPr marL="0" indent="0" algn="just">
              <a:spcBef>
                <a:spcPts val="1400"/>
              </a:spcBef>
              <a:buNone/>
            </a:pPr>
            <a:r>
              <a:rPr lang="pt-BR" sz="2000" b="1" dirty="0"/>
              <a:t>Pipeline do desenvolvimento do AGMO:</a:t>
            </a:r>
          </a:p>
          <a:p>
            <a:pPr algn="just">
              <a:spcBef>
                <a:spcPts val="1400"/>
              </a:spcBef>
            </a:pPr>
            <a:endParaRPr lang="pt-BR" sz="1800" dirty="0"/>
          </a:p>
          <a:p>
            <a:pPr algn="just">
              <a:spcBef>
                <a:spcPts val="1400"/>
              </a:spcBef>
            </a:pPr>
            <a:endParaRPr lang="pt-BR" sz="2000" dirty="0"/>
          </a:p>
          <a:p>
            <a:pPr algn="just">
              <a:spcBef>
                <a:spcPts val="1400"/>
              </a:spcBef>
            </a:pPr>
            <a:endParaRPr lang="pt-BR" sz="2400" dirty="0"/>
          </a:p>
        </p:txBody>
      </p:sp>
      <p:pic>
        <p:nvPicPr>
          <p:cNvPr id="3" name="Espaço Reservado para Conteúdo 3" descr="Diagrama&#10;&#10;O conteúdo gerado por IA pode estar incorreto.">
            <a:extLst>
              <a:ext uri="{FF2B5EF4-FFF2-40B4-BE49-F238E27FC236}">
                <a16:creationId xmlns:a16="http://schemas.microsoft.com/office/drawing/2014/main" id="{56C14792-B695-2150-35FB-E29E6E669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73" y="4216116"/>
            <a:ext cx="10834255" cy="2335601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57297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CCA73-5BAA-7F89-BFF6-52F66F449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F4A1C7-6FD7-9AA4-454F-32B95FA71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Desenvolvimento</a:t>
            </a:r>
            <a:br>
              <a:rPr lang="pt-BR" dirty="0">
                <a:highlight>
                  <a:srgbClr val="FFFF00"/>
                </a:highlight>
              </a:rPr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Preparação dos dados (1/3)</a:t>
            </a:r>
            <a:endParaRPr lang="pt-BR" sz="3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949606F6-3D2C-734B-6309-770195A2D0F8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0C2E69A-0759-7CF4-FEA9-4B9545810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26</a:t>
            </a:fld>
            <a:endParaRPr lang="pt-BR"/>
          </a:p>
        </p:txBody>
      </p:sp>
      <p:sp>
        <p:nvSpPr>
          <p:cNvPr id="12" name="Espaço Reservado para Conteúdo 2">
            <a:extLst>
              <a:ext uri="{FF2B5EF4-FFF2-40B4-BE49-F238E27FC236}">
                <a16:creationId xmlns:a16="http://schemas.microsoft.com/office/drawing/2014/main" id="{1551EFC6-5553-EE98-41F8-F15AC7F92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873" y="1828450"/>
            <a:ext cx="4908111" cy="1874870"/>
          </a:xfrm>
        </p:spPr>
        <p:txBody>
          <a:bodyPr>
            <a:normAutofit lnSpcReduction="10000"/>
          </a:bodyPr>
          <a:lstStyle/>
          <a:p>
            <a:pPr algn="just">
              <a:spcBef>
                <a:spcPts val="1400"/>
              </a:spcBef>
            </a:pPr>
            <a:r>
              <a:rPr lang="pt-BR" sz="2400" dirty="0"/>
              <a:t>Filtro inicial dos ativos</a:t>
            </a:r>
          </a:p>
          <a:p>
            <a:pPr algn="just">
              <a:spcBef>
                <a:spcPts val="1400"/>
              </a:spcBef>
            </a:pPr>
            <a:r>
              <a:rPr lang="pt-BR" sz="2400" dirty="0"/>
              <a:t>Resgate dos dados históricos</a:t>
            </a:r>
          </a:p>
          <a:p>
            <a:pPr algn="just">
              <a:spcBef>
                <a:spcPts val="1400"/>
              </a:spcBef>
            </a:pPr>
            <a:r>
              <a:rPr lang="pt-BR" sz="2400" dirty="0"/>
              <a:t>Reorganização para um </a:t>
            </a:r>
            <a:r>
              <a:rPr lang="pt-BR" sz="2400" i="1" dirty="0" err="1"/>
              <a:t>DataFrame</a:t>
            </a:r>
            <a:endParaRPr lang="pt-BR" sz="2400" i="1" dirty="0"/>
          </a:p>
          <a:p>
            <a:pPr algn="just">
              <a:spcBef>
                <a:spcPts val="1400"/>
              </a:spcBef>
            </a:pPr>
            <a:r>
              <a:rPr lang="pt-BR" sz="2400" dirty="0"/>
              <a:t>Filtro do horizonte de investimento</a:t>
            </a:r>
          </a:p>
          <a:p>
            <a:endParaRPr lang="pt-BR" sz="2400" dirty="0"/>
          </a:p>
          <a:p>
            <a:pPr algn="just">
              <a:spcBef>
                <a:spcPts val="1400"/>
              </a:spcBef>
            </a:pPr>
            <a:endParaRPr lang="pt-BR" sz="2400" dirty="0">
              <a:highlight>
                <a:srgbClr val="FFFF00"/>
              </a:highlight>
            </a:endParaRP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7846CE2C-5064-2ADC-F913-1E0E08B7BF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394962"/>
              </p:ext>
            </p:extLst>
          </p:nvPr>
        </p:nvGraphicFramePr>
        <p:xfrm>
          <a:off x="6095999" y="1690688"/>
          <a:ext cx="5040563" cy="2435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46595">
                  <a:extLst>
                    <a:ext uri="{9D8B030D-6E8A-4147-A177-3AD203B41FA5}">
                      <a16:colId xmlns:a16="http://schemas.microsoft.com/office/drawing/2014/main" val="1624285346"/>
                    </a:ext>
                  </a:extLst>
                </a:gridCol>
                <a:gridCol w="1505102">
                  <a:extLst>
                    <a:ext uri="{9D8B030D-6E8A-4147-A177-3AD203B41FA5}">
                      <a16:colId xmlns:a16="http://schemas.microsoft.com/office/drawing/2014/main" val="3451897982"/>
                    </a:ext>
                  </a:extLst>
                </a:gridCol>
                <a:gridCol w="1488866">
                  <a:extLst>
                    <a:ext uri="{9D8B030D-6E8A-4147-A177-3AD203B41FA5}">
                      <a16:colId xmlns:a16="http://schemas.microsoft.com/office/drawing/2014/main" val="2097360556"/>
                    </a:ext>
                  </a:extLst>
                </a:gridCol>
              </a:tblGrid>
              <a:tr h="347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Date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Ticker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Variation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445641"/>
                  </a:ext>
                </a:extLst>
              </a:tr>
              <a:tr h="347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2020-01-01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BBAS3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-0.124659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630381"/>
                  </a:ext>
                </a:extLst>
              </a:tr>
              <a:tr h="347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2020-01-01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PETR4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-0.058221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826731"/>
                  </a:ext>
                </a:extLst>
              </a:tr>
              <a:tr h="347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2020-01-01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VALE3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0.005718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666597"/>
                  </a:ext>
                </a:extLst>
              </a:tr>
              <a:tr h="347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2020-02-01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BBAS3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-0.171589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8392698"/>
                  </a:ext>
                </a:extLst>
              </a:tr>
              <a:tr h="347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2020-02-01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PETR4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-0.166729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56201"/>
                  </a:ext>
                </a:extLst>
              </a:tr>
              <a:tr h="347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2020-02-01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VALE3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0.074701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692712"/>
                  </a:ext>
                </a:extLst>
              </a:tr>
            </a:tbl>
          </a:graphicData>
        </a:graphic>
      </p:graphicFrame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6FF93F37-3555-A521-BEDF-CE5CE870FA48}"/>
              </a:ext>
            </a:extLst>
          </p:cNvPr>
          <p:cNvCxnSpPr/>
          <p:nvPr/>
        </p:nvCxnSpPr>
        <p:spPr>
          <a:xfrm>
            <a:off x="8616280" y="4125813"/>
            <a:ext cx="0" cy="6199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D9B102E8-81B4-D37A-77A6-FF16A374DD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437312"/>
              </p:ext>
            </p:extLst>
          </p:nvPr>
        </p:nvGraphicFramePr>
        <p:xfrm>
          <a:off x="6095998" y="4750527"/>
          <a:ext cx="5040563" cy="10081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8143">
                  <a:extLst>
                    <a:ext uri="{9D8B030D-6E8A-4147-A177-3AD203B41FA5}">
                      <a16:colId xmlns:a16="http://schemas.microsoft.com/office/drawing/2014/main" val="3941879268"/>
                    </a:ext>
                  </a:extLst>
                </a:gridCol>
                <a:gridCol w="1212073">
                  <a:extLst>
                    <a:ext uri="{9D8B030D-6E8A-4147-A177-3AD203B41FA5}">
                      <a16:colId xmlns:a16="http://schemas.microsoft.com/office/drawing/2014/main" val="1021447522"/>
                    </a:ext>
                  </a:extLst>
                </a:gridCol>
                <a:gridCol w="1198999">
                  <a:extLst>
                    <a:ext uri="{9D8B030D-6E8A-4147-A177-3AD203B41FA5}">
                      <a16:colId xmlns:a16="http://schemas.microsoft.com/office/drawing/2014/main" val="1343326531"/>
                    </a:ext>
                  </a:extLst>
                </a:gridCol>
                <a:gridCol w="981348">
                  <a:extLst>
                    <a:ext uri="{9D8B030D-6E8A-4147-A177-3AD203B41FA5}">
                      <a16:colId xmlns:a16="http://schemas.microsoft.com/office/drawing/2014/main" val="3640667765"/>
                    </a:ext>
                  </a:extLst>
                </a:gridCol>
              </a:tblGrid>
              <a:tr h="33603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pt-BR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</a:t>
                      </a: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pt-BR" sz="100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BBAS3</a:t>
                      </a: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pt-BR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PETR4</a:t>
                      </a: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pt-BR" sz="100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VALE3</a:t>
                      </a: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627641"/>
                  </a:ext>
                </a:extLst>
              </a:tr>
              <a:tr h="33603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pt-BR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2020-01-01</a:t>
                      </a: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pt-BR" sz="100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-0.124659</a:t>
                      </a: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pt-BR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-0.058221</a:t>
                      </a: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pt-BR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0.005718</a:t>
                      </a: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434444"/>
                  </a:ext>
                </a:extLst>
              </a:tr>
              <a:tr h="33603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pt-BR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2020-02-01</a:t>
                      </a: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pt-BR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-0.171589</a:t>
                      </a: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pt-BR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-0.166729</a:t>
                      </a: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pt-BR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0.074701</a:t>
                      </a: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406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3322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0B3DE-5D35-9FA1-579B-B0BBF5ED7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5BAB62-FC5B-117E-370B-16A22FE4D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Desenvolvimento</a:t>
            </a:r>
            <a:br>
              <a:rPr lang="pt-BR" dirty="0">
                <a:highlight>
                  <a:srgbClr val="FFFF00"/>
                </a:highlight>
              </a:rPr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Preparação dos dados (2/3)</a:t>
            </a:r>
            <a:endParaRPr lang="pt-BR" sz="3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76A89B28-F666-E784-23A6-8990EF836DAB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9A7D5AA-148C-6898-0E87-06222C519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27</a:t>
            </a:fld>
            <a:endParaRPr lang="pt-BR"/>
          </a:p>
        </p:txBody>
      </p:sp>
      <p:sp>
        <p:nvSpPr>
          <p:cNvPr id="12" name="Espaço Reservado para Conteúdo 2">
            <a:extLst>
              <a:ext uri="{FF2B5EF4-FFF2-40B4-BE49-F238E27FC236}">
                <a16:creationId xmlns:a16="http://schemas.microsoft.com/office/drawing/2014/main" id="{3C9DDC6C-362E-B2CF-E530-3D6A7A237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873" y="1828450"/>
            <a:ext cx="4908111" cy="1085043"/>
          </a:xfrm>
        </p:spPr>
        <p:txBody>
          <a:bodyPr>
            <a:normAutofit/>
          </a:bodyPr>
          <a:lstStyle/>
          <a:p>
            <a:pPr algn="just">
              <a:spcBef>
                <a:spcPts val="1400"/>
              </a:spcBef>
            </a:pPr>
            <a:r>
              <a:rPr lang="pt-BR" sz="2400" dirty="0"/>
              <a:t>Vetor de retornos médios </a:t>
            </a:r>
          </a:p>
          <a:p>
            <a:pPr algn="just">
              <a:spcBef>
                <a:spcPts val="1400"/>
              </a:spcBef>
            </a:pPr>
            <a:r>
              <a:rPr lang="pt-BR" sz="2400" dirty="0"/>
              <a:t>Matriz de covariância</a:t>
            </a:r>
          </a:p>
          <a:p>
            <a:endParaRPr lang="pt-BR" sz="2400" dirty="0"/>
          </a:p>
          <a:p>
            <a:pPr algn="just">
              <a:spcBef>
                <a:spcPts val="1400"/>
              </a:spcBef>
            </a:pPr>
            <a:endParaRPr lang="pt-BR" sz="2400" dirty="0">
              <a:highlight>
                <a:srgbClr val="FFFF00"/>
              </a:highlight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5377299-2C91-3735-D374-7E9D36D37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833" y="1828450"/>
            <a:ext cx="6582294" cy="1085043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EE175DC5-F88C-6342-A92B-9DA58F5BF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437618"/>
              </p:ext>
            </p:extLst>
          </p:nvPr>
        </p:nvGraphicFramePr>
        <p:xfrm>
          <a:off x="2425641" y="3428999"/>
          <a:ext cx="7340718" cy="30638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3453">
                  <a:extLst>
                    <a:ext uri="{9D8B030D-6E8A-4147-A177-3AD203B41FA5}">
                      <a16:colId xmlns:a16="http://schemas.microsoft.com/office/drawing/2014/main" val="542322399"/>
                    </a:ext>
                  </a:extLst>
                </a:gridCol>
                <a:gridCol w="1223453">
                  <a:extLst>
                    <a:ext uri="{9D8B030D-6E8A-4147-A177-3AD203B41FA5}">
                      <a16:colId xmlns:a16="http://schemas.microsoft.com/office/drawing/2014/main" val="1149210613"/>
                    </a:ext>
                  </a:extLst>
                </a:gridCol>
                <a:gridCol w="1223453">
                  <a:extLst>
                    <a:ext uri="{9D8B030D-6E8A-4147-A177-3AD203B41FA5}">
                      <a16:colId xmlns:a16="http://schemas.microsoft.com/office/drawing/2014/main" val="27708184"/>
                    </a:ext>
                  </a:extLst>
                </a:gridCol>
                <a:gridCol w="1223453">
                  <a:extLst>
                    <a:ext uri="{9D8B030D-6E8A-4147-A177-3AD203B41FA5}">
                      <a16:colId xmlns:a16="http://schemas.microsoft.com/office/drawing/2014/main" val="996458405"/>
                    </a:ext>
                  </a:extLst>
                </a:gridCol>
                <a:gridCol w="1223453">
                  <a:extLst>
                    <a:ext uri="{9D8B030D-6E8A-4147-A177-3AD203B41FA5}">
                      <a16:colId xmlns:a16="http://schemas.microsoft.com/office/drawing/2014/main" val="3076494518"/>
                    </a:ext>
                  </a:extLst>
                </a:gridCol>
                <a:gridCol w="1223453">
                  <a:extLst>
                    <a:ext uri="{9D8B030D-6E8A-4147-A177-3AD203B41FA5}">
                      <a16:colId xmlns:a16="http://schemas.microsoft.com/office/drawing/2014/main" val="2336622735"/>
                    </a:ext>
                  </a:extLst>
                </a:gridCol>
              </a:tblGrid>
              <a:tr h="5106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BBAS3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ITUB4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PETR4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solidFill>
                            <a:schemeClr val="bg1"/>
                          </a:solidFill>
                          <a:effectLst/>
                        </a:rPr>
                        <a:t>VALE3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solidFill>
                            <a:schemeClr val="bg1"/>
                          </a:solidFill>
                          <a:effectLst/>
                        </a:rPr>
                        <a:t>WEGE3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818795"/>
                  </a:ext>
                </a:extLst>
              </a:tr>
              <a:tr h="5106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BBAS3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solidFill>
                            <a:schemeClr val="bg1"/>
                          </a:solidFill>
                          <a:effectLst/>
                        </a:rPr>
                        <a:t>0.013312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0.007104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0.008844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solidFill>
                            <a:schemeClr val="bg1"/>
                          </a:solidFill>
                          <a:effectLst/>
                        </a:rPr>
                        <a:t>0.003650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solidFill>
                            <a:schemeClr val="bg1"/>
                          </a:solidFill>
                          <a:effectLst/>
                        </a:rPr>
                        <a:t>0.002108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6740948"/>
                  </a:ext>
                </a:extLst>
              </a:tr>
              <a:tr h="5106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ITUB4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0.007104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solidFill>
                            <a:schemeClr val="bg1"/>
                          </a:solidFill>
                          <a:effectLst/>
                        </a:rPr>
                        <a:t>0.007615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solidFill>
                            <a:schemeClr val="bg1"/>
                          </a:solidFill>
                          <a:effectLst/>
                        </a:rPr>
                        <a:t>0.005863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solidFill>
                            <a:schemeClr val="bg1"/>
                          </a:solidFill>
                          <a:effectLst/>
                        </a:rPr>
                        <a:t>0.002861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solidFill>
                            <a:schemeClr val="bg1"/>
                          </a:solidFill>
                          <a:effectLst/>
                        </a:rPr>
                        <a:t>0.001790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753883"/>
                  </a:ext>
                </a:extLst>
              </a:tr>
              <a:tr h="5106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PETR4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solidFill>
                            <a:schemeClr val="bg1"/>
                          </a:solidFill>
                          <a:effectLst/>
                        </a:rPr>
                        <a:t>0.008844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solidFill>
                            <a:schemeClr val="bg1"/>
                          </a:solidFill>
                          <a:effectLst/>
                        </a:rPr>
                        <a:t>0.005863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solidFill>
                            <a:schemeClr val="bg1"/>
                          </a:solidFill>
                          <a:effectLst/>
                        </a:rPr>
                        <a:t>0.013272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solidFill>
                            <a:schemeClr val="bg1"/>
                          </a:solidFill>
                          <a:effectLst/>
                        </a:rPr>
                        <a:t>0.004799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solidFill>
                            <a:schemeClr val="bg1"/>
                          </a:solidFill>
                          <a:effectLst/>
                        </a:rPr>
                        <a:t>0.001726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624962"/>
                  </a:ext>
                </a:extLst>
              </a:tr>
              <a:tr h="5106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VALE3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solidFill>
                            <a:schemeClr val="bg1"/>
                          </a:solidFill>
                          <a:effectLst/>
                        </a:rPr>
                        <a:t>0.003650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0.002861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0.004799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solidFill>
                            <a:schemeClr val="bg1"/>
                          </a:solidFill>
                          <a:effectLst/>
                        </a:rPr>
                        <a:t>0.009789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0.001222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602962"/>
                  </a:ext>
                </a:extLst>
              </a:tr>
              <a:tr h="5106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WEGE3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0.002108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0.001790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solidFill>
                            <a:schemeClr val="bg1"/>
                          </a:solidFill>
                          <a:effectLst/>
                        </a:rPr>
                        <a:t>0.001726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0.001222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solidFill>
                            <a:schemeClr val="bg1"/>
                          </a:solidFill>
                          <a:effectLst/>
                        </a:rPr>
                        <a:t>0.007556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760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5731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C243E-74B7-3467-7402-CC11D2805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C7127C-17C8-26B3-9583-2B907EBF3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Desenvolvimento</a:t>
            </a:r>
            <a:br>
              <a:rPr lang="pt-BR" dirty="0">
                <a:highlight>
                  <a:srgbClr val="FFFF00"/>
                </a:highlight>
              </a:rPr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Preparação dos dados (3/3)</a:t>
            </a:r>
            <a:endParaRPr lang="pt-BR" sz="3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34D0337A-1BA2-6622-A6E7-EE2148971D3F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FCE092-C7A1-1141-2D37-5AB670E68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28</a:t>
            </a:fld>
            <a:endParaRPr lang="pt-BR"/>
          </a:p>
        </p:txBody>
      </p:sp>
      <p:pic>
        <p:nvPicPr>
          <p:cNvPr id="10" name="Imagem 9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B1F1A512-D8F9-B772-1545-0F47C777F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4" y="1951066"/>
            <a:ext cx="10306050" cy="39624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007448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D81A3-6FF1-4355-441A-8BA8F3B49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CFA8F7-95DB-A18C-7080-628CD72BB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Desenvolvimento</a:t>
            </a:r>
            <a:br>
              <a:rPr lang="pt-BR" dirty="0">
                <a:highlight>
                  <a:srgbClr val="FFFF00"/>
                </a:highlight>
              </a:rPr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Formulação multiobjetivo do problema</a:t>
            </a:r>
            <a:endParaRPr lang="pt-BR" sz="3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78D4DBBC-C5C2-61C7-F7DD-DF9CC3732418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6F25A63-76E1-0AA4-67B9-27ADC59DD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29</a:t>
            </a:fld>
            <a:endParaRPr lang="pt-BR"/>
          </a:p>
        </p:txBody>
      </p:sp>
      <p:sp>
        <p:nvSpPr>
          <p:cNvPr id="12" name="Espaço Reservado para Conteúdo 2">
            <a:extLst>
              <a:ext uri="{FF2B5EF4-FFF2-40B4-BE49-F238E27FC236}">
                <a16:creationId xmlns:a16="http://schemas.microsoft.com/office/drawing/2014/main" id="{9A385167-68AA-96F8-4E6A-BDE8625EB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873" y="1828450"/>
            <a:ext cx="7505007" cy="1325563"/>
          </a:xfrm>
        </p:spPr>
        <p:txBody>
          <a:bodyPr>
            <a:noAutofit/>
          </a:bodyPr>
          <a:lstStyle/>
          <a:p>
            <a:pPr algn="just">
              <a:spcBef>
                <a:spcPts val="1400"/>
              </a:spcBef>
            </a:pPr>
            <a:r>
              <a:rPr lang="pt-BR" sz="2400" dirty="0"/>
              <a:t>Maximizar o retorno, usando a média dos retornos</a:t>
            </a:r>
          </a:p>
          <a:p>
            <a:pPr algn="just">
              <a:spcBef>
                <a:spcPts val="1400"/>
              </a:spcBef>
            </a:pPr>
            <a:r>
              <a:rPr lang="pt-BR" sz="2400" dirty="0"/>
              <a:t>Minimizar a variância, usando a matriz de covariância</a:t>
            </a:r>
          </a:p>
          <a:p>
            <a:pPr algn="just">
              <a:spcBef>
                <a:spcPts val="1400"/>
              </a:spcBef>
            </a:pPr>
            <a:r>
              <a:rPr lang="pt-BR" sz="2400" dirty="0"/>
              <a:t>Minimizar o </a:t>
            </a:r>
            <a:r>
              <a:rPr lang="pt-BR" sz="2400" dirty="0" err="1"/>
              <a:t>Conditional</a:t>
            </a:r>
            <a:r>
              <a:rPr lang="pt-BR" sz="2400" dirty="0"/>
              <a:t> </a:t>
            </a:r>
            <a:r>
              <a:rPr lang="pt-BR" sz="2400" dirty="0" err="1"/>
              <a:t>Value</a:t>
            </a:r>
            <a:r>
              <a:rPr lang="pt-BR" sz="2400" dirty="0"/>
              <a:t> </a:t>
            </a:r>
            <a:r>
              <a:rPr lang="pt-BR" sz="2400" dirty="0" err="1"/>
              <a:t>at</a:t>
            </a:r>
            <a:r>
              <a:rPr lang="pt-BR" sz="2400" dirty="0"/>
              <a:t> Risk (</a:t>
            </a:r>
            <a:r>
              <a:rPr lang="pt-BR" sz="2400" dirty="0" err="1"/>
              <a:t>CVaR</a:t>
            </a:r>
            <a:r>
              <a:rPr lang="pt-BR" sz="2400" dirty="0"/>
              <a:t>)</a:t>
            </a:r>
          </a:p>
          <a:p>
            <a:endParaRPr lang="pt-BR" sz="2400" dirty="0"/>
          </a:p>
          <a:p>
            <a:pPr algn="just">
              <a:spcBef>
                <a:spcPts val="1400"/>
              </a:spcBef>
            </a:pPr>
            <a:endParaRPr lang="pt-BR" sz="2400" dirty="0">
              <a:highlight>
                <a:srgbClr val="FFFF00"/>
              </a:highlight>
            </a:endParaRPr>
          </a:p>
        </p:txBody>
      </p:sp>
      <p:pic>
        <p:nvPicPr>
          <p:cNvPr id="7" name="Imagem 6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A1C66A24-F12B-EE62-D0CF-9F40BC6330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873" y="3531872"/>
            <a:ext cx="7883957" cy="266776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171131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0BE20-EF53-383A-702F-42DF3BCFE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14687E-F05A-020D-3C12-FEC3F6EAC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Desenvolvimento</a:t>
            </a:r>
            <a:br>
              <a:rPr lang="pt-BR" dirty="0">
                <a:highlight>
                  <a:srgbClr val="FFFF00"/>
                </a:highlight>
              </a:rPr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Configuração do R-NSGA-II</a:t>
            </a:r>
            <a:endParaRPr lang="pt-BR" sz="3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86553CFB-08EC-A6DE-29B7-7B6DA9A8B02B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F4A89D6-CA0A-13D1-6E90-DA756C92D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30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spaço Reservado para Conteúdo 2">
                <a:extLst>
                  <a:ext uri="{FF2B5EF4-FFF2-40B4-BE49-F238E27FC236}">
                    <a16:creationId xmlns:a16="http://schemas.microsoft.com/office/drawing/2014/main" id="{FA26AAC9-20E1-C45E-B7F3-24ADAB927B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873" y="1828450"/>
                <a:ext cx="10674927" cy="438947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pt-BR" sz="2400" b="1" dirty="0"/>
                  <a:t>Como o algoritmo enxerga uma carteira</a:t>
                </a:r>
                <a:endParaRPr lang="pt-BR" sz="2400" dirty="0"/>
              </a:p>
              <a:p>
                <a:r>
                  <a:rPr lang="pt-BR" sz="2400" dirty="0"/>
                  <a:t>Cada indivíduo representa uma carteira de investimentos</a:t>
                </a:r>
              </a:p>
              <a:p>
                <a:r>
                  <a:rPr lang="pt-BR" sz="2400" dirty="0"/>
                  <a:t>Cada cromossomo corresponde a um ativo da carteira</a:t>
                </a:r>
              </a:p>
              <a:p>
                <a:r>
                  <a:rPr lang="pt-BR" sz="2400" dirty="0"/>
                  <a:t>O valor do gene = peso alocado no ativo</a:t>
                </a:r>
              </a:p>
              <a:p>
                <a:pPr marL="0" indent="0">
                  <a:buNone/>
                </a:pPr>
                <a:endParaRPr lang="pt-BR" sz="2400" b="1" dirty="0"/>
              </a:p>
              <a:p>
                <a:pPr marL="0" indent="0">
                  <a:buNone/>
                </a:pPr>
                <a:r>
                  <a:rPr lang="pt-BR" sz="2400" b="1" dirty="0"/>
                  <a:t>Estrutura genética</a:t>
                </a:r>
              </a:p>
              <a:p>
                <a:r>
                  <a:rPr lang="pt-BR" sz="2400" b="1" dirty="0"/>
                  <a:t>Genótipo: </a:t>
                </a:r>
                <a:r>
                  <a:rPr lang="pt-BR" sz="2400" dirty="0"/>
                  <a:t>vetor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 panose="02040503050406030204" pitchFamily="18" charset="0"/>
                      </a:rPr>
                      <m:t>𝑤</m:t>
                    </m:r>
                    <m:r>
                      <a:rPr lang="pt-BR" sz="24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.</m:t>
                        </m:r>
                      </m:e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..</m:t>
                        </m:r>
                        <m:sSub>
                          <m:sSub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</m:oMath>
                </a14:m>
                <a:endParaRPr lang="ar-AE" sz="2400" dirty="0"/>
              </a:p>
              <a:p>
                <a:r>
                  <a:rPr lang="pt-BR" sz="2400" b="1" dirty="0"/>
                  <a:t>Fenótipo: </a:t>
                </a:r>
                <a:r>
                  <a:rPr lang="pt-BR" sz="2400" dirty="0"/>
                  <a:t>composição real da carteira (percentuais)</a:t>
                </a:r>
              </a:p>
              <a:p>
                <a:pPr marL="0" indent="0">
                  <a:buNone/>
                </a:pPr>
                <a:endParaRPr lang="pt-BR" sz="2400" b="1" dirty="0"/>
              </a:p>
              <a:p>
                <a:pPr marL="0" indent="0">
                  <a:buNone/>
                </a:pPr>
                <a:endParaRPr lang="pt-BR" sz="2400" dirty="0"/>
              </a:p>
              <a:p>
                <a:endParaRPr lang="pt-BR" sz="2400" dirty="0"/>
              </a:p>
              <a:p>
                <a:pPr algn="just">
                  <a:spcBef>
                    <a:spcPts val="1400"/>
                  </a:spcBef>
                </a:pPr>
                <a:endParaRPr lang="pt-BR" sz="2400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12" name="Espaço Reservado para Conteúdo 2">
                <a:extLst>
                  <a:ext uri="{FF2B5EF4-FFF2-40B4-BE49-F238E27FC236}">
                    <a16:creationId xmlns:a16="http://schemas.microsoft.com/office/drawing/2014/main" id="{FA26AAC9-20E1-C45E-B7F3-24ADAB927B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873" y="1828450"/>
                <a:ext cx="10674927" cy="4389470"/>
              </a:xfrm>
              <a:blipFill>
                <a:blip r:embed="rId2"/>
                <a:stretch>
                  <a:fillRect l="-856" t="-194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28459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F551C-17AE-D201-6AB3-1C29C63AB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E9C595-C60D-D22F-CAEA-75DCB96F7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Desenvolvimento</a:t>
            </a:r>
            <a:br>
              <a:rPr lang="pt-BR" dirty="0">
                <a:highlight>
                  <a:srgbClr val="FFFF00"/>
                </a:highlight>
              </a:rPr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Configuração do R-NSGA-II</a:t>
            </a:r>
            <a:endParaRPr lang="pt-BR" sz="3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ED51AEF2-FD2A-9D68-96EB-C51FA6189880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1C1C3FF-5E5F-429F-61D0-DEAB26FFC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31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spaço Reservado para Conteúdo 2">
                <a:extLst>
                  <a:ext uri="{FF2B5EF4-FFF2-40B4-BE49-F238E27FC236}">
                    <a16:creationId xmlns:a16="http://schemas.microsoft.com/office/drawing/2014/main" id="{43EFDE6A-A55F-D930-C476-B7028CAA79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873" y="1828450"/>
                <a:ext cx="10760271" cy="484667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pt-BR" sz="2400" b="1" dirty="0"/>
                  <a:t>Restrições fundamentais</a:t>
                </a:r>
                <a:endParaRPr lang="pt-BR" sz="2400" dirty="0"/>
              </a:p>
              <a:p>
                <a:r>
                  <a:rPr lang="pt-BR" sz="2200" b="1" dirty="0"/>
                  <a:t>Não-negatividade:</a:t>
                </a:r>
                <a:r>
                  <a:rPr lang="pt-BR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2200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 sz="22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sz="2200" dirty="0"/>
              </a:p>
              <a:p>
                <a:r>
                  <a:rPr lang="pt-BR" sz="2200" b="1" dirty="0"/>
                  <a:t>Soma unitária:</a:t>
                </a:r>
                <a:r>
                  <a:rPr lang="pt-BR" sz="22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grow m:val="on"/>
                        <m:ctrlPr>
                          <a:rPr lang="ar-AE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sz="22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sz="22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ar-AE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ar-AE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ar-AE" sz="22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2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sz="2200" dirty="0"/>
              </a:p>
              <a:p>
                <a:r>
                  <a:rPr lang="pt-BR" sz="2200" b="1" dirty="0"/>
                  <a:t>Limites por ativo:</a:t>
                </a:r>
                <a:r>
                  <a:rPr lang="pt-BR" sz="2200" dirty="0"/>
                  <a:t> </a:t>
                </a:r>
                <a14:m>
                  <m:oMath xmlns:m="http://schemas.openxmlformats.org/officeDocument/2006/math">
                    <m:r>
                      <a:rPr lang="pt-BR" sz="220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sz="220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200">
                        <a:latin typeface="Cambria Math" panose="02040503050406030204" pitchFamily="18" charset="0"/>
                      </a:rPr>
                      <m:t>01</m:t>
                    </m:r>
                    <m:r>
                      <a:rPr lang="pt-BR" sz="220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2200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 sz="22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2200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sz="220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pt-BR" sz="2200" dirty="0"/>
                  <a:t> (peso mínimo 1% e máximo 30%)</a:t>
                </a:r>
              </a:p>
              <a:p>
                <a:r>
                  <a:rPr lang="pt-BR" sz="2200" b="1" dirty="0"/>
                  <a:t>Cardinalidade:</a:t>
                </a:r>
                <a:r>
                  <a:rPr lang="pt-BR" sz="2200" dirty="0"/>
                  <a:t> máximo de K ativos simultâneos (ativos além de K recebem peso zero)</a:t>
                </a:r>
              </a:p>
              <a:p>
                <a:pPr marL="0" indent="0">
                  <a:buNone/>
                </a:pPr>
                <a:endParaRPr lang="pt-BR" sz="2400" b="1" dirty="0"/>
              </a:p>
              <a:p>
                <a:pPr marL="0" indent="0">
                  <a:buNone/>
                </a:pPr>
                <a:r>
                  <a:rPr lang="pt-BR" sz="2400" b="1" dirty="0"/>
                  <a:t>Pontos de referência:</a:t>
                </a:r>
              </a:p>
              <a:p>
                <a:pPr marL="0" indent="0">
                  <a:buNone/>
                </a:pPr>
                <a:endParaRPr lang="pt-BR" sz="2400" b="1" dirty="0"/>
              </a:p>
              <a:p>
                <a:pPr marL="0" indent="0">
                  <a:buNone/>
                </a:pPr>
                <a:endParaRPr lang="pt-BR" sz="2400" b="1" dirty="0"/>
              </a:p>
              <a:p>
                <a:pPr marL="0" indent="0">
                  <a:buNone/>
                </a:pPr>
                <a:endParaRPr lang="pt-BR" sz="2400" dirty="0"/>
              </a:p>
              <a:p>
                <a:endParaRPr lang="pt-BR" sz="2400" dirty="0"/>
              </a:p>
              <a:p>
                <a:pPr algn="just">
                  <a:spcBef>
                    <a:spcPts val="1400"/>
                  </a:spcBef>
                </a:pPr>
                <a:endParaRPr lang="pt-BR" sz="2400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12" name="Espaço Reservado para Conteúdo 2">
                <a:extLst>
                  <a:ext uri="{FF2B5EF4-FFF2-40B4-BE49-F238E27FC236}">
                    <a16:creationId xmlns:a16="http://schemas.microsoft.com/office/drawing/2014/main" id="{43EFDE6A-A55F-D930-C476-B7028CAA79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873" y="1828450"/>
                <a:ext cx="10760271" cy="4846670"/>
              </a:xfrm>
              <a:blipFill>
                <a:blip r:embed="rId2"/>
                <a:stretch>
                  <a:fillRect l="-849" t="-17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Espaço Reservado para Conteúdo 6">
            <a:extLst>
              <a:ext uri="{FF2B5EF4-FFF2-40B4-BE49-F238E27FC236}">
                <a16:creationId xmlns:a16="http://schemas.microsoft.com/office/drawing/2014/main" id="{94B56599-4A78-8BFB-0582-3D39497C2C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9375953"/>
              </p:ext>
            </p:extLst>
          </p:nvPr>
        </p:nvGraphicFramePr>
        <p:xfrm>
          <a:off x="678873" y="4985574"/>
          <a:ext cx="6426014" cy="1323788"/>
        </p:xfrm>
        <a:graphic>
          <a:graphicData uri="http://schemas.openxmlformats.org/drawingml/2006/table">
            <a:tbl>
              <a:tblPr/>
              <a:tblGrid>
                <a:gridCol w="2879981">
                  <a:extLst>
                    <a:ext uri="{9D8B030D-6E8A-4147-A177-3AD203B41FA5}">
                      <a16:colId xmlns:a16="http://schemas.microsoft.com/office/drawing/2014/main" val="1454335986"/>
                    </a:ext>
                  </a:extLst>
                </a:gridCol>
                <a:gridCol w="1182011">
                  <a:extLst>
                    <a:ext uri="{9D8B030D-6E8A-4147-A177-3AD203B41FA5}">
                      <a16:colId xmlns:a16="http://schemas.microsoft.com/office/drawing/2014/main" val="1350493204"/>
                    </a:ext>
                  </a:extLst>
                </a:gridCol>
                <a:gridCol w="1182011">
                  <a:extLst>
                    <a:ext uri="{9D8B030D-6E8A-4147-A177-3AD203B41FA5}">
                      <a16:colId xmlns:a16="http://schemas.microsoft.com/office/drawing/2014/main" val="703036484"/>
                    </a:ext>
                  </a:extLst>
                </a:gridCol>
                <a:gridCol w="1182011">
                  <a:extLst>
                    <a:ext uri="{9D8B030D-6E8A-4147-A177-3AD203B41FA5}">
                      <a16:colId xmlns:a16="http://schemas.microsoft.com/office/drawing/2014/main" val="2397357105"/>
                    </a:ext>
                  </a:extLst>
                </a:gridCol>
              </a:tblGrid>
              <a:tr h="330947"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0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Perfil de risco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450" marR="4445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0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Retorno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450" marR="4445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0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Variância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450" marR="4445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000" b="0" i="0" u="none" strike="noStrike" kern="1200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CVaR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450" marR="4445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909798"/>
                  </a:ext>
                </a:extLst>
              </a:tr>
              <a:tr h="330947"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0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Conservador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450" marR="4445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0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0.3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450" marR="4445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0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0.05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450" marR="4445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0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0.05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450" marR="4445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747773"/>
                  </a:ext>
                </a:extLst>
              </a:tr>
              <a:tr h="330947"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0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Moderado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450" marR="4445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0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450" marR="4445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0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450" marR="4445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0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450" marR="4445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153163"/>
                  </a:ext>
                </a:extLst>
              </a:tr>
              <a:tr h="330947"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0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Arrojado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450" marR="4445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0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0.05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450" marR="4445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0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0.25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450" marR="4445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000" b="0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0.25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450" marR="44450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5479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689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7A802-2C5E-3927-4738-7F6D6070F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535991-0C14-8E9C-DF83-65C07E4EB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Desenvolvimento</a:t>
            </a:r>
            <a:br>
              <a:rPr lang="pt-BR" dirty="0">
                <a:highlight>
                  <a:srgbClr val="FFFF00"/>
                </a:highlight>
              </a:rPr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Cruzamento</a:t>
            </a:r>
            <a:endParaRPr lang="pt-BR" sz="3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4CC125BF-AB6A-EE64-D352-B9FC1ADA9FCA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F0D0975-8E6C-3E08-231B-AE35904A6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32</a:t>
            </a:fld>
            <a:endParaRPr lang="pt-BR"/>
          </a:p>
        </p:txBody>
      </p:sp>
      <p:sp>
        <p:nvSpPr>
          <p:cNvPr id="12" name="Espaço Reservado para Conteúdo 2">
            <a:extLst>
              <a:ext uri="{FF2B5EF4-FFF2-40B4-BE49-F238E27FC236}">
                <a16:creationId xmlns:a16="http://schemas.microsoft.com/office/drawing/2014/main" id="{72786E5B-A1F6-9F78-3EEC-419FED7EB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873" y="1828450"/>
            <a:ext cx="10674927" cy="225428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1800" dirty="0"/>
              <a:t>Combina duas carteiras (pais) gerando novas alocações válidas e diversificadas. Usando SBX adaptado ao simplex</a:t>
            </a:r>
          </a:p>
          <a:p>
            <a:pPr marL="0" indent="0">
              <a:buNone/>
            </a:pPr>
            <a:r>
              <a:rPr lang="pt-BR" sz="1800" dirty="0"/>
              <a:t>Gera </a:t>
            </a:r>
            <a:r>
              <a:rPr lang="pt-BR" sz="1800" b="1" dirty="0"/>
              <a:t>β</a:t>
            </a:r>
            <a:r>
              <a:rPr lang="pt-BR" sz="1800" dirty="0"/>
              <a:t> a partir de u ∈ [0,1]; comportamento do β:</a:t>
            </a:r>
          </a:p>
          <a:p>
            <a:r>
              <a:rPr lang="pt-BR" sz="1800" b="1" dirty="0"/>
              <a:t>β &lt; 1 </a:t>
            </a:r>
            <a:r>
              <a:rPr lang="pt-BR" sz="1800" dirty="0"/>
              <a:t>→ filhos entre os pais (interpolação)</a:t>
            </a:r>
          </a:p>
          <a:p>
            <a:r>
              <a:rPr lang="pt-BR" sz="1800" b="1" dirty="0"/>
              <a:t>β ≈ 1 </a:t>
            </a:r>
            <a:r>
              <a:rPr lang="pt-BR" sz="1800" dirty="0"/>
              <a:t>→ filhos muito semelhantes aos pais</a:t>
            </a:r>
          </a:p>
          <a:p>
            <a:r>
              <a:rPr lang="pt-BR" sz="1800" b="1" dirty="0"/>
              <a:t>β &gt; 1 </a:t>
            </a:r>
            <a:r>
              <a:rPr lang="pt-BR" sz="1800" dirty="0"/>
              <a:t>→ filhos podem extrapolar (ficam além dos pais para alguns genes)</a:t>
            </a:r>
          </a:p>
          <a:p>
            <a:pPr marL="0" indent="0">
              <a:buNone/>
            </a:pPr>
            <a:r>
              <a:rPr lang="pt-BR" sz="1800" dirty="0"/>
              <a:t>Exemplo de um crossover de dois pais com β=1,11:</a:t>
            </a:r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CFE6B3AA-FFED-63CB-0174-7C2C70E085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268929"/>
              </p:ext>
            </p:extLst>
          </p:nvPr>
        </p:nvGraphicFramePr>
        <p:xfrm>
          <a:off x="1642935" y="4206240"/>
          <a:ext cx="8906130" cy="24235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0880">
                  <a:extLst>
                    <a:ext uri="{9D8B030D-6E8A-4147-A177-3AD203B41FA5}">
                      <a16:colId xmlns:a16="http://schemas.microsoft.com/office/drawing/2014/main" val="2244813518"/>
                    </a:ext>
                  </a:extLst>
                </a:gridCol>
                <a:gridCol w="1197050">
                  <a:extLst>
                    <a:ext uri="{9D8B030D-6E8A-4147-A177-3AD203B41FA5}">
                      <a16:colId xmlns:a16="http://schemas.microsoft.com/office/drawing/2014/main" val="2892026149"/>
                    </a:ext>
                  </a:extLst>
                </a:gridCol>
                <a:gridCol w="1197050">
                  <a:extLst>
                    <a:ext uri="{9D8B030D-6E8A-4147-A177-3AD203B41FA5}">
                      <a16:colId xmlns:a16="http://schemas.microsoft.com/office/drawing/2014/main" val="436284637"/>
                    </a:ext>
                  </a:extLst>
                </a:gridCol>
                <a:gridCol w="1197050">
                  <a:extLst>
                    <a:ext uri="{9D8B030D-6E8A-4147-A177-3AD203B41FA5}">
                      <a16:colId xmlns:a16="http://schemas.microsoft.com/office/drawing/2014/main" val="1225211418"/>
                    </a:ext>
                  </a:extLst>
                </a:gridCol>
                <a:gridCol w="1197050">
                  <a:extLst>
                    <a:ext uri="{9D8B030D-6E8A-4147-A177-3AD203B41FA5}">
                      <a16:colId xmlns:a16="http://schemas.microsoft.com/office/drawing/2014/main" val="2522023388"/>
                    </a:ext>
                  </a:extLst>
                </a:gridCol>
                <a:gridCol w="1197050">
                  <a:extLst>
                    <a:ext uri="{9D8B030D-6E8A-4147-A177-3AD203B41FA5}">
                      <a16:colId xmlns:a16="http://schemas.microsoft.com/office/drawing/2014/main" val="2906090435"/>
                    </a:ext>
                  </a:extLst>
                </a:gridCol>
              </a:tblGrid>
              <a:tr h="3462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Individuo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BBAS3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PETR4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VALE3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ITUB4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WEGE3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836050"/>
                  </a:ext>
                </a:extLst>
              </a:tr>
              <a:tr h="3462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Pai 1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0.352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0.015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0.456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0.000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0.176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540989"/>
                  </a:ext>
                </a:extLst>
              </a:tr>
              <a:tr h="3462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Pai 2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0.260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0.000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0.083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0.326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0.330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171244"/>
                  </a:ext>
                </a:extLst>
              </a:tr>
              <a:tr h="3462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Filho 1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0.357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0.016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0.477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-0.018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0.167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701437"/>
                  </a:ext>
                </a:extLst>
              </a:tr>
              <a:tr h="3462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Filho 2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0.255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-0.001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0.062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0.344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0.339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979177"/>
                  </a:ext>
                </a:extLst>
              </a:tr>
              <a:tr h="3462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Filho 1 Normalizado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0,384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0.020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0.384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0.000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0.210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319947"/>
                  </a:ext>
                </a:extLst>
              </a:tr>
              <a:tr h="3462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Filho 2 Normalizado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0.278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0.000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0.067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0.327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0.327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135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86394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0BD33-A8A3-712B-BBD1-94DADCD5C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28C4CD-E27C-975F-9ABB-2249F2587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Desenvolvimento</a:t>
            </a:r>
            <a:br>
              <a:rPr lang="pt-BR" dirty="0">
                <a:highlight>
                  <a:srgbClr val="FFFF00"/>
                </a:highlight>
              </a:rPr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Mutação</a:t>
            </a:r>
            <a:endParaRPr lang="pt-BR" sz="3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547480BE-1708-E4ED-0B23-270D832776A6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369CB8F-F6F8-DDD4-5F99-1F1F8A787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33</a:t>
            </a:fld>
            <a:endParaRPr lang="pt-BR"/>
          </a:p>
        </p:txBody>
      </p:sp>
      <p:sp>
        <p:nvSpPr>
          <p:cNvPr id="12" name="Espaço Reservado para Conteúdo 2">
            <a:extLst>
              <a:ext uri="{FF2B5EF4-FFF2-40B4-BE49-F238E27FC236}">
                <a16:creationId xmlns:a16="http://schemas.microsoft.com/office/drawing/2014/main" id="{B9C0086F-660C-2FC3-5EFC-58EB7188B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00" y="1661402"/>
            <a:ext cx="5259811" cy="48314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000" b="1" dirty="0"/>
              <a:t>Substituição de Ativo</a:t>
            </a:r>
          </a:p>
          <a:p>
            <a:r>
              <a:rPr lang="pt-BR" sz="1800" dirty="0"/>
              <a:t>Acontece com </a:t>
            </a:r>
            <a:r>
              <a:rPr lang="pt-BR" sz="1800" b="1" dirty="0"/>
              <a:t>30%</a:t>
            </a:r>
            <a:r>
              <a:rPr lang="pt-BR" sz="1800" dirty="0"/>
              <a:t> de probabilidade quando a cardinalidade já atingiu K.</a:t>
            </a:r>
          </a:p>
          <a:p>
            <a:r>
              <a:rPr lang="pt-BR" sz="1800" dirty="0"/>
              <a:t>Identifica o ativo </a:t>
            </a:r>
            <a:r>
              <a:rPr lang="pt-BR" sz="1800" b="1" dirty="0"/>
              <a:t>com menor peso positivo</a:t>
            </a:r>
            <a:r>
              <a:rPr lang="pt-BR" sz="1800" dirty="0"/>
              <a:t>.</a:t>
            </a:r>
          </a:p>
          <a:p>
            <a:r>
              <a:rPr lang="pt-BR" sz="1800" dirty="0"/>
              <a:t>Escolhe um ativo </a:t>
            </a:r>
            <a:r>
              <a:rPr lang="pt-BR" sz="1800" b="1" dirty="0"/>
              <a:t>inativo (peso 0)</a:t>
            </a:r>
            <a:r>
              <a:rPr lang="pt-BR" sz="1800" dirty="0"/>
              <a:t>.</a:t>
            </a:r>
          </a:p>
          <a:p>
            <a:r>
              <a:rPr lang="pt-BR" sz="1800" dirty="0"/>
              <a:t>Transfere </a:t>
            </a:r>
            <a:r>
              <a:rPr lang="pt-BR" sz="1800" b="1" dirty="0"/>
              <a:t>todo o peso</a:t>
            </a:r>
            <a:r>
              <a:rPr lang="pt-BR" sz="1800" dirty="0"/>
              <a:t> do ativo removido para o ativo novo.</a:t>
            </a:r>
          </a:p>
          <a:p>
            <a:endParaRPr lang="pt-BR" sz="1800" b="1" dirty="0"/>
          </a:p>
          <a:p>
            <a:pPr marL="0" indent="0">
              <a:buNone/>
            </a:pPr>
            <a:r>
              <a:rPr lang="pt-BR" sz="2000" b="1" dirty="0"/>
              <a:t>Exemplo:</a:t>
            </a:r>
          </a:p>
          <a:p>
            <a:pPr marL="0" indent="0">
              <a:buNone/>
            </a:pPr>
            <a:r>
              <a:rPr lang="pt-BR" sz="1800" dirty="0"/>
              <a:t>BBAS3 = 0.55 → 0.55</a:t>
            </a:r>
          </a:p>
          <a:p>
            <a:pPr marL="0" indent="0">
              <a:buNone/>
            </a:pPr>
            <a:r>
              <a:rPr lang="pt-BR" sz="1800" dirty="0"/>
              <a:t>PETR4 = 0.35 → 0.35</a:t>
            </a:r>
          </a:p>
          <a:p>
            <a:pPr marL="0" indent="0">
              <a:buNone/>
            </a:pPr>
            <a:r>
              <a:rPr lang="pt-BR" sz="1800" dirty="0"/>
              <a:t>VALE3 = 0.10 → </a:t>
            </a:r>
            <a:r>
              <a:rPr lang="pt-BR" sz="1800" b="1" dirty="0"/>
              <a:t>0.00</a:t>
            </a:r>
          </a:p>
          <a:p>
            <a:pPr marL="0" indent="0">
              <a:buNone/>
            </a:pPr>
            <a:r>
              <a:rPr lang="pt-BR" sz="1800" dirty="0"/>
              <a:t>ITUB4 = 0.00 → </a:t>
            </a:r>
            <a:r>
              <a:rPr lang="pt-BR" sz="1800" b="1" dirty="0"/>
              <a:t>0.10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29C131-9DBC-4ABE-6512-B259A185C41C}"/>
              </a:ext>
            </a:extLst>
          </p:cNvPr>
          <p:cNvSpPr txBox="1">
            <a:spLocks/>
          </p:cNvSpPr>
          <p:nvPr/>
        </p:nvSpPr>
        <p:spPr>
          <a:xfrm>
            <a:off x="6096000" y="1661402"/>
            <a:ext cx="5742040" cy="46324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2000" b="1" dirty="0"/>
              <a:t>Transferência de Peso </a:t>
            </a:r>
          </a:p>
          <a:p>
            <a:r>
              <a:rPr lang="pt-BR" sz="2200" b="1" dirty="0"/>
              <a:t> </a:t>
            </a:r>
            <a:r>
              <a:rPr lang="pt-BR" sz="1800" dirty="0"/>
              <a:t>Usada quando K ainda não foi atingido, ou com </a:t>
            </a:r>
            <a:r>
              <a:rPr lang="pt-BR" sz="1800" b="1" dirty="0"/>
              <a:t>70%</a:t>
            </a:r>
            <a:r>
              <a:rPr lang="pt-BR" sz="1800" dirty="0"/>
              <a:t> de probabilidade quando K está cheio</a:t>
            </a:r>
          </a:p>
          <a:p>
            <a:r>
              <a:rPr lang="pt-BR" sz="1800" dirty="0"/>
              <a:t>Seleciona </a:t>
            </a:r>
            <a:r>
              <a:rPr lang="pt-BR" sz="1800" b="1" dirty="0"/>
              <a:t>dois ativos</a:t>
            </a:r>
            <a:r>
              <a:rPr lang="pt-BR" sz="1800" dirty="0"/>
              <a:t> com peso positivo.</a:t>
            </a:r>
          </a:p>
          <a:p>
            <a:r>
              <a:rPr lang="it-IT" sz="1800" dirty="0"/>
              <a:t>Calcula </a:t>
            </a:r>
            <a:r>
              <a:rPr lang="it-IT" sz="1800" b="1" dirty="0"/>
              <a:t>delta</a:t>
            </a:r>
            <a:r>
              <a:rPr lang="it-IT" sz="1800" dirty="0"/>
              <a:t> via polynomial mutation.</a:t>
            </a:r>
          </a:p>
          <a:p>
            <a:r>
              <a:rPr lang="pt-BR" sz="1800" dirty="0"/>
              <a:t>Transfere parte do peso do ativo 1 para o ativo 2.</a:t>
            </a:r>
            <a:endParaRPr lang="pt-BR" sz="1800" b="1" dirty="0"/>
          </a:p>
          <a:p>
            <a:pPr marL="0" indent="0">
              <a:buNone/>
            </a:pPr>
            <a:endParaRPr lang="pt-BR" sz="22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2000" b="1" dirty="0"/>
              <a:t>Exemplo: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800" dirty="0"/>
              <a:t>BBAS3 = 0.50 → 0.47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800" dirty="0"/>
              <a:t>VALE3 = 0.20 → 0.23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800" dirty="0"/>
              <a:t>PETR4 permanece = 0.30</a:t>
            </a:r>
          </a:p>
        </p:txBody>
      </p:sp>
    </p:spTree>
    <p:extLst>
      <p:ext uri="{BB962C8B-B14F-4D97-AF65-F5344CB8AC3E}">
        <p14:creationId xmlns:p14="http://schemas.microsoft.com/office/powerpoint/2010/main" val="4734579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2DAEE-A186-6442-1B01-E973BBCC4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1B0037-A0C3-5951-2425-4EE5C9CD1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Desenvolvimento</a:t>
            </a:r>
            <a:br>
              <a:rPr lang="pt-BR" dirty="0">
                <a:highlight>
                  <a:srgbClr val="FFFF00"/>
                </a:highlight>
              </a:rPr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Definição dos </a:t>
            </a:r>
            <a:r>
              <a:rPr lang="pt-BR" sz="3600" dirty="0" err="1">
                <a:solidFill>
                  <a:schemeClr val="bg1">
                    <a:lumMod val="50000"/>
                  </a:schemeClr>
                </a:solidFill>
              </a:rPr>
              <a:t>hiperparâmetros</a:t>
            </a:r>
            <a:endParaRPr lang="pt-BR" sz="3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26BBAFA2-16AE-1B06-DFE7-FA85D3F8E88B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C974530-9199-9769-4DDB-3166698FF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34</a:t>
            </a:fld>
            <a:endParaRPr lang="pt-BR"/>
          </a:p>
        </p:txBody>
      </p:sp>
      <p:sp>
        <p:nvSpPr>
          <p:cNvPr id="12" name="Espaço Reservado para Conteúdo 2">
            <a:extLst>
              <a:ext uri="{FF2B5EF4-FFF2-40B4-BE49-F238E27FC236}">
                <a16:creationId xmlns:a16="http://schemas.microsoft.com/office/drawing/2014/main" id="{8DEB47BF-2AAA-2D2F-C5F4-1020ED1BF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873" y="1828450"/>
            <a:ext cx="10449375" cy="4389470"/>
          </a:xfrm>
        </p:spPr>
        <p:txBody>
          <a:bodyPr>
            <a:noAutofit/>
          </a:bodyPr>
          <a:lstStyle/>
          <a:p>
            <a:pPr algn="just">
              <a:spcBef>
                <a:spcPts val="1400"/>
              </a:spcBef>
            </a:pPr>
            <a:r>
              <a:rPr lang="pt-BR" sz="1800" dirty="0"/>
              <a:t>Combinação de tamanho populacional e número de gerações para determinados números de ativos</a:t>
            </a:r>
          </a:p>
          <a:p>
            <a:pPr algn="just">
              <a:spcBef>
                <a:spcPts val="1400"/>
              </a:spcBef>
            </a:pPr>
            <a:r>
              <a:rPr lang="pt-BR" sz="1800" dirty="0" err="1"/>
              <a:t>Hypervolume</a:t>
            </a:r>
            <a:r>
              <a:rPr lang="pt-BR" sz="1800" dirty="0"/>
              <a:t> e spread como métricas</a:t>
            </a:r>
            <a:endParaRPr lang="pt-BR" sz="1800" b="1" dirty="0"/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  <a:p>
            <a:pPr algn="just">
              <a:spcBef>
                <a:spcPts val="1400"/>
              </a:spcBef>
            </a:pPr>
            <a:endParaRPr lang="pt-BR" sz="2400" dirty="0">
              <a:highlight>
                <a:srgbClr val="FFFF00"/>
              </a:highlight>
            </a:endParaRPr>
          </a:p>
        </p:txBody>
      </p:sp>
      <p:pic>
        <p:nvPicPr>
          <p:cNvPr id="3" name="Imagem 2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9EFBB406-E0AC-C688-D0DC-76A4A2E5E2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4812" y="2843784"/>
            <a:ext cx="7057496" cy="364909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836443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541F7-3079-C4E9-F18F-C634BB303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45A77728-9DF2-3AA4-BB1C-6A14CAC19432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B7721C8-B326-84FF-9E53-328290F17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35</a:t>
            </a:fld>
            <a:endParaRPr lang="pt-BR"/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C69AB183-D240-F0EC-82EE-94017EA179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6435416"/>
              </p:ext>
            </p:extLst>
          </p:nvPr>
        </p:nvGraphicFramePr>
        <p:xfrm>
          <a:off x="4498830" y="620688"/>
          <a:ext cx="7200800" cy="56166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63932">
                  <a:extLst>
                    <a:ext uri="{9D8B030D-6E8A-4147-A177-3AD203B41FA5}">
                      <a16:colId xmlns:a16="http://schemas.microsoft.com/office/drawing/2014/main" val="4292970668"/>
                    </a:ext>
                  </a:extLst>
                </a:gridCol>
                <a:gridCol w="3536868">
                  <a:extLst>
                    <a:ext uri="{9D8B030D-6E8A-4147-A177-3AD203B41FA5}">
                      <a16:colId xmlns:a16="http://schemas.microsoft.com/office/drawing/2014/main" val="136555977"/>
                    </a:ext>
                  </a:extLst>
                </a:gridCol>
              </a:tblGrid>
              <a:tr h="247616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903248"/>
                  </a:ext>
                </a:extLst>
              </a:tr>
              <a:tr h="2319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solidFill>
                            <a:schemeClr val="tx1"/>
                          </a:solidFill>
                          <a:effectLst/>
                        </a:rPr>
                        <a:t>Perfil moderado</a:t>
                      </a:r>
                      <a:endParaRPr lang="pt-BR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b="1" dirty="0">
                          <a:effectLst/>
                        </a:rPr>
                        <a:t>Perfil arrojado</a:t>
                      </a:r>
                      <a:endParaRPr lang="pt-BR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942118"/>
                  </a:ext>
                </a:extLst>
              </a:tr>
              <a:tr h="267650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673938"/>
                  </a:ext>
                </a:extLst>
              </a:tr>
              <a:tr h="2319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solidFill>
                            <a:schemeClr val="tx1"/>
                          </a:solidFill>
                          <a:effectLst/>
                        </a:rPr>
                        <a:t>Perfil conservador</a:t>
                      </a:r>
                      <a:endParaRPr lang="pt-BR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effectLst/>
                        </a:rPr>
                        <a:t>Perfil moderado (ampliado)</a:t>
                      </a:r>
                      <a:endParaRPr lang="pt-BR" sz="12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364927"/>
                  </a:ext>
                </a:extLst>
              </a:tr>
            </a:tbl>
          </a:graphicData>
        </a:graphic>
      </p:graphicFrame>
      <p:pic>
        <p:nvPicPr>
          <p:cNvPr id="8" name="Imagem 11" descr="Gráfico, Gráfico de dispersão&#10;&#10;O conteúdo gerado por IA pode estar incorreto.">
            <a:extLst>
              <a:ext uri="{FF2B5EF4-FFF2-40B4-BE49-F238E27FC236}">
                <a16:creationId xmlns:a16="http://schemas.microsoft.com/office/drawing/2014/main" id="{AB0D28D0-F50C-B386-FF1F-5096711DB6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1752" y="652400"/>
            <a:ext cx="3040615" cy="239195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D1B00183-16F2-6096-BBAC-FEB45FF37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1278" y="696032"/>
            <a:ext cx="2835541" cy="2304687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10" name="Imagem 10">
            <a:extLst>
              <a:ext uri="{FF2B5EF4-FFF2-40B4-BE49-F238E27FC236}">
                <a16:creationId xmlns:a16="http://schemas.microsoft.com/office/drawing/2014/main" id="{7B373F65-9E57-8795-474D-FA5F71036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862" y="3388737"/>
            <a:ext cx="3145505" cy="2578504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11" name="Imagem 9" descr="Gráfico, Gráfico de dispersão&#10;&#10;O conteúdo gerado por IA pode estar incorreto.">
            <a:extLst>
              <a:ext uri="{FF2B5EF4-FFF2-40B4-BE49-F238E27FC236}">
                <a16:creationId xmlns:a16="http://schemas.microsoft.com/office/drawing/2014/main" id="{A429442B-7714-A732-9DCC-43B14D045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4487" y="3388737"/>
            <a:ext cx="3129122" cy="2578504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05AA3C31-38C5-16C8-7CA4-55C51D802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672" y="1405952"/>
            <a:ext cx="4956047" cy="1325563"/>
          </a:xfrm>
        </p:spPr>
        <p:txBody>
          <a:bodyPr/>
          <a:lstStyle/>
          <a:p>
            <a:r>
              <a:rPr lang="pt-BR" dirty="0"/>
              <a:t>Desenvolvimento</a:t>
            </a:r>
            <a:br>
              <a:rPr lang="pt-BR" dirty="0">
                <a:highlight>
                  <a:srgbClr val="FFFF00"/>
                </a:highlight>
              </a:rPr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Resultados</a:t>
            </a:r>
            <a:endParaRPr lang="pt-BR" sz="3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88991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0E78F-439D-260A-2862-5EEEB17A0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D90C44-8F5B-446D-0894-6A0CD99EB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Desenvolvimento</a:t>
            </a:r>
            <a:br>
              <a:rPr lang="pt-BR" dirty="0">
                <a:highlight>
                  <a:srgbClr val="FFFF00"/>
                </a:highlight>
              </a:rPr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Resultados</a:t>
            </a:r>
            <a:endParaRPr lang="pt-BR" sz="3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BD692AB2-5FE4-1268-6E5D-ADEDFD702E54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3FC35B5-DFE3-9BE6-DA27-ABB79AC66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36</a:t>
            </a:fld>
            <a:endParaRPr lang="pt-BR"/>
          </a:p>
        </p:txBody>
      </p:sp>
      <p:sp>
        <p:nvSpPr>
          <p:cNvPr id="12" name="Espaço Reservado para Conteúdo 2">
            <a:extLst>
              <a:ext uri="{FF2B5EF4-FFF2-40B4-BE49-F238E27FC236}">
                <a16:creationId xmlns:a16="http://schemas.microsoft.com/office/drawing/2014/main" id="{DEF64DB9-58EF-9153-C0F8-7A419BBF5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873" y="1828450"/>
            <a:ext cx="4560639" cy="1893158"/>
          </a:xfrm>
        </p:spPr>
        <p:txBody>
          <a:bodyPr>
            <a:noAutofit/>
          </a:bodyPr>
          <a:lstStyle/>
          <a:p>
            <a:pPr algn="just">
              <a:spcBef>
                <a:spcPts val="1400"/>
              </a:spcBef>
            </a:pPr>
            <a:r>
              <a:rPr lang="pt-BR" sz="1800" dirty="0"/>
              <a:t>Escolha da melhor carteira com base no ASF</a:t>
            </a:r>
          </a:p>
          <a:p>
            <a:pPr algn="just">
              <a:spcBef>
                <a:spcPts val="1400"/>
              </a:spcBef>
            </a:pPr>
            <a:r>
              <a:rPr lang="pt-BR" sz="1800" dirty="0"/>
              <a:t>Quanto mais perto do </a:t>
            </a:r>
            <a:r>
              <a:rPr lang="pt-BR" sz="1800" i="1" dirty="0" err="1"/>
              <a:t>reference</a:t>
            </a:r>
            <a:r>
              <a:rPr lang="pt-BR" sz="1800" i="1" dirty="0"/>
              <a:t> point</a:t>
            </a:r>
            <a:r>
              <a:rPr lang="pt-BR" sz="1800" dirty="0"/>
              <a:t>, mais próximo da escolha ideal pro perfil de rico</a:t>
            </a:r>
          </a:p>
          <a:p>
            <a:pPr algn="just">
              <a:spcBef>
                <a:spcPts val="1400"/>
              </a:spcBef>
            </a:pPr>
            <a:r>
              <a:rPr lang="pt-BR" sz="1800" i="1" dirty="0" err="1"/>
              <a:t>refence</a:t>
            </a:r>
            <a:r>
              <a:rPr lang="pt-BR" sz="1800" i="1" dirty="0"/>
              <a:t> point </a:t>
            </a:r>
            <a:r>
              <a:rPr lang="pt-BR" sz="1800" dirty="0"/>
              <a:t>do perfil conservador: [0.3, 0.05, 0.05]</a:t>
            </a:r>
            <a:endParaRPr lang="ar-AE" sz="1800" dirty="0"/>
          </a:p>
          <a:p>
            <a:pPr algn="just">
              <a:spcBef>
                <a:spcPts val="1400"/>
              </a:spcBef>
            </a:pPr>
            <a:endParaRPr lang="pt-BR" sz="1800" dirty="0"/>
          </a:p>
          <a:p>
            <a:pPr algn="just">
              <a:spcBef>
                <a:spcPts val="1400"/>
              </a:spcBef>
            </a:pPr>
            <a:endParaRPr lang="pt-BR" sz="1800" dirty="0"/>
          </a:p>
          <a:p>
            <a:pPr algn="just">
              <a:spcBef>
                <a:spcPts val="1400"/>
              </a:spcBef>
            </a:pPr>
            <a:endParaRPr lang="pt-BR" sz="1800" dirty="0"/>
          </a:p>
          <a:p>
            <a:pPr algn="just">
              <a:spcBef>
                <a:spcPts val="1400"/>
              </a:spcBef>
            </a:pPr>
            <a:endParaRPr lang="pt-BR" sz="1800" dirty="0"/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  <a:p>
            <a:pPr algn="just">
              <a:spcBef>
                <a:spcPts val="1400"/>
              </a:spcBef>
            </a:pPr>
            <a:endParaRPr lang="pt-BR" sz="2400" dirty="0">
              <a:highlight>
                <a:srgbClr val="FFFF00"/>
              </a:highlight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CDCD572-9A24-529D-7B87-F61501157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345" y="1690688"/>
            <a:ext cx="6041455" cy="48874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901356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6BA08-94E4-C3E1-CA50-DBD46ADF0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1BFF07-A013-D317-EFEA-B813F13B1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Desenvolvimento</a:t>
            </a:r>
            <a:br>
              <a:rPr lang="pt-BR" dirty="0">
                <a:highlight>
                  <a:srgbClr val="FFFF00"/>
                </a:highlight>
              </a:rPr>
            </a:br>
            <a:r>
              <a:rPr lang="pt-BR" sz="3600" dirty="0" err="1">
                <a:solidFill>
                  <a:schemeClr val="bg1">
                    <a:lumMod val="50000"/>
                  </a:schemeClr>
                </a:solidFill>
              </a:rPr>
              <a:t>Backtest</a:t>
            </a:r>
            <a:endParaRPr lang="pt-BR" sz="3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A7F8A7E3-C152-A275-D29A-550AFD53DD1A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FB14F16-5A34-F298-CFEA-F0E37F01A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37</a:t>
            </a:fld>
            <a:endParaRPr lang="pt-BR"/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97E70F95-B63E-70BE-AACD-5FD1309841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020574"/>
              </p:ext>
            </p:extLst>
          </p:nvPr>
        </p:nvGraphicFramePr>
        <p:xfrm>
          <a:off x="1794192" y="2983386"/>
          <a:ext cx="8352160" cy="361248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249770">
                  <a:extLst>
                    <a:ext uri="{9D8B030D-6E8A-4147-A177-3AD203B41FA5}">
                      <a16:colId xmlns:a16="http://schemas.microsoft.com/office/drawing/2014/main" val="4292970668"/>
                    </a:ext>
                  </a:extLst>
                </a:gridCol>
                <a:gridCol w="4102390">
                  <a:extLst>
                    <a:ext uri="{9D8B030D-6E8A-4147-A177-3AD203B41FA5}">
                      <a16:colId xmlns:a16="http://schemas.microsoft.com/office/drawing/2014/main" val="136555977"/>
                    </a:ext>
                  </a:extLst>
                </a:gridCol>
              </a:tblGrid>
              <a:tr h="339912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903248"/>
                  </a:ext>
                </a:extLst>
              </a:tr>
              <a:tr h="257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>
                          <a:solidFill>
                            <a:schemeClr val="tx1"/>
                          </a:solidFill>
                          <a:effectLst/>
                          <a:latin typeface="Arial (Corpo)"/>
                          <a:ea typeface="Times New Roman" panose="02020603050405020304" pitchFamily="18" charset="0"/>
                        </a:rPr>
                        <a:t>Carteira arrojada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>
                          <a:effectLst/>
                        </a:rPr>
                        <a:t>Carteira conservadora</a:t>
                      </a:r>
                      <a:endParaRPr lang="pt-BR" sz="1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942118"/>
                  </a:ext>
                </a:extLst>
              </a:tr>
            </a:tbl>
          </a:graphicData>
        </a:graphic>
      </p:graphicFrame>
      <p:pic>
        <p:nvPicPr>
          <p:cNvPr id="15" name="Imagem 14" descr="Gráfico, Gráfico de linhas, Histograma&#10;&#10;O conteúdo gerado por IA pode estar incorreto.">
            <a:extLst>
              <a:ext uri="{FF2B5EF4-FFF2-40B4-BE49-F238E27FC236}">
                <a16:creationId xmlns:a16="http://schemas.microsoft.com/office/drawing/2014/main" id="{823735E6-D397-1924-7AED-FBD2216221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3481" y="3192369"/>
            <a:ext cx="3967308" cy="3060741"/>
          </a:xfrm>
          <a:prstGeom prst="rect">
            <a:avLst/>
          </a:prstGeom>
        </p:spPr>
      </p:pic>
      <p:pic>
        <p:nvPicPr>
          <p:cNvPr id="17" name="Imagem 16" descr="Gráfico, Histograma&#10;&#10;O conteúdo gerado por IA pode estar incorreto.">
            <a:extLst>
              <a:ext uri="{FF2B5EF4-FFF2-40B4-BE49-F238E27FC236}">
                <a16:creationId xmlns:a16="http://schemas.microsoft.com/office/drawing/2014/main" id="{9F41B094-6BC9-9BEC-3EF5-E119A6205D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192368"/>
            <a:ext cx="3953736" cy="3060742"/>
          </a:xfrm>
          <a:prstGeom prst="rect">
            <a:avLst/>
          </a:prstGeom>
        </p:spPr>
      </p:pic>
      <p:sp>
        <p:nvSpPr>
          <p:cNvPr id="18" name="Espaço Reservado para Conteúdo 2">
            <a:extLst>
              <a:ext uri="{FF2B5EF4-FFF2-40B4-BE49-F238E27FC236}">
                <a16:creationId xmlns:a16="http://schemas.microsoft.com/office/drawing/2014/main" id="{3C222B80-9867-7040-4756-57F57FB60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289" y="1690687"/>
            <a:ext cx="4560639" cy="1167095"/>
          </a:xfrm>
        </p:spPr>
        <p:txBody>
          <a:bodyPr>
            <a:noAutofit/>
          </a:bodyPr>
          <a:lstStyle/>
          <a:p>
            <a:pPr algn="just">
              <a:spcBef>
                <a:spcPts val="1400"/>
              </a:spcBef>
            </a:pPr>
            <a:r>
              <a:rPr lang="pt-BR" sz="1800" b="1" dirty="0"/>
              <a:t>Ibovespa: </a:t>
            </a:r>
            <a:r>
              <a:rPr lang="pt-BR" sz="1800" dirty="0"/>
              <a:t>156,42%</a:t>
            </a:r>
          </a:p>
          <a:p>
            <a:pPr algn="just">
              <a:spcBef>
                <a:spcPts val="1400"/>
              </a:spcBef>
            </a:pPr>
            <a:r>
              <a:rPr lang="pt-BR" sz="1800" b="1" dirty="0"/>
              <a:t>Carteira arrojada: </a:t>
            </a:r>
            <a:r>
              <a:rPr lang="pt-BR" sz="1800" dirty="0"/>
              <a:t>408,90%</a:t>
            </a:r>
          </a:p>
          <a:p>
            <a:pPr algn="just">
              <a:spcBef>
                <a:spcPts val="1400"/>
              </a:spcBef>
            </a:pPr>
            <a:r>
              <a:rPr lang="pt-BR" sz="1800" b="1" dirty="0"/>
              <a:t>Carteira conservadora: </a:t>
            </a:r>
            <a:r>
              <a:rPr lang="pt-BR" sz="1800" dirty="0"/>
              <a:t>432, 94% </a:t>
            </a:r>
          </a:p>
          <a:p>
            <a:pPr algn="just">
              <a:spcBef>
                <a:spcPts val="1400"/>
              </a:spcBef>
            </a:pPr>
            <a:endParaRPr lang="pt-BR" sz="1800" dirty="0"/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  <a:p>
            <a:pPr algn="just">
              <a:spcBef>
                <a:spcPts val="1400"/>
              </a:spcBef>
            </a:pPr>
            <a:endParaRPr lang="pt-BR" sz="24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952608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4289F-D934-99C9-A6ED-3D78F7A76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903C75-3E6D-674B-41E0-0FDCC7D49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961" y="5241268"/>
            <a:ext cx="3460868" cy="1407238"/>
          </a:xfrm>
        </p:spPr>
        <p:txBody>
          <a:bodyPr>
            <a:normAutofit/>
          </a:bodyPr>
          <a:lstStyle/>
          <a:p>
            <a:pPr marL="0" indent="0">
              <a:spcBef>
                <a:spcPts val="1400"/>
              </a:spcBef>
              <a:buNone/>
            </a:pP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Diagrama </a:t>
            </a:r>
            <a:br>
              <a:rPr lang="pt-BR" sz="36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de casos de uso</a:t>
            </a: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21EABABB-0A1A-9CCD-97CC-ABB8D0E3DA82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387A502-7834-61AF-C747-B73F59B71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38</a:t>
            </a:fld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8576D700-A6CB-E4EA-6914-9A8E6D207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962" y="671849"/>
            <a:ext cx="10515600" cy="1325563"/>
          </a:xfrm>
        </p:spPr>
        <p:txBody>
          <a:bodyPr>
            <a:normAutofit/>
          </a:bodyPr>
          <a:lstStyle/>
          <a:p>
            <a:r>
              <a:rPr lang="pt-BR" dirty="0">
                <a:latin typeface="+mn-lt"/>
                <a:ea typeface="+mn-ea"/>
                <a:cs typeface="+mn-cs"/>
              </a:rPr>
              <a:t>Desenvolvimento</a:t>
            </a:r>
            <a:br>
              <a:rPr lang="pt-BR" dirty="0">
                <a:latin typeface="+mn-lt"/>
                <a:ea typeface="+mn-ea"/>
                <a:cs typeface="+mn-cs"/>
              </a:rPr>
            </a:br>
            <a:r>
              <a:rPr lang="pt-BR" dirty="0">
                <a:latin typeface="+mn-lt"/>
                <a:ea typeface="+mn-ea"/>
                <a:cs typeface="+mn-cs"/>
              </a:rPr>
              <a:t>Plataforma Web</a:t>
            </a:r>
          </a:p>
        </p:txBody>
      </p:sp>
      <p:pic>
        <p:nvPicPr>
          <p:cNvPr id="2" name="Imagem 1" descr="Diagrama&#10;&#10;O conteúdo gerado por IA pode estar incorreto.">
            <a:extLst>
              <a:ext uri="{FF2B5EF4-FFF2-40B4-BE49-F238E27FC236}">
                <a16:creationId xmlns:a16="http://schemas.microsoft.com/office/drawing/2014/main" id="{8ADFB8C4-0F3F-C7AA-A4FE-18C17AF4A6C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8" t="10881" b="1706"/>
          <a:stretch>
            <a:fillRect/>
          </a:stretch>
        </p:blipFill>
        <p:spPr bwMode="auto">
          <a:xfrm>
            <a:off x="4647910" y="95099"/>
            <a:ext cx="5364307" cy="6658154"/>
          </a:xfrm>
          <a:prstGeom prst="rect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165515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B6F29-AC96-0F7A-AAA9-E5E35A90E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9B645B-0A7D-46CE-BD2D-461E3E52A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Desenvolvimento</a:t>
            </a:r>
            <a:br>
              <a:rPr lang="pt-BR" dirty="0"/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Plataforma Web</a:t>
            </a:r>
            <a:endParaRPr lang="pt-BR" sz="3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285F43-217E-05A1-43EF-71499B8EC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480" y="1532531"/>
            <a:ext cx="10674927" cy="4351338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1400"/>
              </a:spcBef>
              <a:buNone/>
            </a:pPr>
            <a:r>
              <a:rPr lang="pt-BR" dirty="0"/>
              <a:t>Requisitos funcionais</a:t>
            </a: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E164F92E-B7B1-0D13-78F1-7A31D4719DB8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0A4D77D-3C02-9A51-8B30-A18FE2B34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39</a:t>
            </a:fld>
            <a:endParaRPr lang="pt-BR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B45EA3C8-7531-DB98-49D4-2548FC3C1406}"/>
              </a:ext>
            </a:extLst>
          </p:cNvPr>
          <p:cNvGraphicFramePr>
            <a:graphicFrameLocks noGrp="1"/>
          </p:cNvGraphicFramePr>
          <p:nvPr/>
        </p:nvGraphicFramePr>
        <p:xfrm>
          <a:off x="626818" y="2094538"/>
          <a:ext cx="10938361" cy="45152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38361">
                  <a:extLst>
                    <a:ext uri="{9D8B030D-6E8A-4147-A177-3AD203B41FA5}">
                      <a16:colId xmlns:a16="http://schemas.microsoft.com/office/drawing/2014/main" val="3975763982"/>
                    </a:ext>
                  </a:extLst>
                </a:gridCol>
              </a:tblGrid>
              <a:tr h="387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RF01 - A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utenticação de usuário: a aplicação deve permitir autenticação via e-mail e senha, fornecendo </a:t>
                      </a:r>
                      <a:r>
                        <a:rPr lang="pt-BR" sz="16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token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válido e redirecionando ao </a:t>
                      </a:r>
                      <a:r>
                        <a:rPr lang="pt-BR" sz="16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dashboard.</a:t>
                      </a:r>
                      <a:endParaRPr lang="pt-BR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98916179"/>
                  </a:ext>
                </a:extLst>
              </a:tr>
              <a:tr h="387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RF02 - 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Registro de novo usuário: a aplicação deve disponibilizar formulário de cadastro, permitindo criação e posterior login.</a:t>
                      </a:r>
                      <a:endParaRPr lang="pt-BR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84119021"/>
                  </a:ext>
                </a:extLst>
              </a:tr>
              <a:tr h="387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RF03 - 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Visualizar </a:t>
                      </a:r>
                      <a:r>
                        <a:rPr lang="pt-BR" sz="16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dashboard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com prévias: a aplicação deve exibir prévias de carteiras, métricas e demais dados resumidos.</a:t>
                      </a:r>
                      <a:endParaRPr lang="pt-BR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788081"/>
                  </a:ext>
                </a:extLst>
              </a:tr>
              <a:tr h="387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RF04 - 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Listar carteiras do usuário: a aplicação deve apresentar todas as carteiras cadastradas, permitindo seleção e exclusão. </a:t>
                      </a:r>
                      <a:endParaRPr lang="pt-BR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1874616"/>
                  </a:ext>
                </a:extLst>
              </a:tr>
              <a:tr h="387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RF05 - 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Visualizar detalhe e composição de carteira: a aplicação deve apresentar parâmetros e composição da carteira, incluindo tabela e gráfico.</a:t>
                      </a:r>
                      <a:endParaRPr lang="pt-BR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001755"/>
                  </a:ext>
                </a:extLst>
              </a:tr>
              <a:tr h="387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RF06 - 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Criar / otimizar carteira: a aplicação deve possibilitar envio de parâmetros financeiros e restrições para criação de carteira otimizada.</a:t>
                      </a:r>
                      <a:endParaRPr lang="pt-BR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84908734"/>
                  </a:ext>
                </a:extLst>
              </a:tr>
              <a:tr h="636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RF07 - 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Consultar ativos: a aplicação deve permitir listagem e filtragem de ativos para composição de carteiras.</a:t>
                      </a:r>
                      <a:endParaRPr lang="pt-BR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40484057"/>
                  </a:ext>
                </a:extLst>
              </a:tr>
              <a:tr h="387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RF08 - 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Deletar carteira: a aplicação deve permitir exclusão de carteiras mediante confirmação.</a:t>
                      </a:r>
                      <a:endParaRPr lang="pt-BR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95083047"/>
                  </a:ext>
                </a:extLst>
              </a:tr>
              <a:tr h="387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RF09 - 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Editar perfil / deletar conta: a aplicação deve permitir edição de dados do usuário e exclusão de conta.</a:t>
                      </a:r>
                      <a:endParaRPr lang="pt-BR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92078643"/>
                  </a:ext>
                </a:extLst>
              </a:tr>
              <a:tr h="387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RF10 - </a:t>
                      </a:r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Navegação protegida por sessão: a aplicação deve restringir acesso às rotas internas mediante verificação de </a:t>
                      </a:r>
                      <a:r>
                        <a:rPr lang="pt-BR" sz="16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token</a:t>
                      </a:r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49934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20039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8E965-A837-3488-DC54-CD57678A4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E2106C-8A69-883D-C3F4-25D06BC4B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Desenvolvimento</a:t>
            </a:r>
            <a:br>
              <a:rPr lang="pt-BR" dirty="0"/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Plataforma Web</a:t>
            </a:r>
            <a:endParaRPr lang="pt-BR" sz="3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778331-ACFC-C83E-F400-77264EBA6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241" y="1871897"/>
            <a:ext cx="10674927" cy="4351338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1400"/>
              </a:spcBef>
              <a:buNone/>
            </a:pPr>
            <a:r>
              <a:rPr lang="pt-BR" dirty="0"/>
              <a:t>Requisitos não funcionais</a:t>
            </a: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67C56024-34AA-B5E2-C4D8-C12C3E032A59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8DC99D6-E6D4-C086-DC7A-06D195791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40</a:t>
            </a:fld>
            <a:endParaRPr lang="pt-BR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04DCC027-6181-D4B3-D4EA-3C3D36C80E72}"/>
              </a:ext>
            </a:extLst>
          </p:cNvPr>
          <p:cNvGraphicFramePr>
            <a:graphicFrameLocks noGrp="1"/>
          </p:cNvGraphicFramePr>
          <p:nvPr/>
        </p:nvGraphicFramePr>
        <p:xfrm>
          <a:off x="574766" y="2364377"/>
          <a:ext cx="10938361" cy="2738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38361">
                  <a:extLst>
                    <a:ext uri="{9D8B030D-6E8A-4147-A177-3AD203B41FA5}">
                      <a16:colId xmlns:a16="http://schemas.microsoft.com/office/drawing/2014/main" val="3975763982"/>
                    </a:ext>
                  </a:extLst>
                </a:gridCol>
              </a:tblGrid>
              <a:tr h="387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RNF01 - 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Segurança: o </a:t>
                      </a:r>
                      <a:r>
                        <a:rPr lang="pt-BR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token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deve ser armazenado e enviado em autorização </a:t>
                      </a:r>
                      <a:r>
                        <a:rPr lang="pt-BR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Bearer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Em produção, recomenda-se uso de cookie </a:t>
                      </a:r>
                      <a:r>
                        <a:rPr lang="pt-BR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httpOnly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pt-B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98916179"/>
                  </a:ext>
                </a:extLst>
              </a:tr>
              <a:tr h="387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RNF02 - 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Performance: páginas essenciais devem carregar em menos de 2 segundos em ambiente local. </a:t>
                      </a:r>
                      <a:endParaRPr lang="pt-B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84119021"/>
                  </a:ext>
                </a:extLst>
              </a:tr>
              <a:tr h="387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RNF03 – 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Usabilidade e acessibilidade: a interface deve ser responsiva, acessível e com foco adequado em elementos interativos</a:t>
                      </a: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788081"/>
                  </a:ext>
                </a:extLst>
              </a:tr>
              <a:tr h="387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RNF04 – 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Manutenibilidade: a estrutura deve manter organização modular em </a:t>
                      </a:r>
                      <a:r>
                        <a:rPr lang="pt-BR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components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/, </a:t>
                      </a:r>
                      <a:r>
                        <a:rPr lang="pt-BR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pages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e </a:t>
                      </a:r>
                      <a:r>
                        <a:rPr lang="pt-BR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services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/.</a:t>
                      </a:r>
                      <a:endParaRPr lang="pt-B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1874616"/>
                  </a:ext>
                </a:extLst>
              </a:tr>
              <a:tr h="387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RNF05</a:t>
                      </a:r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– 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Compatibilidade: a aplicação deve suportar navegadores modernos com ES Modules.</a:t>
                      </a:r>
                      <a:endParaRPr lang="pt-B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1124143"/>
                  </a:ext>
                </a:extLst>
              </a:tr>
              <a:tr h="387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RNF06</a:t>
                      </a:r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– </a:t>
                      </a:r>
                      <a:r>
                        <a:rPr lang="pt-BR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Observabilidade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mensagens de erro devem ser apresentadas ao usuário, e falhas registradas no </a:t>
                      </a:r>
                      <a:r>
                        <a:rPr lang="pt-BR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console.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pt-B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7145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68542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50359-77E8-9197-CB09-2408658AD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F4B5F0A2-22DB-4400-1C03-D33062A10846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F619876-815F-E49F-2064-7E1ABD2D0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41</a:t>
            </a:fld>
            <a:endParaRPr lang="pt-BR"/>
          </a:p>
        </p:txBody>
      </p:sp>
      <p:pic>
        <p:nvPicPr>
          <p:cNvPr id="7" name="Imagem 6" descr="Interface gráfica do usuário, Site">
            <a:extLst>
              <a:ext uri="{FF2B5EF4-FFF2-40B4-BE49-F238E27FC236}">
                <a16:creationId xmlns:a16="http://schemas.microsoft.com/office/drawing/2014/main" id="{6E621573-2342-4FA3-3454-A8EFF5BF92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051" y="1690688"/>
            <a:ext cx="5043947" cy="2435098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5CA4F873-C824-7537-0315-1D8BC926F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Desenvolvimento</a:t>
            </a:r>
            <a:br>
              <a:rPr lang="pt-BR" dirty="0"/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Plataforma Web</a:t>
            </a:r>
            <a:endParaRPr lang="pt-BR" sz="38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4" name="Imagem 13" descr="Tela de celular com aplicativo aberto&#10;&#10;O conteúdo gerado por IA pode estar incorreto.">
            <a:extLst>
              <a:ext uri="{FF2B5EF4-FFF2-40B4-BE49-F238E27FC236}">
                <a16:creationId xmlns:a16="http://schemas.microsoft.com/office/drawing/2014/main" id="{42BA1081-9846-DF73-3B05-C446D2BCD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1690688"/>
            <a:ext cx="4949091" cy="2451752"/>
          </a:xfrm>
          <a:prstGeom prst="rect">
            <a:avLst/>
          </a:prstGeom>
        </p:spPr>
      </p:pic>
      <p:pic>
        <p:nvPicPr>
          <p:cNvPr id="15" name="Imagem 14" descr="Tela de celular com aplicativo aberto&#10;&#10;O conteúdo gerado por IA pode estar incorreto.">
            <a:extLst>
              <a:ext uri="{FF2B5EF4-FFF2-40B4-BE49-F238E27FC236}">
                <a16:creationId xmlns:a16="http://schemas.microsoft.com/office/drawing/2014/main" id="{FA2AA7C4-4A18-BC45-0943-9D0F8A82B1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804" b="13423"/>
          <a:stretch>
            <a:fillRect/>
          </a:stretch>
        </p:blipFill>
        <p:spPr bwMode="auto">
          <a:xfrm>
            <a:off x="1052050" y="4125784"/>
            <a:ext cx="5043947" cy="2435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Imagem 15" descr="Tela de celular com fundo preto&#10;&#10;O conteúdo gerado por IA pode estar incorreto.">
            <a:extLst>
              <a:ext uri="{FF2B5EF4-FFF2-40B4-BE49-F238E27FC236}">
                <a16:creationId xmlns:a16="http://schemas.microsoft.com/office/drawing/2014/main" id="{9D5EBEE7-9B03-38C7-5A00-7E0A748EBED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063" b="13489"/>
          <a:stretch>
            <a:fillRect/>
          </a:stretch>
        </p:blipFill>
        <p:spPr bwMode="auto">
          <a:xfrm>
            <a:off x="6095997" y="4142441"/>
            <a:ext cx="4949091" cy="24184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874068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49807-D973-4B77-BAFB-B4DD81A12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052191-5C08-CBAF-0FAE-DF1BA2EC3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Desenvolvimento</a:t>
            </a:r>
            <a:br>
              <a:rPr lang="pt-BR" dirty="0"/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Teste de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79684D-E3D4-E98B-20DF-13133D31C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9655"/>
            <a:ext cx="10674927" cy="2895606"/>
          </a:xfrm>
        </p:spPr>
        <p:txBody>
          <a:bodyPr>
            <a:normAutofit/>
          </a:bodyPr>
          <a:lstStyle/>
          <a:p>
            <a:pPr marL="0" indent="0">
              <a:spcBef>
                <a:spcPts val="1400"/>
              </a:spcBef>
              <a:buNone/>
            </a:pPr>
            <a:r>
              <a:rPr lang="pt-BR" dirty="0"/>
              <a:t>Questionários para avaliação da plataforma web na visão do usuário</a:t>
            </a:r>
          </a:p>
          <a:p>
            <a:pPr marL="514350" indent="-514350">
              <a:spcBef>
                <a:spcPts val="1400"/>
              </a:spcBef>
              <a:buFont typeface="+mj-lt"/>
              <a:buAutoNum type="alphaLcParenR"/>
            </a:pPr>
            <a:r>
              <a:rPr lang="pt-BR" sz="2600" dirty="0"/>
              <a:t>Perfil do participante</a:t>
            </a:r>
          </a:p>
          <a:p>
            <a:pPr marL="514350" indent="-514350">
              <a:spcBef>
                <a:spcPts val="1400"/>
              </a:spcBef>
              <a:buFont typeface="+mj-lt"/>
              <a:buAutoNum type="alphaLcParenR"/>
            </a:pPr>
            <a:r>
              <a:rPr lang="pt-BR" sz="2600" dirty="0"/>
              <a:t>Lista de tarefas para execução</a:t>
            </a:r>
          </a:p>
          <a:p>
            <a:pPr marL="514350" indent="-514350">
              <a:spcBef>
                <a:spcPts val="1400"/>
              </a:spcBef>
              <a:buFont typeface="+mj-lt"/>
              <a:buAutoNum type="alphaLcParenR"/>
            </a:pPr>
            <a:r>
              <a:rPr lang="pt-BR" sz="2600" dirty="0"/>
              <a:t>Avaliação da usabilidade</a:t>
            </a: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05E64481-3512-8ECB-C28B-51CE3C6B9B2B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5F186D6-33A1-3167-7427-A49C472E9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42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87624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A739F-8845-41FA-1A67-D9DBDFF6A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C53540-15F1-DFAE-1B1B-7FFDA6CBE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Desenvolvimento</a:t>
            </a:r>
            <a:br>
              <a:rPr lang="pt-BR" dirty="0"/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Teste de 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EFADA4-F398-6D1E-F78B-D9F751526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158" y="2012193"/>
            <a:ext cx="10674927" cy="2895606"/>
          </a:xfrm>
        </p:spPr>
        <p:txBody>
          <a:bodyPr>
            <a:normAutofit/>
          </a:bodyPr>
          <a:lstStyle/>
          <a:p>
            <a:pPr marL="0" indent="0">
              <a:spcBef>
                <a:spcPts val="1400"/>
              </a:spcBef>
              <a:buNone/>
            </a:pPr>
            <a:r>
              <a:rPr lang="pt-BR" dirty="0"/>
              <a:t>Questionário de perfil do participante</a:t>
            </a:r>
            <a:endParaRPr lang="pt-BR" sz="2600" dirty="0"/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D798AB9C-0D35-2A3A-2DA8-E04E76B448F9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03BE6B8-FD93-B497-0541-54CF4C96E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43</a:t>
            </a:fld>
            <a:endParaRPr lang="pt-BR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3C875405-7C11-AA70-92AB-1F272099D999}"/>
              </a:ext>
            </a:extLst>
          </p:cNvPr>
          <p:cNvGraphicFramePr>
            <a:graphicFrameLocks noGrp="1"/>
          </p:cNvGraphicFramePr>
          <p:nvPr/>
        </p:nvGraphicFramePr>
        <p:xfrm>
          <a:off x="1210092" y="2658402"/>
          <a:ext cx="9771814" cy="371594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349932">
                  <a:extLst>
                    <a:ext uri="{9D8B030D-6E8A-4147-A177-3AD203B41FA5}">
                      <a16:colId xmlns:a16="http://schemas.microsoft.com/office/drawing/2014/main" val="2459905217"/>
                    </a:ext>
                  </a:extLst>
                </a:gridCol>
                <a:gridCol w="2913017">
                  <a:extLst>
                    <a:ext uri="{9D8B030D-6E8A-4147-A177-3AD203B41FA5}">
                      <a16:colId xmlns:a16="http://schemas.microsoft.com/office/drawing/2014/main" val="3112259974"/>
                    </a:ext>
                  </a:extLst>
                </a:gridCol>
                <a:gridCol w="2508865">
                  <a:extLst>
                    <a:ext uri="{9D8B030D-6E8A-4147-A177-3AD203B41FA5}">
                      <a16:colId xmlns:a16="http://schemas.microsoft.com/office/drawing/2014/main" val="2042913687"/>
                    </a:ext>
                  </a:extLst>
                </a:gridCol>
              </a:tblGrid>
              <a:tr h="5460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500" dirty="0">
                          <a:effectLst/>
                        </a:rPr>
                        <a:t>Pergunta</a:t>
                      </a:r>
                      <a:endParaRPr lang="pt-BR" sz="2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500">
                          <a:effectLst/>
                        </a:rPr>
                        <a:t>Respostas</a:t>
                      </a:r>
                      <a:endParaRPr lang="pt-BR" sz="2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500">
                          <a:effectLst/>
                        </a:rPr>
                        <a:t>Quantidade</a:t>
                      </a:r>
                      <a:endParaRPr lang="pt-BR" sz="2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79357297"/>
                  </a:ext>
                </a:extLst>
              </a:tr>
              <a:tr h="1092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500" dirty="0">
                          <a:effectLst/>
                        </a:rPr>
                        <a:t>Faixa etária</a:t>
                      </a:r>
                      <a:endParaRPr lang="pt-BR" sz="2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Menos de 18 anos</a:t>
                      </a:r>
                    </a:p>
                    <a:p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Entre 18 e 25 anos</a:t>
                      </a:r>
                    </a:p>
                    <a:p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Entre 26 e 35 anos</a:t>
                      </a:r>
                    </a:p>
                    <a:p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Entre 36 e 45 anos</a:t>
                      </a:r>
                    </a:p>
                    <a:p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Entre 46 e 56 anos</a:t>
                      </a:r>
                    </a:p>
                    <a:p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Mais de 56 anos</a:t>
                      </a:r>
                      <a:endParaRPr lang="pt-BR" sz="2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5.9%</a:t>
                      </a:r>
                    </a:p>
                    <a:p>
                      <a:pPr algn="ctr"/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64.7%</a:t>
                      </a:r>
                    </a:p>
                    <a:p>
                      <a:pPr algn="ctr"/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</a:p>
                    <a:p>
                      <a:pPr algn="ctr"/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11.8%</a:t>
                      </a:r>
                    </a:p>
                    <a:p>
                      <a:pPr algn="ctr"/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17.6%</a:t>
                      </a:r>
                    </a:p>
                    <a:p>
                      <a:pPr algn="ctr"/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  <a:endParaRPr lang="pt-BR" sz="2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6753464"/>
                  </a:ext>
                </a:extLst>
              </a:tr>
              <a:tr h="1092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Frequência que utiliza aplicativos/portais financeiros ou de investimento</a:t>
                      </a:r>
                      <a:endParaRPr lang="pt-BR" sz="2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500" dirty="0">
                          <a:effectLst/>
                        </a:rPr>
                        <a:t>Nunca</a:t>
                      </a:r>
                    </a:p>
                    <a:p>
                      <a:pPr>
                        <a:buNone/>
                      </a:pPr>
                      <a:r>
                        <a:rPr lang="pt-BR" sz="2500" dirty="0">
                          <a:effectLst/>
                        </a:rPr>
                        <a:t>Raramente</a:t>
                      </a:r>
                    </a:p>
                    <a:p>
                      <a:pPr>
                        <a:buNone/>
                      </a:pPr>
                      <a:r>
                        <a:rPr lang="pt-BR" sz="2500" dirty="0">
                          <a:effectLst/>
                        </a:rPr>
                        <a:t>Às vezes</a:t>
                      </a:r>
                    </a:p>
                    <a:p>
                      <a:pPr>
                        <a:buNone/>
                      </a:pPr>
                      <a:r>
                        <a:rPr lang="pt-BR" sz="2500" dirty="0">
                          <a:effectLst/>
                        </a:rPr>
                        <a:t>Frequentemente</a:t>
                      </a:r>
                      <a:endParaRPr lang="pt-BR" sz="2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5.9%</a:t>
                      </a:r>
                    </a:p>
                    <a:p>
                      <a:pPr algn="ctr"/>
                      <a:r>
                        <a:rPr lang="pt-BR" sz="2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23.5%</a:t>
                      </a:r>
                    </a:p>
                    <a:p>
                      <a:pPr algn="ctr"/>
                      <a:r>
                        <a:rPr lang="pt-BR" sz="2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23.5%</a:t>
                      </a:r>
                    </a:p>
                    <a:p>
                      <a:pPr algn="ctr"/>
                      <a:r>
                        <a:rPr lang="pt-BR" sz="2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47.1%</a:t>
                      </a:r>
                      <a:endParaRPr lang="pt-BR" sz="2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517532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18645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DCDE0-8CB8-2D7F-576A-6CCBDEC84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B666A0-4892-B480-68F8-294F84EAF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Desenvolvimento</a:t>
            </a:r>
            <a:br>
              <a:rPr lang="pt-BR" dirty="0"/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Teste de Usabilidade</a:t>
            </a:r>
            <a:endParaRPr lang="pt-BR" sz="3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E110DB-279A-838C-C23A-0949512B5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0085"/>
            <a:ext cx="10674927" cy="2895606"/>
          </a:xfrm>
        </p:spPr>
        <p:txBody>
          <a:bodyPr>
            <a:normAutofit/>
          </a:bodyPr>
          <a:lstStyle/>
          <a:p>
            <a:pPr marL="0" indent="0">
              <a:spcBef>
                <a:spcPts val="1400"/>
              </a:spcBef>
              <a:buNone/>
            </a:pPr>
            <a:r>
              <a:rPr lang="pt-BR" dirty="0"/>
              <a:t>Questionário de tarefas</a:t>
            </a:r>
            <a:endParaRPr lang="pt-BR" sz="2600" dirty="0"/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C2439533-DF71-3E27-E3EE-D5D55580DB81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B7D66EB-3447-598A-8887-7D4DFB943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44</a:t>
            </a:fld>
            <a:endParaRPr lang="pt-BR"/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2BE5814E-279E-8F8C-8490-0342C09F518B}"/>
              </a:ext>
            </a:extLst>
          </p:cNvPr>
          <p:cNvGraphicFramePr>
            <a:graphicFrameLocks noGrp="1"/>
          </p:cNvGraphicFramePr>
          <p:nvPr/>
        </p:nvGraphicFramePr>
        <p:xfrm>
          <a:off x="975358" y="2355521"/>
          <a:ext cx="10378441" cy="33528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770242">
                  <a:extLst>
                    <a:ext uri="{9D8B030D-6E8A-4147-A177-3AD203B41FA5}">
                      <a16:colId xmlns:a16="http://schemas.microsoft.com/office/drawing/2014/main" val="3121750111"/>
                    </a:ext>
                  </a:extLst>
                </a:gridCol>
                <a:gridCol w="1782105">
                  <a:extLst>
                    <a:ext uri="{9D8B030D-6E8A-4147-A177-3AD203B41FA5}">
                      <a16:colId xmlns:a16="http://schemas.microsoft.com/office/drawing/2014/main" val="3111340993"/>
                    </a:ext>
                  </a:extLst>
                </a:gridCol>
                <a:gridCol w="1826094">
                  <a:extLst>
                    <a:ext uri="{9D8B030D-6E8A-4147-A177-3AD203B41FA5}">
                      <a16:colId xmlns:a16="http://schemas.microsoft.com/office/drawing/2014/main" val="3376595651"/>
                    </a:ext>
                  </a:extLst>
                </a:gridCol>
              </a:tblGrid>
              <a:tr h="278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200" dirty="0">
                          <a:effectLst/>
                        </a:rPr>
                        <a:t>Tarefas/Respostas</a:t>
                      </a:r>
                      <a:endParaRPr lang="pt-BR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200">
                          <a:effectLst/>
                        </a:rPr>
                        <a:t>Sim</a:t>
                      </a:r>
                      <a:endParaRPr lang="pt-BR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200">
                          <a:effectLst/>
                        </a:rPr>
                        <a:t>Não</a:t>
                      </a:r>
                      <a:endParaRPr lang="pt-BR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99165678"/>
                  </a:ext>
                </a:extLst>
              </a:tr>
              <a:tr h="278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Criar uma conta (se aplicável) e efetuar login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200">
                          <a:effectLst/>
                        </a:rPr>
                        <a:t>-</a:t>
                      </a:r>
                      <a:endParaRPr lang="pt-BR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6807935"/>
                  </a:ext>
                </a:extLst>
              </a:tr>
              <a:tr h="278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Navegar pelo dashboard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88.9%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11.1%</a:t>
                      </a:r>
                      <a:endParaRPr lang="pt-BR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80318612"/>
                  </a:ext>
                </a:extLst>
              </a:tr>
              <a:tr h="278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Iniciar a criação de uma carteira, preencher parâmetros e submeter.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200" dirty="0">
                          <a:effectLst/>
                        </a:rPr>
                        <a:t>100%</a:t>
                      </a:r>
                      <a:endParaRPr lang="pt-BR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200">
                          <a:effectLst/>
                        </a:rPr>
                        <a:t>-</a:t>
                      </a:r>
                      <a:endParaRPr lang="pt-BR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72304168"/>
                  </a:ext>
                </a:extLst>
              </a:tr>
              <a:tr h="278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Abrir detalhe de uma carteira existente e interpretar composição.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200">
                          <a:effectLst/>
                        </a:rPr>
                        <a:t>100%</a:t>
                      </a:r>
                      <a:endParaRPr lang="pt-BR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200" dirty="0">
                          <a:effectLst/>
                        </a:rPr>
                        <a:t>-</a:t>
                      </a:r>
                      <a:endParaRPr lang="pt-BR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67566075"/>
                  </a:ext>
                </a:extLst>
              </a:tr>
              <a:tr h="278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Alterar dados do perfil e (se desejado) realizar exclusão de conta.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pt-BR" sz="2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88.9%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pt-BR" sz="2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11.1%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89539444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Encerrar sessão/deslogar com segurança.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200" dirty="0">
                          <a:effectLst/>
                        </a:rPr>
                        <a:t>100%</a:t>
                      </a:r>
                      <a:endParaRPr lang="pt-BR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200" dirty="0">
                          <a:effectLst/>
                        </a:rPr>
                        <a:t>-</a:t>
                      </a:r>
                      <a:endParaRPr lang="pt-BR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35148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69223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251FC-627B-2BF3-74C1-7FE72F2E1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A2F2B0-5B69-C1B6-E53B-41E8D83E2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Desenvolvimento</a:t>
            </a:r>
            <a:br>
              <a:rPr lang="pt-BR" dirty="0"/>
            </a:br>
            <a:r>
              <a:rPr lang="pt-BR" sz="3600" dirty="0">
                <a:solidFill>
                  <a:schemeClr val="bg1">
                    <a:lumMod val="50000"/>
                  </a:schemeClr>
                </a:solidFill>
              </a:rPr>
              <a:t>Teste de Usabilidade</a:t>
            </a:r>
            <a:endParaRPr lang="pt-BR" sz="3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74656F-7E03-5022-8AF8-1B515CFAC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674927" cy="2895606"/>
          </a:xfrm>
        </p:spPr>
        <p:txBody>
          <a:bodyPr>
            <a:normAutofit/>
          </a:bodyPr>
          <a:lstStyle/>
          <a:p>
            <a:pPr marL="0" indent="0">
              <a:spcBef>
                <a:spcPts val="1400"/>
              </a:spcBef>
              <a:buNone/>
            </a:pPr>
            <a:r>
              <a:rPr lang="pt-BR" dirty="0"/>
              <a:t>Funcionalidade da aplicação</a:t>
            </a:r>
            <a:endParaRPr lang="pt-BR" sz="2600" dirty="0"/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308337D9-57CE-0B41-89C4-F05DD561F37D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3DDEFD5-1302-9C11-138A-A6E92F9D1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45</a:t>
            </a:fld>
            <a:endParaRPr lang="pt-BR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A186EEFF-0BB5-1705-3A0E-1489D6A18A4C}"/>
              </a:ext>
            </a:extLst>
          </p:cNvPr>
          <p:cNvGraphicFramePr>
            <a:graphicFrameLocks noGrp="1"/>
          </p:cNvGraphicFramePr>
          <p:nvPr/>
        </p:nvGraphicFramePr>
        <p:xfrm>
          <a:off x="678873" y="2239565"/>
          <a:ext cx="10674927" cy="425331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6625817">
                  <a:extLst>
                    <a:ext uri="{9D8B030D-6E8A-4147-A177-3AD203B41FA5}">
                      <a16:colId xmlns:a16="http://schemas.microsoft.com/office/drawing/2014/main" val="113593814"/>
                    </a:ext>
                  </a:extLst>
                </a:gridCol>
                <a:gridCol w="809822">
                  <a:extLst>
                    <a:ext uri="{9D8B030D-6E8A-4147-A177-3AD203B41FA5}">
                      <a16:colId xmlns:a16="http://schemas.microsoft.com/office/drawing/2014/main" val="3442090767"/>
                    </a:ext>
                  </a:extLst>
                </a:gridCol>
                <a:gridCol w="809822">
                  <a:extLst>
                    <a:ext uri="{9D8B030D-6E8A-4147-A177-3AD203B41FA5}">
                      <a16:colId xmlns:a16="http://schemas.microsoft.com/office/drawing/2014/main" val="915771326"/>
                    </a:ext>
                  </a:extLst>
                </a:gridCol>
                <a:gridCol w="809822">
                  <a:extLst>
                    <a:ext uri="{9D8B030D-6E8A-4147-A177-3AD203B41FA5}">
                      <a16:colId xmlns:a16="http://schemas.microsoft.com/office/drawing/2014/main" val="3445761394"/>
                    </a:ext>
                  </a:extLst>
                </a:gridCol>
                <a:gridCol w="809822">
                  <a:extLst>
                    <a:ext uri="{9D8B030D-6E8A-4147-A177-3AD203B41FA5}">
                      <a16:colId xmlns:a16="http://schemas.microsoft.com/office/drawing/2014/main" val="413062252"/>
                    </a:ext>
                  </a:extLst>
                </a:gridCol>
                <a:gridCol w="809822">
                  <a:extLst>
                    <a:ext uri="{9D8B030D-6E8A-4147-A177-3AD203B41FA5}">
                      <a16:colId xmlns:a16="http://schemas.microsoft.com/office/drawing/2014/main" val="3322275944"/>
                    </a:ext>
                  </a:extLst>
                </a:gridCol>
              </a:tblGrid>
              <a:tr h="13195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dirty="0">
                          <a:effectLst/>
                        </a:rPr>
                        <a:t>Perguntas / Critérios de avaliação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dirty="0">
                          <a:effectLst/>
                        </a:rPr>
                        <a:t>Discordo totalmente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Discordo parcialmente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Não concordo nem discordo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Concordo parcialmente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Concordo totalmente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9065734"/>
                  </a:ext>
                </a:extLst>
              </a:tr>
              <a:tr h="244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>
                          <a:effectLst/>
                        </a:rPr>
                        <a:t>O design da interface é visualmente atraente.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5.6%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22.2%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72.2%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1369560"/>
                  </a:ext>
                </a:extLst>
              </a:tr>
              <a:tr h="244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>
                          <a:effectLst/>
                        </a:rPr>
                        <a:t>É fácil navegar entre as telas principais (login, dashboard, carteiras, perfil).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22.2%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77.8%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0815293"/>
                  </a:ext>
                </a:extLst>
              </a:tr>
              <a:tr h="244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effectLst/>
                        </a:rPr>
                        <a:t>Os ícones e rótulos são claros e intuitivos.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5.6%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16.7%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77.8%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450285"/>
                  </a:ext>
                </a:extLst>
              </a:tr>
              <a:tr h="244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effectLst/>
                        </a:rPr>
                        <a:t>O processo de cadastro é simples e rápido.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5.6%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94.4%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7556816"/>
                  </a:ext>
                </a:extLst>
              </a:tr>
              <a:tr h="244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effectLst/>
                        </a:rPr>
                        <a:t>É fácil encontrar e interpretar as informações sobre a composição das carteiras.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22.2%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77.8%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151080"/>
                  </a:ext>
                </a:extLst>
              </a:tr>
              <a:tr h="244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effectLst/>
                        </a:rPr>
                        <a:t>As ações (criar, editar, excluir) são fáceis de localizar e executar.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27.8%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72.2%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7763392"/>
                  </a:ext>
                </a:extLst>
              </a:tr>
              <a:tr h="244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effectLst/>
                        </a:rPr>
                        <a:t>O sistema responde em tempo aceitável às minhas ações (sem lentidão excessiva).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5.6%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16.7%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77.8%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6548445"/>
                  </a:ext>
                </a:extLst>
              </a:tr>
              <a:tr h="244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effectLst/>
                        </a:rPr>
                        <a:t>As mensagens de erro e ajuda (feedback) são claras e úteis. 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5.6%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22.2%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72.2%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6127110"/>
                  </a:ext>
                </a:extLst>
              </a:tr>
              <a:tr h="244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>
                          <a:effectLst/>
                        </a:rPr>
                        <a:t>Eu me senti seguro(a) ao utilizar a plataforma (privacidade e controle).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5.6%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94.4%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1649122"/>
                  </a:ext>
                </a:extLst>
              </a:tr>
              <a:tr h="244803">
                <a:tc>
                  <a:txBody>
                    <a:bodyPr/>
                    <a:lstStyle/>
                    <a:p>
                      <a:pPr>
                        <a:buNone/>
                        <a:tabLst>
                          <a:tab pos="619125" algn="l"/>
                        </a:tabLst>
                      </a:pPr>
                      <a:r>
                        <a:rPr lang="pt-BR" sz="1600">
                          <a:effectLst/>
                        </a:rPr>
                        <a:t>Eu recomendaria esta plataforma para outras pessoas interessadas em gerenciar carteiras.	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>
                          <a:effectLst/>
                        </a:rPr>
                        <a:t>-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dirty="0">
                          <a:effectLst/>
                        </a:rPr>
                        <a:t>100%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1627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07349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50444-F19D-1860-1593-1C8DCDA73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C16230-B913-09F6-0569-962AA101C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022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Conclusões (1/4)</a:t>
            </a:r>
            <a:endParaRPr lang="pt-BR" sz="38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6B1A5C-787D-E40F-553E-942514839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145" y="1728774"/>
            <a:ext cx="5347856" cy="4633912"/>
          </a:xfrm>
        </p:spPr>
        <p:txBody>
          <a:bodyPr>
            <a:normAutofit/>
          </a:bodyPr>
          <a:lstStyle/>
          <a:p>
            <a:pPr>
              <a:spcBef>
                <a:spcPts val="1400"/>
              </a:spcBef>
            </a:pPr>
            <a:r>
              <a:rPr lang="pt-BR" sz="2400" b="1" dirty="0"/>
              <a:t>Desafios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pt-BR" sz="2400" dirty="0"/>
              <a:t>Conciliar retorno, risco e restrições reais em carteiras personalizadas.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pt-BR" sz="2400" dirty="0"/>
              <a:t>Plataforma proposta integra: extração automática de dados → otimização → entrega em interface web.</a:t>
            </a: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66EF98B5-BBCD-9AE7-BBAF-E4E2CC9E9E2F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CB0555D-814C-A76A-0AB6-0146A30FF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46</a:t>
            </a:fld>
            <a:endParaRPr lang="pt-BR"/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CADA9D20-7704-6F55-334D-2D3E7BA57224}"/>
              </a:ext>
            </a:extLst>
          </p:cNvPr>
          <p:cNvSpPr txBox="1">
            <a:spLocks/>
          </p:cNvSpPr>
          <p:nvPr/>
        </p:nvSpPr>
        <p:spPr>
          <a:xfrm>
            <a:off x="6095999" y="1728774"/>
            <a:ext cx="5551055" cy="4633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400"/>
              </a:spcBef>
            </a:pPr>
            <a:r>
              <a:rPr lang="pt-BR" sz="2400" b="1" dirty="0"/>
              <a:t>Pontos centrais da solução desenvolvida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pt-BR" sz="2400" dirty="0"/>
              <a:t>Uso de Algoritmo Genético Multiobjetivo (R-NSGA-II) para guiar a busca segundo preferências do usuário. 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pt-BR" sz="2400" dirty="0"/>
              <a:t>Estrutura completa: dados (</a:t>
            </a:r>
            <a:r>
              <a:rPr lang="pt-BR" sz="2400" dirty="0" err="1"/>
              <a:t>yfinance</a:t>
            </a:r>
            <a:r>
              <a:rPr lang="pt-BR" sz="2400" dirty="0"/>
              <a:t>) → preparação → otimização → API </a:t>
            </a:r>
            <a:r>
              <a:rPr lang="pt-BR" sz="2400" dirty="0" err="1"/>
              <a:t>Flask</a:t>
            </a:r>
            <a:r>
              <a:rPr lang="pt-BR" sz="2400" dirty="0"/>
              <a:t> → interface </a:t>
            </a:r>
            <a:r>
              <a:rPr lang="pt-BR" sz="2400" dirty="0" err="1"/>
              <a:t>React</a:t>
            </a:r>
            <a:r>
              <a:rPr lang="pt-B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26558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042DA-F076-1567-AB70-690492BE5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4F54AD-065B-FF1B-14CF-F219CE221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34936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Conclusões (2/4)</a:t>
            </a:r>
            <a:endParaRPr lang="pt-BR" sz="38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95752F-47D1-DD1E-D4B1-8093AD9AD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715" y="1507333"/>
            <a:ext cx="11325895" cy="5298293"/>
          </a:xfrm>
        </p:spPr>
        <p:txBody>
          <a:bodyPr>
            <a:normAutofit/>
          </a:bodyPr>
          <a:lstStyle/>
          <a:p>
            <a:r>
              <a:rPr lang="pt-BR" b="1" dirty="0"/>
              <a:t>Objetivos do trabalho atingidos:</a:t>
            </a: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b="1" dirty="0"/>
              <a:t>Otimização</a:t>
            </a:r>
            <a:br>
              <a:rPr lang="pt-BR" dirty="0"/>
            </a:br>
            <a:r>
              <a:rPr lang="pt-BR" dirty="0"/>
              <a:t>– Coleta, limpeza e cálculo das estatísticas centrais (retornos médios e covariância).</a:t>
            </a:r>
          </a:p>
          <a:p>
            <a:pPr marL="514350" indent="-514350">
              <a:buFont typeface="+mj-lt"/>
              <a:buAutoNum type="arabicPeriod"/>
            </a:pPr>
            <a:r>
              <a:rPr lang="pt-BR" b="1" dirty="0"/>
              <a:t>Implementação do núcleo de otimização</a:t>
            </a:r>
            <a:br>
              <a:rPr lang="pt-BR" dirty="0"/>
            </a:br>
            <a:r>
              <a:rPr lang="pt-BR" dirty="0"/>
              <a:t>– R-NSGA-II com operadores personalizados e controle de cardinalidade.</a:t>
            </a:r>
            <a:br>
              <a:rPr lang="pt-BR" dirty="0"/>
            </a:br>
            <a:r>
              <a:rPr lang="pt-BR" dirty="0"/>
              <a:t>– Escolha dos melhores </a:t>
            </a:r>
            <a:r>
              <a:rPr lang="pt-BR" dirty="0" err="1"/>
              <a:t>hiperparâmetros</a:t>
            </a:r>
            <a:r>
              <a:rPr lang="pt-BR" dirty="0"/>
              <a:t> utilizando R-</a:t>
            </a:r>
            <a:r>
              <a:rPr lang="pt-BR" dirty="0" err="1"/>
              <a:t>Hypervolume</a:t>
            </a:r>
            <a:r>
              <a:rPr lang="pt-BR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pt-BR" b="1" dirty="0"/>
              <a:t>Avaliação dos resultados</a:t>
            </a:r>
            <a:br>
              <a:rPr lang="pt-BR" dirty="0"/>
            </a:br>
            <a:r>
              <a:rPr lang="pt-BR" dirty="0"/>
              <a:t>– Backtests e comparação com benchmarks de mercado.</a:t>
            </a:r>
          </a:p>
          <a:p>
            <a:pPr marL="514350" indent="-514350">
              <a:buFont typeface="+mj-lt"/>
              <a:buAutoNum type="arabicPeriod"/>
            </a:pPr>
            <a:r>
              <a:rPr lang="pt-BR" b="1" dirty="0"/>
              <a:t>Disponibilização da solução</a:t>
            </a:r>
            <a:br>
              <a:rPr lang="pt-BR" dirty="0"/>
            </a:br>
            <a:r>
              <a:rPr lang="pt-BR" dirty="0"/>
              <a:t>– API REST + interface web funcional e replicável.</a:t>
            </a: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09BB6BB7-CABD-B55C-BE98-D63CDF6C925D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27AC331-6011-A88E-AA40-8E83550A7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47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45255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F0BE7-5F40-2C77-5CF1-262922FFB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2A9D90-4B21-9439-30C6-FD199A6B4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41300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Conclusões (3/4)</a:t>
            </a:r>
            <a:endParaRPr lang="pt-BR" sz="38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3F7382-D28D-5D28-CE9D-2DFA1BDC3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63285"/>
            <a:ext cx="10674927" cy="4933168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1400"/>
              </a:spcBef>
              <a:buNone/>
            </a:pPr>
            <a:r>
              <a:rPr lang="pt-BR" sz="2400" b="1" dirty="0"/>
              <a:t>Trabalhos correlatos</a:t>
            </a:r>
          </a:p>
          <a:p>
            <a:pPr>
              <a:spcBef>
                <a:spcPts val="1400"/>
              </a:spcBef>
            </a:pPr>
            <a:r>
              <a:rPr lang="pt-BR" sz="2400" dirty="0" err="1"/>
              <a:t>EvoFolio</a:t>
            </a:r>
            <a:r>
              <a:rPr lang="pt-BR" sz="2400" dirty="0"/>
              <a:t> (Guarino et al., 2024): usa NSGA-II e depende de “</a:t>
            </a:r>
            <a:r>
              <a:rPr lang="pt-BR" sz="2400" dirty="0" err="1"/>
              <a:t>views</a:t>
            </a:r>
            <a:r>
              <a:rPr lang="pt-BR" sz="2400" dirty="0"/>
              <a:t>” do investidor.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pt-BR" sz="2400" dirty="0"/>
              <a:t>• Diferença do presente trabalho:</a:t>
            </a:r>
          </a:p>
          <a:p>
            <a:pPr marL="457200" indent="-457200">
              <a:spcBef>
                <a:spcPts val="1400"/>
              </a:spcBef>
              <a:buFont typeface="+mj-lt"/>
              <a:buAutoNum type="arabicPeriod"/>
            </a:pPr>
            <a:r>
              <a:rPr lang="pt-BR" sz="2400" dirty="0"/>
              <a:t>Personalização matemática por pontos de referência (sem subjetividade do usuário).</a:t>
            </a:r>
          </a:p>
          <a:p>
            <a:pPr marL="457200" indent="-457200">
              <a:spcBef>
                <a:spcPts val="1400"/>
              </a:spcBef>
              <a:buFont typeface="+mj-lt"/>
              <a:buAutoNum type="arabicPeriod"/>
            </a:pPr>
            <a:r>
              <a:rPr lang="pt-BR" sz="2400" dirty="0"/>
              <a:t>Integração explícita do </a:t>
            </a:r>
            <a:r>
              <a:rPr lang="pt-BR" sz="2400" dirty="0" err="1"/>
              <a:t>CVaR</a:t>
            </a:r>
            <a:r>
              <a:rPr lang="pt-BR" sz="2400" dirty="0"/>
              <a:t> (proteção contra perdas extremas).</a:t>
            </a:r>
          </a:p>
          <a:p>
            <a:pPr marL="457200" indent="-457200">
              <a:spcBef>
                <a:spcPts val="1400"/>
              </a:spcBef>
              <a:buFont typeface="+mj-lt"/>
              <a:buAutoNum type="arabicPeriod"/>
            </a:pPr>
            <a:r>
              <a:rPr lang="pt-BR" sz="2400" dirty="0"/>
              <a:t>Interface web completa para uso prático.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pt-BR" sz="2400" b="1" dirty="0"/>
              <a:t>Limitações identificadas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pt-BR" sz="2400" dirty="0"/>
              <a:t>• Uso de séries históricas sujeitas à instabilidade de mercado.</a:t>
            </a:r>
            <a:br>
              <a:rPr lang="pt-BR" sz="2400" dirty="0"/>
            </a:br>
            <a:r>
              <a:rPr lang="pt-BR" sz="2400" dirty="0"/>
              <a:t>• Estimativa do </a:t>
            </a:r>
            <a:r>
              <a:rPr lang="pt-BR" sz="2400" dirty="0" err="1"/>
              <a:t>CVaR</a:t>
            </a:r>
            <a:r>
              <a:rPr lang="pt-BR" sz="2400" dirty="0"/>
              <a:t> sensível a eventos extremos.</a:t>
            </a:r>
            <a:br>
              <a:rPr lang="pt-BR" sz="2400" dirty="0"/>
            </a:br>
            <a:r>
              <a:rPr lang="pt-BR" sz="2400" dirty="0"/>
              <a:t>• Ausência de custos de transação e liquidez.</a:t>
            </a:r>
            <a:br>
              <a:rPr lang="pt-BR" sz="2400" dirty="0"/>
            </a:br>
            <a:r>
              <a:rPr lang="pt-BR" sz="2400" dirty="0"/>
              <a:t>• Cardinalidade aumenta complexidade e impacta escalabilidade.</a:t>
            </a:r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388BD385-15C0-445A-503F-A0C390E88180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588EDB1-BF24-B0A3-B09D-4E18020F8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48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69113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5F53A-122F-954B-FB8C-CA27AC91C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14700E-419D-9307-14C7-148913D1D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41300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Conclusões (4/4)</a:t>
            </a:r>
            <a:endParaRPr lang="pt-BR" sz="38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9991EC-FEBC-E7AE-C309-E8D528CF9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63285"/>
            <a:ext cx="10674927" cy="4933168"/>
          </a:xfrm>
        </p:spPr>
        <p:txBody>
          <a:bodyPr>
            <a:normAutofit/>
          </a:bodyPr>
          <a:lstStyle/>
          <a:p>
            <a:pPr marL="0" indent="0">
              <a:spcBef>
                <a:spcPts val="1400"/>
              </a:spcBef>
              <a:buNone/>
            </a:pPr>
            <a:r>
              <a:rPr lang="pt-BR" b="1" dirty="0"/>
              <a:t>Sugestões para trabalhos futuros</a:t>
            </a:r>
          </a:p>
          <a:p>
            <a:pPr marL="0" indent="0">
              <a:lnSpc>
                <a:spcPct val="150000"/>
              </a:lnSpc>
              <a:spcBef>
                <a:spcPts val="1400"/>
              </a:spcBef>
              <a:buNone/>
            </a:pPr>
            <a:r>
              <a:rPr lang="pt-BR" sz="2400" dirty="0"/>
              <a:t>• Rebalanceamento automático e registro de operações do usuário.</a:t>
            </a:r>
            <a:br>
              <a:rPr lang="pt-BR" sz="2400" dirty="0"/>
            </a:br>
            <a:r>
              <a:rPr lang="pt-BR" sz="2400" dirty="0"/>
              <a:t>• Adicionar modelos preditivos (redes neurais).</a:t>
            </a:r>
            <a:br>
              <a:rPr lang="pt-BR" sz="2400" dirty="0"/>
            </a:br>
            <a:r>
              <a:rPr lang="pt-BR" sz="2400" dirty="0"/>
              <a:t>• Incluir custos de transação, liquidez e impacto de mercado.</a:t>
            </a:r>
            <a:br>
              <a:rPr lang="pt-BR" sz="2400" dirty="0"/>
            </a:br>
            <a:r>
              <a:rPr lang="pt-BR" sz="2400" dirty="0"/>
              <a:t>• Explorar otimização robusta + previsões.</a:t>
            </a:r>
            <a:endParaRPr lang="pt-BR" dirty="0"/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05D2915D-F54E-8A83-77BD-8E83E8333540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43DAC13-344A-EB2D-B53B-54DB3BB6C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49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94169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22176-71D3-2FDB-ED45-C08BBE0A6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756E92-A549-9069-30DF-56A8E92AB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766218"/>
            <a:ext cx="10515600" cy="1325563"/>
          </a:xfrm>
        </p:spPr>
        <p:txBody>
          <a:bodyPr/>
          <a:lstStyle/>
          <a:p>
            <a:pPr algn="ctr"/>
            <a:r>
              <a:rPr lang="pt-BR" dirty="0"/>
              <a:t>Demonstração</a:t>
            </a:r>
            <a:endParaRPr lang="pt-BR" sz="3800" dirty="0"/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E9527DC1-9261-062D-AAB0-86E91BBFAE17}"/>
              </a:ext>
            </a:extLst>
          </p:cNvPr>
          <p:cNvSpPr/>
          <p:nvPr/>
        </p:nvSpPr>
        <p:spPr>
          <a:xfrm>
            <a:off x="1399504" y="6753253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704A299-D957-5DD0-7C63-25E214E29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492875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50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80580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38A0FA-C780-42E0-8795-CA1825163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1338"/>
            <a:ext cx="10515600" cy="2056588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/>
              <a:t>Muito obrigado!</a:t>
            </a:r>
            <a:endParaRPr lang="pt-BR" sz="4900" dirty="0"/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5EAE89C7-C9A4-4D03-ABCD-CBF7CA673DDF}"/>
              </a:ext>
            </a:extLst>
          </p:cNvPr>
          <p:cNvSpPr/>
          <p:nvPr/>
        </p:nvSpPr>
        <p:spPr>
          <a:xfrm>
            <a:off x="1399504" y="6766132"/>
            <a:ext cx="9392991" cy="104747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3E19B60-A7B8-4C54-BAF1-D661FCCE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895" y="6505754"/>
            <a:ext cx="2743200" cy="365125"/>
          </a:xfrm>
        </p:spPr>
        <p:txBody>
          <a:bodyPr/>
          <a:lstStyle/>
          <a:p>
            <a:fld id="{7288BBA3-2AF6-4638-8DDB-B8126A63A035}" type="slidenum">
              <a:rPr lang="pt-BR" smtClean="0"/>
              <a:t>51</a:t>
            </a:fld>
            <a:endParaRPr lang="pt-BR"/>
          </a:p>
        </p:txBody>
      </p:sp>
      <p:sp>
        <p:nvSpPr>
          <p:cNvPr id="8" name="Retângulo: Cantos Superiores Arredondados 7">
            <a:extLst>
              <a:ext uri="{FF2B5EF4-FFF2-40B4-BE49-F238E27FC236}">
                <a16:creationId xmlns:a16="http://schemas.microsoft.com/office/drawing/2014/main" id="{A1D91FF8-5898-4C3F-8AEF-A9A9DD5C3C14}"/>
              </a:ext>
            </a:extLst>
          </p:cNvPr>
          <p:cNvSpPr/>
          <p:nvPr/>
        </p:nvSpPr>
        <p:spPr>
          <a:xfrm>
            <a:off x="4624066" y="3056896"/>
            <a:ext cx="2943865" cy="45719"/>
          </a:xfrm>
          <a:prstGeom prst="round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13593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9088</TotalTime>
  <Words>3279</Words>
  <Application>Microsoft Office PowerPoint</Application>
  <PresentationFormat>Widescreen</PresentationFormat>
  <Paragraphs>662</Paragraphs>
  <Slides>51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51</vt:i4>
      </vt:variant>
    </vt:vector>
  </HeadingPairs>
  <TitlesOfParts>
    <vt:vector size="58" baseType="lpstr">
      <vt:lpstr>Arial</vt:lpstr>
      <vt:lpstr>Arial (Corpo)</vt:lpstr>
      <vt:lpstr>Calibri</vt:lpstr>
      <vt:lpstr>Calibri Light</vt:lpstr>
      <vt:lpstr>Cambria Math</vt:lpstr>
      <vt:lpstr>Times New Roman</vt:lpstr>
      <vt:lpstr>Tema do Office</vt:lpstr>
      <vt:lpstr>Otimização de Portfólios Personalizados com Algoritmo Genético Multiobjetivo</vt:lpstr>
      <vt:lpstr>Roteiro</vt:lpstr>
      <vt:lpstr>Introdução (1/2)</vt:lpstr>
      <vt:lpstr>Introdução (2/2)</vt:lpstr>
      <vt:lpstr>Objetivos (1/2)</vt:lpstr>
      <vt:lpstr>Objetivos (2/2)</vt:lpstr>
      <vt:lpstr>Fundamentação Teórica (1/4) Conceitos</vt:lpstr>
      <vt:lpstr>Apresentação do PowerPoint</vt:lpstr>
      <vt:lpstr>Fundamentação Teórica (2/4) TMP</vt:lpstr>
      <vt:lpstr>Fundamentação Teórica (3/4) NSGA-II</vt:lpstr>
      <vt:lpstr>Fundamentação Teórica (4/4) R-NSGA-II</vt:lpstr>
      <vt:lpstr>Fundamentação Teórica (4/4) R-NSGA-II</vt:lpstr>
      <vt:lpstr>Trabalhos correlatos (1/5)</vt:lpstr>
      <vt:lpstr>Trabalhos correlatos (2/5)</vt:lpstr>
      <vt:lpstr>Trabalhos correlatos (3/5)</vt:lpstr>
      <vt:lpstr>Trabalhos correlatos (4/5)</vt:lpstr>
      <vt:lpstr>Trabalhos correlatos (5/5)</vt:lpstr>
      <vt:lpstr>Desenvolvimento Diagrama de arquitetura</vt:lpstr>
      <vt:lpstr>Desenvolvimento Modelo de Otimização</vt:lpstr>
      <vt:lpstr>Desenvolvimento Modelo de Otimização</vt:lpstr>
      <vt:lpstr>Desenvolvimento Banco de dados</vt:lpstr>
      <vt:lpstr>Desenvolvimento Banco de dados</vt:lpstr>
      <vt:lpstr>Desenvolvimento Extração de dados (1/2)</vt:lpstr>
      <vt:lpstr>Desenvolvimento Extração de dados (2/2)</vt:lpstr>
      <vt:lpstr>Desenvolvimento Implementação do AGMO</vt:lpstr>
      <vt:lpstr>Desenvolvimento Preparação dos dados (1/3)</vt:lpstr>
      <vt:lpstr>Desenvolvimento Preparação dos dados (2/3)</vt:lpstr>
      <vt:lpstr>Desenvolvimento Preparação dos dados (3/3)</vt:lpstr>
      <vt:lpstr>Desenvolvimento Formulação multiobjetivo do problema</vt:lpstr>
      <vt:lpstr>Desenvolvimento Configuração do R-NSGA-II</vt:lpstr>
      <vt:lpstr>Desenvolvimento Configuração do R-NSGA-II</vt:lpstr>
      <vt:lpstr>Desenvolvimento Cruzamento</vt:lpstr>
      <vt:lpstr>Desenvolvimento Mutação</vt:lpstr>
      <vt:lpstr>Desenvolvimento Definição dos hiperparâmetros</vt:lpstr>
      <vt:lpstr>Desenvolvimento Resultados</vt:lpstr>
      <vt:lpstr>Desenvolvimento Resultados</vt:lpstr>
      <vt:lpstr>Desenvolvimento Backtest</vt:lpstr>
      <vt:lpstr>Desenvolvimento Plataforma Web</vt:lpstr>
      <vt:lpstr>Desenvolvimento Plataforma Web</vt:lpstr>
      <vt:lpstr>Desenvolvimento Plataforma Web</vt:lpstr>
      <vt:lpstr>Desenvolvimento Plataforma Web</vt:lpstr>
      <vt:lpstr>Desenvolvimento Teste de Usabilidade</vt:lpstr>
      <vt:lpstr>Desenvolvimento Teste de Usabilidade</vt:lpstr>
      <vt:lpstr>Desenvolvimento Teste de Usabilidade</vt:lpstr>
      <vt:lpstr>Desenvolvimento Teste de Usabilidade</vt:lpstr>
      <vt:lpstr>Conclusões (1/4)</vt:lpstr>
      <vt:lpstr>Conclusões (2/4)</vt:lpstr>
      <vt:lpstr>Conclusões (3/4)</vt:lpstr>
      <vt:lpstr>Conclusões (4/4)</vt:lpstr>
      <vt:lpstr>Demonstração</vt:lpstr>
      <vt:lpstr>Muito 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Juan Carlos Jacintho</dc:creator>
  <cp:lastModifiedBy>Bruno Ferrari Vincensi</cp:lastModifiedBy>
  <cp:revision>169</cp:revision>
  <dcterms:created xsi:type="dcterms:W3CDTF">2018-10-06T14:09:27Z</dcterms:created>
  <dcterms:modified xsi:type="dcterms:W3CDTF">2025-12-11T01:27:56Z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c28577e-0e52-49e2-b52e-02bb75ccb8f1_Enabled">
    <vt:lpwstr>true</vt:lpwstr>
  </property>
  <property fmtid="{D5CDD505-2E9C-101B-9397-08002B2CF9AE}" pid="3" name="MSIP_Label_8c28577e-0e52-49e2-b52e-02bb75ccb8f1_SetDate">
    <vt:lpwstr>2024-05-23T13:20:22Z</vt:lpwstr>
  </property>
  <property fmtid="{D5CDD505-2E9C-101B-9397-08002B2CF9AE}" pid="4" name="MSIP_Label_8c28577e-0e52-49e2-b52e-02bb75ccb8f1_Method">
    <vt:lpwstr>Standard</vt:lpwstr>
  </property>
  <property fmtid="{D5CDD505-2E9C-101B-9397-08002B2CF9AE}" pid="5" name="MSIP_Label_8c28577e-0e52-49e2-b52e-02bb75ccb8f1_Name">
    <vt:lpwstr>defa4170-0d19-0005-0004-bc88714345d2</vt:lpwstr>
  </property>
  <property fmtid="{D5CDD505-2E9C-101B-9397-08002B2CF9AE}" pid="6" name="MSIP_Label_8c28577e-0e52-49e2-b52e-02bb75ccb8f1_SiteId">
    <vt:lpwstr>0c2d222a-ecda-4b70-960a-acef6ced3052</vt:lpwstr>
  </property>
  <property fmtid="{D5CDD505-2E9C-101B-9397-08002B2CF9AE}" pid="7" name="MSIP_Label_8c28577e-0e52-49e2-b52e-02bb75ccb8f1_ActionId">
    <vt:lpwstr>6ba84654-57a9-4fe4-9506-168f768f8603</vt:lpwstr>
  </property>
  <property fmtid="{D5CDD505-2E9C-101B-9397-08002B2CF9AE}" pid="8" name="MSIP_Label_8c28577e-0e52-49e2-b52e-02bb75ccb8f1_ContentBits">
    <vt:lpwstr>0</vt:lpwstr>
  </property>
</Properties>
</file>
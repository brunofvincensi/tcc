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32"/>
  </p:notesMasterIdLst>
  <p:sldIdLst>
    <p:sldId id="256" r:id="rId2"/>
    <p:sldId id="283" r:id="rId3"/>
    <p:sldId id="270" r:id="rId4"/>
    <p:sldId id="311" r:id="rId5"/>
    <p:sldId id="268" r:id="rId6"/>
    <p:sldId id="258" r:id="rId7"/>
    <p:sldId id="337" r:id="rId8"/>
    <p:sldId id="289" r:id="rId9"/>
    <p:sldId id="334" r:id="rId10"/>
    <p:sldId id="335" r:id="rId11"/>
    <p:sldId id="336" r:id="rId12"/>
    <p:sldId id="313" r:id="rId13"/>
    <p:sldId id="338" r:id="rId14"/>
    <p:sldId id="339" r:id="rId15"/>
    <p:sldId id="340" r:id="rId16"/>
    <p:sldId id="341" r:id="rId17"/>
    <p:sldId id="354" r:id="rId18"/>
    <p:sldId id="342" r:id="rId19"/>
    <p:sldId id="343" r:id="rId20"/>
    <p:sldId id="344" r:id="rId21"/>
    <p:sldId id="351" r:id="rId22"/>
    <p:sldId id="352" r:id="rId23"/>
    <p:sldId id="353" r:id="rId24"/>
    <p:sldId id="345" r:id="rId25"/>
    <p:sldId id="346" r:id="rId26"/>
    <p:sldId id="347" r:id="rId27"/>
    <p:sldId id="348" r:id="rId28"/>
    <p:sldId id="349" r:id="rId29"/>
    <p:sldId id="333" r:id="rId30"/>
    <p:sldId id="269" r:id="rId3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995B57-488E-4F40-8249-3D6D4525D48B}" v="437" dt="2025-07-03T01:44:37.0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F8E096-050E-459A-A386-57BAB0E2D7EF}" type="datetimeFigureOut">
              <a:rPr lang="pt-BR" smtClean="0"/>
              <a:t>06/12/2025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1D1C2-EA49-4FCF-A8CC-8190D7C40F9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0061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1D1C2-EA49-4FCF-A8CC-8190D7C40F96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270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48049-942C-3903-EF8B-BE69355B3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E300D4-DA69-6EA6-4E2B-816A5389F7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BC419F-C3FC-2F06-132A-DF03DEB1E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E7E0838-4693-0195-F44E-4B79D0610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1D1C2-EA49-4FCF-A8CC-8190D7C40F96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9641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1D1C2-EA49-4FCF-A8CC-8190D7C40F96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5935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6327EB-F1E4-42C5-8C7A-A06F8F6852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E71F08-7AA9-43B0-AADB-58655C006D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7B414A1-AC92-4E2E-BFB0-F392BD995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17A70-5173-4473-8551-31626E7BAB07}" type="datetime1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78A8AAD-4347-44B1-A199-36D1B595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66320AE-9768-41EC-9B36-A260E2D66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3729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9ADFBF-13DA-4867-A13F-69C66D425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1DDC80E-364E-4AA1-B1A5-7056CD04C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54B83A4-18F3-49B2-A886-96C510800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14812-1B0D-4558-9881-C105DE35176D}" type="datetime1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8B8084-BB02-40C4-9D9C-A73E46630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FD91036-63E2-4641-BD4F-A61D1BE64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7551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E29681-4116-4AC3-B6F4-E58E29E45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877B7CF-A885-489D-86EA-3E28BB740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F343794-3E1C-44EC-A13F-EDC2E552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54A39-E471-438B-A272-31D35BF358BE}" type="datetime1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31FAE5-2F15-45EA-B053-95A6E2C9A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7C6088E-64CD-4C38-B65A-716D62B79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7528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E715DF-086B-4208-BFA2-62B0CBFB1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BF2A91-07A2-4286-8B83-701D2D761E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7909BBA-DE83-46BB-84E5-302D857BEB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60B7C37-154A-4EEA-8057-9ECDE63EE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DBA20-2E8B-4A68-A33D-9577821FB087}" type="datetime1">
              <a:rPr lang="pt-BR" smtClean="0"/>
              <a:t>06/12/2025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B48CCA5-8EF0-4277-89F7-F480CCF10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AC657E1-7616-43CE-9A2C-5C8D01592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61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720938-C75B-4D78-B59F-AB9E139B1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D1914ED-737D-4730-8138-B4562A051C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6F0C8E7-F37D-4411-BDE5-2AC19B25B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544291B-9539-44F0-895A-AFEAA0BE79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4CE7EE8-FA44-4407-B93F-F0E6EFBB19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1251604-D17B-4339-AD41-2E8FD41D9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07BB8-E6F3-42B5-A0AE-C605D440E7B7}" type="datetime1">
              <a:rPr lang="pt-BR" smtClean="0"/>
              <a:t>06/12/2025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9DA1959-2E96-457B-8F81-5A5625C19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36A9AD3-0D01-4E4C-9DDA-BB7DF1491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452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837348-379F-4B10-AF53-E3141E253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BB522BF-8981-4B55-8873-FA617F8F0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F648-4D9C-42C0-9119-E3D404181A62}" type="datetime1">
              <a:rPr lang="pt-BR" smtClean="0"/>
              <a:t>06/12/2025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9638D40-E164-45F6-8540-2181047C3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1B7215C-5FBA-482E-8FC5-113B8E546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1154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72275DC-1A6F-4765-A25E-74F82233E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C84-9B9F-47C3-92A3-BD9A43F4872A}" type="datetime1">
              <a:rPr lang="pt-BR" smtClean="0"/>
              <a:t>06/12/2025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C8DFD1B-B9C2-4CEB-89DB-765CF5F1F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5E7517-4F3A-40ED-8DBE-8B92B37D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8925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164225-9447-4A90-B8C0-E884C6901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244A7E0-0F49-4391-8FCB-B1C4324B00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172325A-B2DB-4995-9B63-1013F4702C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5A3CAFC-F972-4C51-A07D-EDF5A1F51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2F6F2-08B1-4392-BFFB-DC7F46E97E8C}" type="datetime1">
              <a:rPr lang="pt-BR" smtClean="0"/>
              <a:t>06/12/2025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32D2E2D-C7E7-4256-800A-2ADF9E5DF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EFE7D4-2D9F-471F-8880-3E227DE7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4873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9C7A7E-E5B5-40AB-B867-FF653829E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A155170-7A6B-4398-9B14-4EA19C6F35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862AE46-4B3D-4A11-B264-E4D572FF2B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BB2B3E5-C16A-43DB-B869-C2EE7BDF2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42CB5-6E25-43A9-A0BA-EE7DBD00B114}" type="datetime1">
              <a:rPr lang="pt-BR" smtClean="0"/>
              <a:t>06/12/2025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0799385-B84B-407D-985B-93EE8E7D8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F218123-8A3D-4BC4-B639-03A42429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15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13D5B7-B4D3-41C2-AE30-E25A14A19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886E43B-59DE-46C5-89E8-7A841E4E08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3AAC22C-3864-467A-BCE3-5739AAE4F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EE631-25F9-4CA4-9F45-1293AA7A56F3}" type="datetime1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6F3A301-F9BC-448C-A5D5-7A0B49B89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112F7D4-2E05-4A64-8F28-9AE95654C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2776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D60BBC0-04D5-4C45-A30B-7497E5054C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F0625D0-EB96-477D-B47D-C02FFEE29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86606FD-FE00-43B3-8A26-642C0841B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4E1DB-B025-4F31-A1B2-E60A57CDFDCC}" type="datetime1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EB4B15-8AF0-498E-A84F-BBF4B1987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ABEF1E-BF47-4B1B-AC3E-E196EF31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4885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  <a:alpha val="31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89D515D-4EC2-403D-93B3-9BB0DFD3F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82EA9A7-390F-4199-A43C-8395AC3E9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96D0ED4-029C-4B32-9362-220F5861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3AFF5-C036-43AB-BBCE-777116AE678A}" type="datetime1">
              <a:rPr lang="pt-BR" smtClean="0"/>
              <a:t>06/12/2025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AD3C678-0858-4BEC-B0F9-E181BC76D8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9799D48-DF0F-4564-840D-844043D0A6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8BBA3-2AF6-4638-8DDB-B8126A63A03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2966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4BEBAD-2012-424A-AD4B-8E4C9BA3C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03" y="-270400"/>
            <a:ext cx="9144000" cy="1876672"/>
          </a:xfrm>
        </p:spPr>
        <p:txBody>
          <a:bodyPr>
            <a:normAutofit/>
          </a:bodyPr>
          <a:lstStyle/>
          <a:p>
            <a:r>
              <a:rPr lang="pt-BR" sz="4000" dirty="0">
                <a:latin typeface="+mn-lt"/>
                <a:cs typeface="Times New Roman" panose="02020603050405020304" pitchFamily="18" charset="0"/>
              </a:rPr>
              <a:t>Otimização de Portfólios Personalizados com Algoritmo Genético Multiobjetivo</a:t>
            </a:r>
          </a:p>
        </p:txBody>
      </p:sp>
      <p:sp>
        <p:nvSpPr>
          <p:cNvPr id="4" name="Retângulo: Cantos Superiores Arredondados 3">
            <a:extLst>
              <a:ext uri="{FF2B5EF4-FFF2-40B4-BE49-F238E27FC236}">
                <a16:creationId xmlns:a16="http://schemas.microsoft.com/office/drawing/2014/main" id="{C844ED3C-88CE-4690-9283-F6169C5EAE05}"/>
              </a:ext>
            </a:extLst>
          </p:cNvPr>
          <p:cNvSpPr/>
          <p:nvPr/>
        </p:nvSpPr>
        <p:spPr>
          <a:xfrm>
            <a:off x="1399504" y="6753253"/>
            <a:ext cx="9392991" cy="121919"/>
          </a:xfrm>
          <a:prstGeom prst="round2Same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1E77205-CB86-45A5-A73F-D920583D4C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5386" y="4823868"/>
            <a:ext cx="2181225" cy="12954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70848A7-E4C5-43EF-B15C-609873705A83}"/>
              </a:ext>
            </a:extLst>
          </p:cNvPr>
          <p:cNvSpPr txBox="1"/>
          <p:nvPr/>
        </p:nvSpPr>
        <p:spPr>
          <a:xfrm>
            <a:off x="3605214" y="2501945"/>
            <a:ext cx="50053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2">
                    <a:lumMod val="50000"/>
                  </a:schemeClr>
                </a:solidFill>
                <a:cs typeface="Times New Roman" panose="02020603050405020304" pitchFamily="18" charset="0"/>
              </a:rPr>
              <a:t>Departamento de Sistemas e Computação – FURB</a:t>
            </a:r>
          </a:p>
          <a:p>
            <a:pPr algn="ctr"/>
            <a:r>
              <a:rPr lang="pt-BR" b="1" dirty="0">
                <a:solidFill>
                  <a:schemeClr val="bg2">
                    <a:lumMod val="50000"/>
                  </a:schemeClr>
                </a:solidFill>
                <a:cs typeface="Times New Roman" panose="02020603050405020304" pitchFamily="18" charset="0"/>
              </a:rPr>
              <a:t>Curso de Sistemas de Informação</a:t>
            </a:r>
          </a:p>
          <a:p>
            <a:pPr algn="ctr"/>
            <a:r>
              <a:rPr lang="pt-BR" b="1" dirty="0">
                <a:solidFill>
                  <a:schemeClr val="bg2">
                    <a:lumMod val="50000"/>
                  </a:schemeClr>
                </a:solidFill>
                <a:cs typeface="Times New Roman" panose="02020603050405020304" pitchFamily="18" charset="0"/>
              </a:rPr>
              <a:t>Trabalho de Conclusão de Curso II – 2025/2</a:t>
            </a:r>
          </a:p>
        </p:txBody>
      </p:sp>
      <p:sp>
        <p:nvSpPr>
          <p:cNvPr id="8" name="Retângulo: Cantos Superiores Arredondados 7">
            <a:extLst>
              <a:ext uri="{FF2B5EF4-FFF2-40B4-BE49-F238E27FC236}">
                <a16:creationId xmlns:a16="http://schemas.microsoft.com/office/drawing/2014/main" id="{BCB4ECC9-985E-4F10-8EC9-D17A752AAFD8}"/>
              </a:ext>
            </a:extLst>
          </p:cNvPr>
          <p:cNvSpPr/>
          <p:nvPr/>
        </p:nvSpPr>
        <p:spPr>
          <a:xfrm flipV="1">
            <a:off x="2412639" y="1802908"/>
            <a:ext cx="7366718" cy="45719"/>
          </a:xfrm>
          <a:prstGeom prst="round2Same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D6E6615F-ED6C-4F2E-887A-77A584E6B79D}"/>
              </a:ext>
            </a:extLst>
          </p:cNvPr>
          <p:cNvSpPr txBox="1">
            <a:spLocks/>
          </p:cNvSpPr>
          <p:nvPr/>
        </p:nvSpPr>
        <p:spPr>
          <a:xfrm>
            <a:off x="6787165" y="4976268"/>
            <a:ext cx="4005329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pt-BR" sz="2000" dirty="0">
                <a:cs typeface="Times New Roman" panose="02020603050405020304" pitchFamily="18" charset="0"/>
              </a:rPr>
              <a:t>Orientador: </a:t>
            </a:r>
          </a:p>
          <a:p>
            <a:pPr algn="r"/>
            <a:r>
              <a:rPr lang="pt-BR" sz="2000" b="1" dirty="0">
                <a:cs typeface="Times New Roman" panose="02020603050405020304" pitchFamily="18" charset="0"/>
              </a:rPr>
              <a:t>Aurélio Faustino </a:t>
            </a:r>
            <a:r>
              <a:rPr lang="pt-BR" sz="2000" b="1" dirty="0" err="1">
                <a:cs typeface="Times New Roman" panose="02020603050405020304" pitchFamily="18" charset="0"/>
              </a:rPr>
              <a:t>Hoppe</a:t>
            </a:r>
            <a:endParaRPr lang="pt-BR" sz="2000" b="1" dirty="0">
              <a:cs typeface="Times New Roman" panose="02020603050405020304" pitchFamily="18" charset="0"/>
            </a:endParaRPr>
          </a:p>
          <a:p>
            <a:pPr algn="r"/>
            <a:r>
              <a:rPr lang="pt-BR" sz="1800" dirty="0">
                <a:solidFill>
                  <a:schemeClr val="accent5">
                    <a:lumMod val="50000"/>
                  </a:schemeClr>
                </a:solidFill>
                <a:cs typeface="Times New Roman" panose="02020603050405020304" pitchFamily="18" charset="0"/>
              </a:rPr>
              <a:t>aureliof@furb.br</a:t>
            </a:r>
          </a:p>
        </p:txBody>
      </p:sp>
      <p:sp>
        <p:nvSpPr>
          <p:cNvPr id="5" name="Google Shape;130;p25">
            <a:extLst>
              <a:ext uri="{FF2B5EF4-FFF2-40B4-BE49-F238E27FC236}">
                <a16:creationId xmlns:a16="http://schemas.microsoft.com/office/drawing/2014/main" id="{4BE85A23-04BF-B2DC-CA31-A3C0EDC9CEAF}"/>
              </a:ext>
            </a:extLst>
          </p:cNvPr>
          <p:cNvSpPr txBox="1">
            <a:spLocks/>
          </p:cNvSpPr>
          <p:nvPr/>
        </p:nvSpPr>
        <p:spPr>
          <a:xfrm>
            <a:off x="1399503" y="4341298"/>
            <a:ext cx="3003900" cy="216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8575" tIns="34275" rIns="68575" bIns="34275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  <a:buClr>
                <a:schemeClr val="dk1"/>
              </a:buClr>
              <a:buSzPts val="1500"/>
            </a:pPr>
            <a:r>
              <a:rPr lang="pt-BR" sz="2000" dirty="0"/>
              <a:t>Acadêmicos: </a:t>
            </a:r>
          </a:p>
          <a:p>
            <a:pPr algn="l">
              <a:spcBef>
                <a:spcPts val="800"/>
              </a:spcBef>
              <a:buClr>
                <a:schemeClr val="dk1"/>
              </a:buClr>
              <a:buSzPts val="1500"/>
            </a:pPr>
            <a:r>
              <a:rPr lang="pt-BR" sz="2000" b="1" dirty="0"/>
              <a:t>Alexandre Silva Zabel</a:t>
            </a:r>
          </a:p>
          <a:p>
            <a:pPr algn="l">
              <a:spcBef>
                <a:spcPts val="800"/>
              </a:spcBef>
              <a:buClr>
                <a:srgbClr val="1E4E79"/>
              </a:buClr>
              <a:buSzPts val="1400"/>
              <a:buFont typeface="Arial"/>
              <a:buNone/>
            </a:pPr>
            <a:r>
              <a:rPr lang="pt-BR" sz="1800" dirty="0">
                <a:solidFill>
                  <a:srgbClr val="1E4E79"/>
                </a:solidFill>
              </a:rPr>
              <a:t>azabel@furb.br</a:t>
            </a:r>
            <a:endParaRPr lang="pt-BR" sz="1800" b="1" dirty="0"/>
          </a:p>
          <a:p>
            <a:pPr algn="l">
              <a:spcBef>
                <a:spcPts val="800"/>
              </a:spcBef>
              <a:buClr>
                <a:schemeClr val="dk1"/>
              </a:buClr>
              <a:buSzPts val="1500"/>
            </a:pPr>
            <a:r>
              <a:rPr lang="pt-BR" sz="2000" b="1" dirty="0"/>
              <a:t>Bruno Ferrari Vincensi</a:t>
            </a:r>
          </a:p>
          <a:p>
            <a:pPr algn="l">
              <a:spcBef>
                <a:spcPts val="800"/>
              </a:spcBef>
              <a:buClr>
                <a:srgbClr val="1E4E79"/>
              </a:buClr>
              <a:buSzPts val="1400"/>
            </a:pPr>
            <a:r>
              <a:rPr lang="pt-BR" sz="1800" dirty="0">
                <a:solidFill>
                  <a:srgbClr val="1E4E79"/>
                </a:solidFill>
              </a:rPr>
              <a:t>bvincensi@furb.br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165375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9772E-783D-BD07-6590-5A9FB1291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367E1-4500-6982-6A3D-BB5E55C3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Roteiro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517F72A-DACD-F833-1DF5-28A3B023B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2528" y="1657579"/>
            <a:ext cx="7388035" cy="4608028"/>
          </a:xfrm>
        </p:spPr>
        <p:txBody>
          <a:bodyPr>
            <a:normAutofit lnSpcReduction="10000"/>
          </a:bodyPr>
          <a:lstStyle/>
          <a:p>
            <a:r>
              <a:rPr lang="pt-BR" dirty="0"/>
              <a:t>Introdução</a:t>
            </a:r>
          </a:p>
          <a:p>
            <a:r>
              <a:rPr lang="pt-BR" dirty="0"/>
              <a:t>Objetivos</a:t>
            </a:r>
          </a:p>
          <a:p>
            <a:r>
              <a:rPr lang="pt-BR" dirty="0"/>
              <a:t>Fundamentação Teórica</a:t>
            </a:r>
          </a:p>
          <a:p>
            <a:r>
              <a:rPr lang="pt-BR" dirty="0"/>
              <a:t>Revisão sistemática</a:t>
            </a:r>
          </a:p>
          <a:p>
            <a:r>
              <a:rPr lang="pt-BR" dirty="0"/>
              <a:t>Trabalhos Correlatos</a:t>
            </a:r>
          </a:p>
          <a:p>
            <a:r>
              <a:rPr lang="pt-BR" dirty="0"/>
              <a:t>Desenvolvimento</a:t>
            </a:r>
          </a:p>
          <a:p>
            <a:pPr lvl="1"/>
            <a:r>
              <a:rPr lang="pt-BR" sz="2600" dirty="0"/>
              <a:t>Modelo Otimização</a:t>
            </a:r>
          </a:p>
          <a:p>
            <a:pPr lvl="1"/>
            <a:r>
              <a:rPr lang="pt-BR" sz="2600" dirty="0"/>
              <a:t>Plataforma Web</a:t>
            </a:r>
          </a:p>
          <a:p>
            <a:pPr lvl="1"/>
            <a:r>
              <a:rPr lang="pt-BR" sz="2600" dirty="0"/>
              <a:t>Teste de Usabilidade</a:t>
            </a:r>
          </a:p>
          <a:p>
            <a:r>
              <a:rPr lang="pt-BR" dirty="0"/>
              <a:t>Conclusões</a:t>
            </a: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6BCE4AB5-73BC-2418-D21D-E4AEDFE06765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B400A20-858B-150F-0926-E56DEB1B0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9563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38A0FA-C780-42E0-8795-CA1825163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246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Introdução (1/2)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8CE2F6-5CEB-4732-96E3-12AE4B0DE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630" y="1804935"/>
            <a:ext cx="5855369" cy="4842754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0">
              <a:buNone/>
            </a:pPr>
            <a:r>
              <a:rPr lang="pt-BR" sz="3100" b="1" dirty="0"/>
              <a:t>Contexto do Investidor Brasileiro</a:t>
            </a:r>
          </a:p>
          <a:p>
            <a:r>
              <a:rPr lang="pt-BR" b="1" dirty="0"/>
              <a:t>64% dos brasileiros </a:t>
            </a:r>
            <a:r>
              <a:rPr lang="pt-BR" dirty="0"/>
              <a:t>não sabem reconhecer um bom investimento, segundo pesquisa do </a:t>
            </a:r>
            <a:r>
              <a:rPr lang="pt-BR" b="1" dirty="0"/>
              <a:t>Febraban</a:t>
            </a:r>
            <a:endParaRPr lang="pt-BR" dirty="0"/>
          </a:p>
          <a:p>
            <a:r>
              <a:rPr lang="pt-BR" dirty="0"/>
              <a:t>A maioria depende de opiniões de terceiros</a:t>
            </a:r>
          </a:p>
          <a:p>
            <a:r>
              <a:rPr lang="pt-BR" dirty="0"/>
              <a:t>Assessores de investimentos gastam muito tempo para construir portifólios personalizados para seus clientes.</a:t>
            </a:r>
            <a:br>
              <a:rPr lang="pt-BR" dirty="0"/>
            </a:br>
            <a:endParaRPr lang="pt-BR" dirty="0"/>
          </a:p>
          <a:p>
            <a:pPr marL="0" indent="0">
              <a:buNone/>
            </a:pPr>
            <a:r>
              <a:rPr lang="pt-BR" sz="3100" b="1" dirty="0"/>
              <a:t>Desafios Atuais</a:t>
            </a:r>
          </a:p>
          <a:p>
            <a:r>
              <a:rPr lang="pt-BR" sz="2900" dirty="0"/>
              <a:t>Excesso de informações e recomendações conflitantes online.</a:t>
            </a:r>
          </a:p>
          <a:p>
            <a:r>
              <a:rPr lang="pt-BR" sz="2900" dirty="0"/>
              <a:t>Dificuldade em filtrar análises confiáveis.</a:t>
            </a:r>
          </a:p>
          <a:p>
            <a:r>
              <a:rPr lang="pt-BR" sz="29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Compreensão simultânea de retorno, volatilidade e risco</a:t>
            </a:r>
            <a:endParaRPr lang="pt-BR" sz="2900" dirty="0"/>
          </a:p>
          <a:p>
            <a:r>
              <a:rPr lang="pt-BR" sz="2900" dirty="0"/>
              <a:t>Falta de ferramentas acessíveis para montar carteiras alinhadas ao perfil pessoal.</a:t>
            </a: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5EAE89C7-C9A4-4D03-ABCD-CBF7CA673DDF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2D3BCA6-F070-4C77-B875-CB3AB6586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3</a:t>
            </a:fld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1C5411E0-E172-987F-6B8A-CAEC71DC3321}"/>
              </a:ext>
            </a:extLst>
          </p:cNvPr>
          <p:cNvSpPr txBox="1"/>
          <p:nvPr/>
        </p:nvSpPr>
        <p:spPr>
          <a:xfrm>
            <a:off x="6373657" y="5528585"/>
            <a:ext cx="6094476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pt-BR" sz="1200" dirty="0"/>
              <a:t>Pesquisa da </a:t>
            </a:r>
            <a:r>
              <a:rPr lang="pt-BR" sz="1200" dirty="0" err="1"/>
              <a:t>Anbima</a:t>
            </a:r>
            <a:r>
              <a:rPr lang="pt-BR" sz="1200" dirty="0"/>
              <a:t> com 5.846 pessoas</a:t>
            </a:r>
            <a:endParaRPr lang="pt-BR" sz="1200" dirty="0">
              <a:cs typeface="Calibri"/>
            </a:endParaRPr>
          </a:p>
        </p:txBody>
      </p:sp>
      <p:pic>
        <p:nvPicPr>
          <p:cNvPr id="8" name="Imagem 7" descr="Diagrama&#10;&#10;O conteúdo gerado por IA pode estar incorreto.">
            <a:extLst>
              <a:ext uri="{FF2B5EF4-FFF2-40B4-BE49-F238E27FC236}">
                <a16:creationId xmlns:a16="http://schemas.microsoft.com/office/drawing/2014/main" id="{C62082C5-D5C5-4FF0-CE6B-02782E849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9286" y="1835549"/>
            <a:ext cx="4963218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489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94EE-1158-0A4B-A6EF-0D8C509A7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429765-D880-F9DF-6319-85B01D1B9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246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Introdução (2/2)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30D458-BCEB-23EB-F457-27BB1DB62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293" y="1683544"/>
            <a:ext cx="7039911" cy="36330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200" b="1" dirty="0"/>
              <a:t>Uso de Inteligência Artificial em investimentos</a:t>
            </a:r>
          </a:p>
          <a:p>
            <a:r>
              <a:rPr lang="pt-BR" sz="2000" dirty="0"/>
              <a:t>Analisa grandes volumes de dados rapidamente</a:t>
            </a:r>
          </a:p>
          <a:p>
            <a:r>
              <a:rPr lang="pt-BR" sz="2000" dirty="0"/>
              <a:t>Reduz vieses humanos e melhora a tomada de decisão</a:t>
            </a:r>
          </a:p>
          <a:p>
            <a:r>
              <a:rPr lang="pt-BR" sz="2000" dirty="0"/>
              <a:t>Identifica combinações eficientes de ativos</a:t>
            </a:r>
          </a:p>
          <a:p>
            <a:pPr marL="0" indent="0">
              <a:buNone/>
            </a:pPr>
            <a:endParaRPr lang="pt-BR" sz="1800" dirty="0"/>
          </a:p>
          <a:p>
            <a:pPr marL="0" indent="0">
              <a:buNone/>
            </a:pPr>
            <a:r>
              <a:rPr lang="pt-BR" sz="2200" b="1" dirty="0"/>
              <a:t>Como algoritmos de otimização ajudam</a:t>
            </a:r>
          </a:p>
          <a:p>
            <a:r>
              <a:rPr lang="pt-BR" sz="2000" dirty="0"/>
              <a:t>Equilibram retorno, risco e diversificação</a:t>
            </a:r>
          </a:p>
          <a:p>
            <a:r>
              <a:rPr lang="pt-BR" sz="2000" dirty="0"/>
              <a:t>Consideram perfil do investidor e restrições reais</a:t>
            </a:r>
          </a:p>
          <a:p>
            <a:r>
              <a:rPr lang="pt-BR" sz="2000" dirty="0"/>
              <a:t>Geram carteiras personalizadas e mais consistentes</a:t>
            </a:r>
          </a:p>
          <a:p>
            <a:pPr>
              <a:spcAft>
                <a:spcPts val="1200"/>
              </a:spcAft>
            </a:pPr>
            <a:endParaRPr lang="pt-BR" sz="1800" dirty="0"/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DA092E39-E123-C039-89EE-26B1DFE3E223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32B43D5-3C96-A427-F32B-F269BFDE5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4</a:t>
            </a:fld>
            <a:endParaRPr lang="pt-BR"/>
          </a:p>
        </p:txBody>
      </p:sp>
      <p:pic>
        <p:nvPicPr>
          <p:cNvPr id="9" name="Imagem 8" descr="Tela de computador com jogo&#10;&#10;O conteúdo gerado por IA pode estar incorreto.">
            <a:extLst>
              <a:ext uri="{FF2B5EF4-FFF2-40B4-BE49-F238E27FC236}">
                <a16:creationId xmlns:a16="http://schemas.microsoft.com/office/drawing/2014/main" id="{F878AAFB-491B-EFE9-2E9D-591ABD06F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813" y="1462563"/>
            <a:ext cx="3929682" cy="5043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225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38A0FA-C780-42E0-8795-CA1825163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Objetivos (1/2)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8CE2F6-5CEB-4732-96E3-12AE4B0DE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6301"/>
            <a:ext cx="11104418" cy="4351338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Objetivo geral: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sz="2400" dirty="0"/>
              <a:t>Disponibilizar uma plataforma web para a otimização de portfólios de investimento utilizando Algoritmos Genéticos </a:t>
            </a:r>
            <a:r>
              <a:rPr lang="pt-BR" sz="2400" dirty="0" err="1"/>
              <a:t>MultiObjetivo</a:t>
            </a:r>
            <a:r>
              <a:rPr lang="pt-BR" sz="2400" dirty="0"/>
              <a:t> (AGMO), capaz de considerar simultaneamente múltiplos critérios de decisão (retorno esperado, risco, diversificação e restrições do investidor) e personalizar recomendações de acordo com o perfil individual do usuário.</a:t>
            </a: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5EAE89C7-C9A4-4D03-ABCD-CBF7CA673DDF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B54074-1404-4B44-8380-E2D6EBDF8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5967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38A0FA-C780-42E0-8795-CA1825163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Objetivos (2/2)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18CE2F6-5CEB-4732-96E3-12AE4B0DE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916112"/>
            <a:ext cx="10674927" cy="435133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pt-BR" b="1" dirty="0"/>
              <a:t>Objetivos específicos:</a:t>
            </a:r>
          </a:p>
          <a:p>
            <a:pPr marL="571500" indent="-571500">
              <a:spcBef>
                <a:spcPts val="1400"/>
              </a:spcBef>
              <a:buFont typeface="+mj-lt"/>
              <a:buAutoNum type="alphaLcParenR"/>
            </a:pPr>
            <a:r>
              <a:rPr lang="pt-BR" sz="2400" dirty="0"/>
              <a:t>Modelar o problema da alocação de ativos como um problema de otimização multiobjetivo, considerando funções de retorno, risco e diversificação</a:t>
            </a:r>
          </a:p>
          <a:p>
            <a:pPr marL="571500" indent="-571500">
              <a:spcBef>
                <a:spcPts val="1400"/>
              </a:spcBef>
              <a:buFont typeface="+mj-lt"/>
              <a:buAutoNum type="alphaLcParenR"/>
            </a:pPr>
            <a:r>
              <a:rPr lang="pt-BR" sz="2400" dirty="0"/>
              <a:t>Implementar e testar diferentes configurações do algoritmo genético multiobjetivo, analisando impacto de parâmetros como tamanho da população, taxas de cruzamento e mutação, e número de gerações</a:t>
            </a:r>
          </a:p>
          <a:p>
            <a:pPr marL="571500" indent="-571500">
              <a:spcBef>
                <a:spcPts val="1400"/>
              </a:spcBef>
              <a:buFont typeface="+mj-lt"/>
              <a:buAutoNum type="alphaLcParenR"/>
            </a:pPr>
            <a:r>
              <a:rPr lang="pt-BR" sz="2400" dirty="0"/>
              <a:t>Validar o desempenho do aplicativo por meio de </a:t>
            </a:r>
            <a:r>
              <a:rPr lang="pt-BR" sz="2400" dirty="0" err="1"/>
              <a:t>backtesting</a:t>
            </a:r>
            <a:r>
              <a:rPr lang="pt-BR" sz="2400" dirty="0"/>
              <a:t> histórico e comparação com benchmarks relevantes como o Ibovespa</a:t>
            </a:r>
          </a:p>
          <a:p>
            <a:pPr marL="571500" indent="-571500">
              <a:spcBef>
                <a:spcPts val="1400"/>
              </a:spcBef>
              <a:buFont typeface="+mj-lt"/>
              <a:buAutoNum type="alphaLcParenR"/>
            </a:pPr>
            <a:r>
              <a:rPr lang="pt-BR" sz="2400" dirty="0"/>
              <a:t>Avaliar diferentes critérios de decisão e restrições de portfólio, incluindo limites de ativos, ativos indesejados e horizonte de investimento</a:t>
            </a:r>
          </a:p>
          <a:p>
            <a:pPr marL="571500" indent="-571500">
              <a:spcBef>
                <a:spcPts val="1400"/>
              </a:spcBef>
              <a:buFont typeface="+mj-lt"/>
              <a:buAutoNum type="alphaLcParenR"/>
            </a:pPr>
            <a:r>
              <a:rPr lang="pt-BR" sz="2400" dirty="0"/>
              <a:t>Disponibilizar o modelo desenvolvido em uma plataforma web para avaliar a aderência do sistema a diferentes perfis de investidor</a:t>
            </a: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5EAE89C7-C9A4-4D03-ABCD-CBF7CA673DDF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B54074-1404-4B44-8380-E2D6EBDF8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9400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90C4D-BAAC-F004-D35C-8D3228A3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6642FE-CF17-7CD5-9733-4DD4F3EB2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/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Modelo de Otimização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5C1E63-76C0-2248-9FAC-D9F49A813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9504" y="1828450"/>
            <a:ext cx="9392991" cy="807632"/>
          </a:xfrm>
        </p:spPr>
        <p:txBody>
          <a:bodyPr>
            <a:normAutofit/>
          </a:bodyPr>
          <a:lstStyle/>
          <a:p>
            <a:pPr marL="0" lvl="0" indent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O desenvolvimento foi dividido em dois módulos:</a:t>
            </a: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27033A73-7D78-DE6C-7662-DC96D00F0474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509B79D-B4B6-FDE6-3B71-1549DEC85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7</a:t>
            </a:fld>
            <a:endParaRPr lang="pt-BR"/>
          </a:p>
        </p:txBody>
      </p:sp>
      <p:sp>
        <p:nvSpPr>
          <p:cNvPr id="6" name="Google Shape;286;p42">
            <a:extLst>
              <a:ext uri="{FF2B5EF4-FFF2-40B4-BE49-F238E27FC236}">
                <a16:creationId xmlns:a16="http://schemas.microsoft.com/office/drawing/2014/main" id="{68D06B61-BF17-526A-7C8E-79CB8D38AE39}"/>
              </a:ext>
            </a:extLst>
          </p:cNvPr>
          <p:cNvSpPr txBox="1"/>
          <p:nvPr/>
        </p:nvSpPr>
        <p:spPr>
          <a:xfrm>
            <a:off x="1399504" y="2773844"/>
            <a:ext cx="4408462" cy="2090764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chemeClr val="dk1"/>
                </a:solidFill>
                <a:latin typeface="Arial (Corpo)"/>
                <a:ea typeface="Calibri"/>
                <a:cs typeface="Calibri"/>
                <a:sym typeface="Calibri"/>
              </a:rPr>
              <a:t>Modelo de Otimização e API (</a:t>
            </a:r>
            <a:r>
              <a:rPr lang="pt-BR" sz="2200" dirty="0" err="1">
                <a:solidFill>
                  <a:schemeClr val="dk1"/>
                </a:solidFill>
                <a:latin typeface="Arial (Corpo)"/>
                <a:ea typeface="Calibri"/>
                <a:cs typeface="Calibri"/>
                <a:sym typeface="Calibri"/>
              </a:rPr>
              <a:t>Backend</a:t>
            </a:r>
            <a:r>
              <a:rPr lang="pt-BR" sz="2200" dirty="0">
                <a:solidFill>
                  <a:schemeClr val="dk1"/>
                </a:solidFill>
                <a:latin typeface="Arial (Corpo)"/>
                <a:ea typeface="Calibri"/>
                <a:cs typeface="Calibri"/>
                <a:sym typeface="Calibri"/>
              </a:rPr>
              <a:t>)</a:t>
            </a:r>
            <a:endParaRPr sz="2200" dirty="0">
              <a:solidFill>
                <a:schemeClr val="dk1"/>
              </a:solidFill>
              <a:latin typeface="Arial (Corpo)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87;p42">
            <a:extLst>
              <a:ext uri="{FF2B5EF4-FFF2-40B4-BE49-F238E27FC236}">
                <a16:creationId xmlns:a16="http://schemas.microsoft.com/office/drawing/2014/main" id="{D4589BA6-C6FD-3647-BE31-74B3C8847413}"/>
              </a:ext>
            </a:extLst>
          </p:cNvPr>
          <p:cNvSpPr txBox="1"/>
          <p:nvPr/>
        </p:nvSpPr>
        <p:spPr>
          <a:xfrm>
            <a:off x="6095999" y="2773844"/>
            <a:ext cx="4696495" cy="2090764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chemeClr val="dk1"/>
                </a:solidFill>
                <a:latin typeface="Arial (Corpo)"/>
                <a:ea typeface="Calibri"/>
                <a:cs typeface="Calibri"/>
                <a:sym typeface="Calibri"/>
              </a:rPr>
              <a:t>Plataforma Web (</a:t>
            </a:r>
            <a:r>
              <a:rPr lang="pt-BR" sz="2200" dirty="0" err="1">
                <a:solidFill>
                  <a:schemeClr val="dk1"/>
                </a:solidFill>
                <a:latin typeface="Arial (Corpo)"/>
                <a:ea typeface="Calibri"/>
                <a:cs typeface="Calibri"/>
                <a:sym typeface="Calibri"/>
              </a:rPr>
              <a:t>Frontend</a:t>
            </a:r>
            <a:r>
              <a:rPr lang="pt-BR" sz="2200" dirty="0">
                <a:solidFill>
                  <a:schemeClr val="dk1"/>
                </a:solidFill>
                <a:latin typeface="Arial (Corpo)"/>
                <a:ea typeface="Calibri"/>
                <a:cs typeface="Calibri"/>
                <a:sym typeface="Calibri"/>
              </a:rPr>
              <a:t>)</a:t>
            </a:r>
            <a:endParaRPr sz="2200" dirty="0">
              <a:solidFill>
                <a:schemeClr val="dk1"/>
              </a:solidFill>
              <a:latin typeface="Arial (Corpo)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4324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C1FC8-2F24-897D-8806-FF8A2E1DC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ED1411-65B1-2F88-7CE9-54529E7BD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/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Modelo de Otimização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9007F7-70A9-95EC-1402-C3225DAB3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10674927" cy="807632"/>
          </a:xfrm>
        </p:spPr>
        <p:txBody>
          <a:bodyPr>
            <a:normAutofit/>
          </a:bodyPr>
          <a:lstStyle/>
          <a:p>
            <a:pPr marL="0" indent="0" algn="just">
              <a:spcBef>
                <a:spcPts val="1400"/>
              </a:spcBef>
              <a:buNone/>
            </a:pPr>
            <a:r>
              <a:rPr lang="pt-BR" sz="2400" b="1" dirty="0"/>
              <a:t>Requisitos funcionais</a:t>
            </a:r>
            <a:endParaRPr lang="pt-BR" sz="2400" b="1" dirty="0">
              <a:highlight>
                <a:srgbClr val="FFFF00"/>
              </a:highlight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6FA06F96-069D-5FAF-B1B9-BADEA255DD86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B41271-4F7E-F09C-40AF-B9BB19B6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8</a:t>
            </a:fld>
            <a:endParaRPr lang="pt-BR"/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39F2EF44-ABF3-0628-622A-36471CCD3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51576"/>
              </p:ext>
            </p:extLst>
          </p:nvPr>
        </p:nvGraphicFramePr>
        <p:xfrm>
          <a:off x="678872" y="2291736"/>
          <a:ext cx="10834255" cy="36701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34255">
                  <a:extLst>
                    <a:ext uri="{9D8B030D-6E8A-4147-A177-3AD203B41FA5}">
                      <a16:colId xmlns:a16="http://schemas.microsoft.com/office/drawing/2014/main" val="3975763982"/>
                    </a:ext>
                  </a:extLst>
                </a:gridCol>
              </a:tblGrid>
              <a:tr h="73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RF01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Autenticar usuários através de credenciais seguras (</a:t>
                      </a:r>
                      <a:r>
                        <a:rPr lang="pt-BR" sz="2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email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 senha) e gerar </a:t>
                      </a:r>
                      <a:r>
                        <a:rPr lang="pt-BR" sz="20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tokens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JWT para manutenção de sessões autorizadas 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8916179"/>
                  </a:ext>
                </a:extLst>
              </a:tr>
              <a:tr h="73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RF02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coletar dados históricos mensais de preços via API Yahoo </a:t>
                      </a:r>
                      <a:r>
                        <a:rPr lang="pt-BR" sz="2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Finance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e armazenar séries temporais com cálculo de variações percentuais 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84119021"/>
                  </a:ext>
                </a:extLst>
              </a:tr>
              <a:tr h="73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RF03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otimizar carteiras através do algoritmo R-NSGA-II considerando maximização de retorno, minimização de variância e minimização de </a:t>
                      </a:r>
                      <a:r>
                        <a:rPr lang="pt-BR" sz="2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CVaR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0788081"/>
                  </a:ext>
                </a:extLst>
              </a:tr>
              <a:tr h="73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RF04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aplicar perfis de risco personalizados (conservador, moderado e arrojado), restrições de ativos e limitação na quantidade de ativos da carteira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79346521"/>
                  </a:ext>
                </a:extLst>
              </a:tr>
              <a:tr h="73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RF05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realizar simulação de </a:t>
                      </a:r>
                      <a:r>
                        <a:rPr lang="pt-BR" sz="200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backtest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comparando performance histórica das carteiras otimizadas com </a:t>
                      </a:r>
                      <a:r>
                        <a:rPr lang="pt-BR" sz="20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benchmark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mercado 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8987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7991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46269-9ABA-93F6-22D0-CC5F86576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0C19E7-D84D-DDE8-834E-692F7A93A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/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Modelo de Otimização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42A0CCA-83F9-DFE5-B86A-AD561B4F2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10674927" cy="807632"/>
          </a:xfrm>
        </p:spPr>
        <p:txBody>
          <a:bodyPr>
            <a:normAutofit/>
          </a:bodyPr>
          <a:lstStyle/>
          <a:p>
            <a:pPr marL="0" indent="0" algn="just">
              <a:spcBef>
                <a:spcPts val="1400"/>
              </a:spcBef>
              <a:buNone/>
            </a:pPr>
            <a:r>
              <a:rPr lang="pt-BR" sz="2400" b="1" dirty="0"/>
              <a:t>Requisitos não funcionais</a:t>
            </a:r>
            <a:endParaRPr lang="pt-BR" sz="2400" b="1" dirty="0">
              <a:highlight>
                <a:srgbClr val="FFFF00"/>
              </a:highlight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55B82025-0098-B83C-7323-9C5AFD686CD3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972BB7B-E926-3585-77CE-A692D347C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9</a:t>
            </a:fld>
            <a:endParaRPr lang="pt-BR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D20BA30B-3E77-4B9F-BCB9-B38CA0343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401762"/>
              </p:ext>
            </p:extLst>
          </p:nvPr>
        </p:nvGraphicFramePr>
        <p:xfrm>
          <a:off x="678873" y="2259701"/>
          <a:ext cx="10834254" cy="24220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34254">
                  <a:extLst>
                    <a:ext uri="{9D8B030D-6E8A-4147-A177-3AD203B41FA5}">
                      <a16:colId xmlns:a16="http://schemas.microsoft.com/office/drawing/2014/main" val="3975763982"/>
                    </a:ext>
                  </a:extLst>
                </a:gridCol>
              </a:tblGrid>
              <a:tr h="574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RF01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utilizar linguagem Python com </a:t>
                      </a:r>
                      <a:r>
                        <a:rPr lang="pt-BR" sz="200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framework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pt-BR" sz="2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Flask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para API REST 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8916179"/>
                  </a:ext>
                </a:extLst>
              </a:tr>
              <a:tr h="574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RF02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utilizar o PostgreSQL como banco de dados relacional 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84119021"/>
                  </a:ext>
                </a:extLst>
              </a:tr>
              <a:tr h="574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RF03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utilizar a biblioteca </a:t>
                      </a:r>
                      <a:r>
                        <a:rPr lang="pt-BR" sz="2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pymoo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para realizar o processamento do AGMO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0788081"/>
                  </a:ext>
                </a:extLst>
              </a:tr>
              <a:tr h="6981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2000" dirty="0">
                          <a:effectLst/>
                        </a:rPr>
                        <a:t>RF03 – </a:t>
                      </a:r>
                      <a:r>
                        <a:rPr lang="pt-BR" sz="2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 capaz de realizar a otimização em um tempo máximo de um minuto</a:t>
                      </a:r>
                      <a:endParaRPr lang="pt-BR" sz="2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79346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2750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5C729-41B5-78C5-B92F-030589D5E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AEA410-7D48-E0B2-D151-3EDED4518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/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Banco de dados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96AE67DA-A039-AE8A-F702-A0D2F81B8104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594504D-89B5-C152-71EB-BFD85DFC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10</a:t>
            </a:fld>
            <a:endParaRPr lang="pt-BR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8307E4D0-594B-E0B4-7134-ECB54AD08344}"/>
              </a:ext>
            </a:extLst>
          </p:cNvPr>
          <p:cNvSpPr txBox="1">
            <a:spLocks/>
          </p:cNvSpPr>
          <p:nvPr/>
        </p:nvSpPr>
        <p:spPr bwMode="auto">
          <a:xfrm>
            <a:off x="838200" y="1951066"/>
            <a:ext cx="10834254" cy="3339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 algn="just">
              <a:spcBef>
                <a:spcPts val="1400"/>
              </a:spcBef>
              <a:buNone/>
            </a:pPr>
            <a:r>
              <a:rPr lang="pt-BR" sz="2000" b="1" dirty="0"/>
              <a:t>Banco de dados PostgreSQL:</a:t>
            </a:r>
            <a:endParaRPr lang="pt-BR" sz="2000" b="1" dirty="0">
              <a:highlight>
                <a:srgbClr val="FFFF00"/>
              </a:highlight>
            </a:endParaRPr>
          </a:p>
          <a:p>
            <a:pPr>
              <a:spcBef>
                <a:spcPts val="1400"/>
              </a:spcBef>
            </a:pPr>
            <a:r>
              <a:rPr lang="pt-BR" sz="2200" dirty="0"/>
              <a:t>Banco de dados relacional robusto e confiável</a:t>
            </a:r>
          </a:p>
          <a:p>
            <a:pPr>
              <a:spcBef>
                <a:spcPts val="1400"/>
              </a:spcBef>
            </a:pPr>
            <a:r>
              <a:rPr lang="pt-BR" sz="2200" dirty="0"/>
              <a:t>Ideal para sistemas que exigem consistência e integridade dos dados</a:t>
            </a:r>
            <a:endParaRPr lang="pt-BR" sz="2400" dirty="0"/>
          </a:p>
          <a:p>
            <a:pPr marL="0" indent="0" algn="just">
              <a:spcBef>
                <a:spcPts val="1400"/>
              </a:spcBef>
              <a:buFontTx/>
              <a:buNone/>
            </a:pPr>
            <a:r>
              <a:rPr lang="pt-BR" sz="2200" b="1" kern="0" dirty="0"/>
              <a:t>Vantagens do PostgreSQL:</a:t>
            </a:r>
          </a:p>
          <a:p>
            <a:pPr>
              <a:spcBef>
                <a:spcPts val="1400"/>
              </a:spcBef>
            </a:pPr>
            <a:r>
              <a:rPr lang="pt-BR" sz="2200" dirty="0"/>
              <a:t>Alta segurança e estabilidade em ambientes de produção</a:t>
            </a:r>
          </a:p>
          <a:p>
            <a:pPr>
              <a:spcBef>
                <a:spcPts val="1400"/>
              </a:spcBef>
            </a:pPr>
            <a:r>
              <a:rPr lang="pt-BR" sz="2200" dirty="0"/>
              <a:t>Bom desempenho mesmo com grande volume de registros</a:t>
            </a:r>
            <a:endParaRPr lang="pt-BR" sz="2400" b="1" kern="0" dirty="0">
              <a:highlight>
                <a:srgbClr val="FFFF00"/>
              </a:highlight>
            </a:endParaRPr>
          </a:p>
          <a:p>
            <a:pPr marL="0" indent="0" algn="just">
              <a:spcBef>
                <a:spcPts val="1400"/>
              </a:spcBef>
              <a:buFontTx/>
              <a:buNone/>
            </a:pPr>
            <a:endParaRPr lang="pt-BR" sz="2400" b="1" kern="0" dirty="0">
              <a:highlight>
                <a:srgbClr val="FFFF00"/>
              </a:highlight>
            </a:endParaRPr>
          </a:p>
          <a:p>
            <a:pPr marL="0" indent="0" algn="just">
              <a:spcBef>
                <a:spcPts val="1400"/>
              </a:spcBef>
              <a:buFontTx/>
              <a:buNone/>
            </a:pPr>
            <a:endParaRPr lang="pt-BR" sz="2400" b="1" kern="0" dirty="0">
              <a:highlight>
                <a:srgbClr val="FFFF00"/>
              </a:highlight>
            </a:endParaRPr>
          </a:p>
          <a:p>
            <a:pPr marL="0" indent="0" algn="just">
              <a:spcBef>
                <a:spcPts val="1400"/>
              </a:spcBef>
              <a:buFontTx/>
              <a:buNone/>
            </a:pPr>
            <a:endParaRPr lang="pt-BR" sz="2400" b="1" kern="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248735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D41B8-2D08-FC0C-A48B-E24506D49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16F7E-1062-C185-5DC7-F9EF39676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40312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/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Banco de dados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3FFB7B0C-23F0-47F3-FF45-0CF43E07FA87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1A5105-EABC-205C-5B9F-FA2C0167B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11</a:t>
            </a:fld>
            <a:endParaRPr lang="pt-BR"/>
          </a:p>
        </p:txBody>
      </p:sp>
      <p:pic>
        <p:nvPicPr>
          <p:cNvPr id="7" name="Imagem 6" descr="Diagrama&#10;&#10;O conteúdo gerado por IA pode estar incorreto.">
            <a:extLst>
              <a:ext uri="{FF2B5EF4-FFF2-40B4-BE49-F238E27FC236}">
                <a16:creationId xmlns:a16="http://schemas.microsoft.com/office/drawing/2014/main" id="{5232E0BE-BD3B-71B6-B30A-D071B9116CD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" t="3104" r="1225" b="1869"/>
          <a:stretch>
            <a:fillRect/>
          </a:stretch>
        </p:blipFill>
        <p:spPr bwMode="auto">
          <a:xfrm>
            <a:off x="2422546" y="1772983"/>
            <a:ext cx="7346906" cy="4505677"/>
          </a:xfrm>
          <a:prstGeom prst="rect">
            <a:avLst/>
          </a:prstGeom>
          <a:noFill/>
          <a:ln w="6350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0">
                  <a:custGeom>
                    <a:avLst/>
                    <a:gdLst/>
                    <a:ahLst/>
                    <a:cxnLst/>
                    <a:rect l="0" t="0" r="0" b="0"/>
                    <a:pathLst/>
                  </a:custGeom>
                  <ask:type/>
                </ask:lineSketchStyleProps>
              </a:ext>
            </a:extLst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628019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EDA0F-E888-264A-58ED-230C634C3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03305C-EBB1-6E2D-6D94-7BB4AEDA4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Extração de dados (1/2)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3E454F03-2ED0-3AD6-8D28-0419CBF15544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5D99E9D-2299-25CB-8CAC-DADD6B15E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12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665DE8F4-C6FE-48FD-D798-3A57028B3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4908111" cy="1874870"/>
          </a:xfrm>
        </p:spPr>
        <p:txBody>
          <a:bodyPr>
            <a:normAutofit/>
          </a:bodyPr>
          <a:lstStyle/>
          <a:p>
            <a:r>
              <a:rPr lang="pt-BR" sz="2400" dirty="0"/>
              <a:t>Escolha do universo de ativos (IBX100)</a:t>
            </a:r>
          </a:p>
          <a:p>
            <a:r>
              <a:rPr lang="pt-BR" sz="2400" dirty="0"/>
              <a:t>Importar os ativos no sistema através de um arquivo .</a:t>
            </a:r>
            <a:r>
              <a:rPr lang="pt-BR" sz="2400" dirty="0" err="1"/>
              <a:t>csv</a:t>
            </a:r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  <p:pic>
        <p:nvPicPr>
          <p:cNvPr id="13" name="Imagem 12" descr="Texto&#10;&#10;O conteúdo gerado por IA pode estar incorreto.">
            <a:extLst>
              <a:ext uri="{FF2B5EF4-FFF2-40B4-BE49-F238E27FC236}">
                <a16:creationId xmlns:a16="http://schemas.microsoft.com/office/drawing/2014/main" id="{2AAE80B4-5259-DF37-1197-B532223C83A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83"/>
          <a:stretch>
            <a:fillRect/>
          </a:stretch>
        </p:blipFill>
        <p:spPr bwMode="auto">
          <a:xfrm>
            <a:off x="5586984" y="1828450"/>
            <a:ext cx="5926143" cy="360109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07208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3062-1D23-99DA-CA45-EDDE685AB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822531-B565-4774-083C-D573D4D6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Extração de dados (2/2)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CB90EB2D-5133-B131-26AA-BF6151781D75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A3DC956-2659-36CD-A923-D129BD12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13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91530038-7D84-6B92-1D24-47784001F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4908111" cy="1874870"/>
          </a:xfrm>
        </p:spPr>
        <p:txBody>
          <a:bodyPr>
            <a:normAutofit fontScale="92500"/>
          </a:bodyPr>
          <a:lstStyle/>
          <a:p>
            <a:r>
              <a:rPr lang="pt-BR" sz="2400" dirty="0"/>
              <a:t>Coleta dos preços históricos ajustados pelo </a:t>
            </a:r>
            <a:r>
              <a:rPr lang="pt-BR" sz="2400" dirty="0" err="1"/>
              <a:t>yfinance</a:t>
            </a:r>
            <a:r>
              <a:rPr lang="pt-BR" sz="2400" dirty="0"/>
              <a:t> (Date e Close)</a:t>
            </a:r>
          </a:p>
          <a:p>
            <a:r>
              <a:rPr lang="pt-BR" sz="2400" dirty="0"/>
              <a:t>Calculo da variação mensal (</a:t>
            </a:r>
            <a:r>
              <a:rPr lang="pt-BR" sz="2400" dirty="0" err="1"/>
              <a:t>Variation</a:t>
            </a:r>
            <a:r>
              <a:rPr lang="pt-BR" sz="2400" dirty="0"/>
              <a:t>)</a:t>
            </a:r>
          </a:p>
          <a:p>
            <a:r>
              <a:rPr lang="pt-BR" sz="2400" dirty="0"/>
              <a:t>Agendador noturno para atualizar às 23:00</a:t>
            </a:r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47182B91-9379-399A-807A-405444502A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75443"/>
              </p:ext>
            </p:extLst>
          </p:nvPr>
        </p:nvGraphicFramePr>
        <p:xfrm>
          <a:off x="5586984" y="1828450"/>
          <a:ext cx="5926143" cy="38774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9232">
                  <a:extLst>
                    <a:ext uri="{9D8B030D-6E8A-4147-A177-3AD203B41FA5}">
                      <a16:colId xmlns:a16="http://schemas.microsoft.com/office/drawing/2014/main" val="2694719678"/>
                    </a:ext>
                  </a:extLst>
                </a:gridCol>
                <a:gridCol w="1302371">
                  <a:extLst>
                    <a:ext uri="{9D8B030D-6E8A-4147-A177-3AD203B41FA5}">
                      <a16:colId xmlns:a16="http://schemas.microsoft.com/office/drawing/2014/main" val="3396729520"/>
                    </a:ext>
                  </a:extLst>
                </a:gridCol>
                <a:gridCol w="2314540">
                  <a:extLst>
                    <a:ext uri="{9D8B030D-6E8A-4147-A177-3AD203B41FA5}">
                      <a16:colId xmlns:a16="http://schemas.microsoft.com/office/drawing/2014/main" val="2968871095"/>
                    </a:ext>
                  </a:extLst>
                </a:gridCol>
              </a:tblGrid>
              <a:tr h="553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Date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Close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>
                          <a:solidFill>
                            <a:schemeClr val="bg1"/>
                          </a:solidFill>
                          <a:effectLst/>
                        </a:rPr>
                        <a:t>Variation</a:t>
                      </a:r>
                      <a:endParaRPr lang="pt-BR" sz="12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5094489"/>
                  </a:ext>
                </a:extLst>
              </a:tr>
              <a:tr h="553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2000-01-01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>
                          <a:solidFill>
                            <a:schemeClr val="bg1"/>
                          </a:solidFill>
                          <a:effectLst/>
                        </a:rPr>
                        <a:t>0.43</a:t>
                      </a:r>
                      <a:endParaRPr lang="pt-BR" sz="12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 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699237"/>
                  </a:ext>
                </a:extLst>
              </a:tr>
              <a:tr h="553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2000-02-01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0.40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-0.056963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557933"/>
                  </a:ext>
                </a:extLst>
              </a:tr>
              <a:tr h="553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2000-03-01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0.34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>
                          <a:solidFill>
                            <a:schemeClr val="bg1"/>
                          </a:solidFill>
                          <a:effectLst/>
                        </a:rPr>
                        <a:t>-0.155704</a:t>
                      </a:r>
                      <a:endParaRPr lang="pt-BR" sz="12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171381"/>
                  </a:ext>
                </a:extLst>
              </a:tr>
              <a:tr h="553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2000-04-01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0.33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-0.046104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5538544"/>
                  </a:ext>
                </a:extLst>
              </a:tr>
              <a:tr h="553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2000-05-01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>
                          <a:solidFill>
                            <a:schemeClr val="bg1"/>
                          </a:solidFill>
                          <a:effectLst/>
                        </a:rPr>
                        <a:t>0.30</a:t>
                      </a:r>
                      <a:endParaRPr lang="pt-BR" sz="12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-0.066667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687155"/>
                  </a:ext>
                </a:extLst>
              </a:tr>
              <a:tr h="5539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>
                          <a:solidFill>
                            <a:schemeClr val="bg1"/>
                          </a:solidFill>
                          <a:effectLst/>
                        </a:rPr>
                        <a:t>2000-06-01</a:t>
                      </a:r>
                      <a:endParaRPr lang="pt-BR" sz="12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0.35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200" dirty="0">
                          <a:solidFill>
                            <a:schemeClr val="bg1"/>
                          </a:solidFill>
                          <a:effectLst/>
                        </a:rPr>
                        <a:t> 0.151786</a:t>
                      </a:r>
                      <a:endParaRPr lang="pt-BR" sz="12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15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0167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CFC16-DE1E-5FB8-DBD1-41B6BFFA1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1286C5-7264-73DA-4128-7CDA71997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Implementação do AGMO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7A36D778-DAF9-4B17-4659-2A5E31C64E0F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E4E4FF-51F9-D19A-EDED-459DFDDC2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14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29569178-D261-9098-2945-7A0D2C3EAE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49"/>
            <a:ext cx="10834254" cy="2387667"/>
          </a:xfrm>
        </p:spPr>
        <p:txBody>
          <a:bodyPr>
            <a:normAutofit lnSpcReduction="10000"/>
          </a:bodyPr>
          <a:lstStyle/>
          <a:p>
            <a:pPr marL="0" indent="0" algn="just">
              <a:spcBef>
                <a:spcPts val="1400"/>
              </a:spcBef>
              <a:buNone/>
            </a:pPr>
            <a:r>
              <a:rPr lang="pt-BR" sz="2000" b="1" dirty="0"/>
              <a:t>Parâmetros:</a:t>
            </a:r>
          </a:p>
          <a:p>
            <a:pPr algn="just">
              <a:spcBef>
                <a:spcPts val="1400"/>
              </a:spcBef>
            </a:pPr>
            <a:r>
              <a:rPr lang="pt-BR" sz="1800" dirty="0"/>
              <a:t>Perfil de risco (conservador, moderado e arrojado)</a:t>
            </a:r>
          </a:p>
          <a:p>
            <a:pPr algn="just">
              <a:spcBef>
                <a:spcPts val="1400"/>
              </a:spcBef>
            </a:pPr>
            <a:r>
              <a:rPr lang="pt-BR" sz="1800" dirty="0"/>
              <a:t>Restrição de ativos específicos</a:t>
            </a:r>
          </a:p>
          <a:p>
            <a:pPr algn="just">
              <a:spcBef>
                <a:spcPts val="1400"/>
              </a:spcBef>
            </a:pPr>
            <a:r>
              <a:rPr lang="pt-BR" sz="1800" dirty="0"/>
              <a:t>Limite da quantidade de ativos</a:t>
            </a:r>
          </a:p>
          <a:p>
            <a:pPr algn="just">
              <a:spcBef>
                <a:spcPts val="1400"/>
              </a:spcBef>
            </a:pPr>
            <a:r>
              <a:rPr lang="pt-BR" sz="1800" dirty="0"/>
              <a:t>Horizonte de investimento</a:t>
            </a:r>
          </a:p>
          <a:p>
            <a:pPr marL="0" indent="0" algn="just">
              <a:spcBef>
                <a:spcPts val="1400"/>
              </a:spcBef>
              <a:buNone/>
            </a:pPr>
            <a:r>
              <a:rPr lang="pt-BR" sz="2000" b="1" dirty="0"/>
              <a:t>Pipeline do desenvolvimento do AGMO:</a:t>
            </a:r>
          </a:p>
          <a:p>
            <a:pPr algn="just">
              <a:spcBef>
                <a:spcPts val="1400"/>
              </a:spcBef>
            </a:pPr>
            <a:endParaRPr lang="pt-BR" sz="1800" dirty="0"/>
          </a:p>
          <a:p>
            <a:pPr algn="just">
              <a:spcBef>
                <a:spcPts val="1400"/>
              </a:spcBef>
            </a:pPr>
            <a:endParaRPr lang="pt-BR" sz="2000" dirty="0"/>
          </a:p>
          <a:p>
            <a:pPr algn="just">
              <a:spcBef>
                <a:spcPts val="1400"/>
              </a:spcBef>
            </a:pPr>
            <a:endParaRPr lang="pt-BR" sz="2400" dirty="0"/>
          </a:p>
        </p:txBody>
      </p:sp>
      <p:pic>
        <p:nvPicPr>
          <p:cNvPr id="3" name="Espaço Reservado para Conteúdo 3" descr="Diagrama&#10;&#10;O conteúdo gerado por IA pode estar incorreto.">
            <a:extLst>
              <a:ext uri="{FF2B5EF4-FFF2-40B4-BE49-F238E27FC236}">
                <a16:creationId xmlns:a16="http://schemas.microsoft.com/office/drawing/2014/main" id="{56C14792-B695-2150-35FB-E29E6E669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73" y="4216116"/>
            <a:ext cx="10834255" cy="233560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5729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CCA73-5BAA-7F89-BFF6-52F66F44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F4A1C7-6FD7-9AA4-454F-32B95FA71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Preparação dos dados (1/3)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949606F6-3D2C-734B-6309-770195A2D0F8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0C2E69A-0759-7CF4-FEA9-4B954581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15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1551EFC6-5553-EE98-41F8-F15AC7F92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4908111" cy="1874870"/>
          </a:xfrm>
        </p:spPr>
        <p:txBody>
          <a:bodyPr>
            <a:normAutofit/>
          </a:bodyPr>
          <a:lstStyle/>
          <a:p>
            <a:pPr algn="just">
              <a:spcBef>
                <a:spcPts val="1400"/>
              </a:spcBef>
            </a:pPr>
            <a:r>
              <a:rPr lang="pt-BR" sz="2400" dirty="0"/>
              <a:t>Filtro inicial dos ativos</a:t>
            </a:r>
          </a:p>
          <a:p>
            <a:pPr algn="just">
              <a:spcBef>
                <a:spcPts val="1400"/>
              </a:spcBef>
            </a:pPr>
            <a:r>
              <a:rPr lang="pt-BR" sz="2400" dirty="0"/>
              <a:t>Resgate dos dados históricos</a:t>
            </a:r>
          </a:p>
          <a:p>
            <a:pPr algn="just">
              <a:spcBef>
                <a:spcPts val="1400"/>
              </a:spcBef>
            </a:pPr>
            <a:r>
              <a:rPr lang="pt-BR" sz="2400" dirty="0"/>
              <a:t>Reorganização para um </a:t>
            </a:r>
            <a:r>
              <a:rPr lang="pt-BR" sz="2400" i="1" dirty="0" err="1"/>
              <a:t>DataFrame</a:t>
            </a:r>
            <a:endParaRPr lang="pt-BR" sz="2400" i="1" dirty="0"/>
          </a:p>
          <a:p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7846CE2C-5064-2ADC-F913-1E0E08B7B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394962"/>
              </p:ext>
            </p:extLst>
          </p:nvPr>
        </p:nvGraphicFramePr>
        <p:xfrm>
          <a:off x="6095999" y="1690688"/>
          <a:ext cx="5040563" cy="24351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6595">
                  <a:extLst>
                    <a:ext uri="{9D8B030D-6E8A-4147-A177-3AD203B41FA5}">
                      <a16:colId xmlns:a16="http://schemas.microsoft.com/office/drawing/2014/main" val="1624285346"/>
                    </a:ext>
                  </a:extLst>
                </a:gridCol>
                <a:gridCol w="1505102">
                  <a:extLst>
                    <a:ext uri="{9D8B030D-6E8A-4147-A177-3AD203B41FA5}">
                      <a16:colId xmlns:a16="http://schemas.microsoft.com/office/drawing/2014/main" val="3451897982"/>
                    </a:ext>
                  </a:extLst>
                </a:gridCol>
                <a:gridCol w="1488866">
                  <a:extLst>
                    <a:ext uri="{9D8B030D-6E8A-4147-A177-3AD203B41FA5}">
                      <a16:colId xmlns:a16="http://schemas.microsoft.com/office/drawing/2014/main" val="2097360556"/>
                    </a:ext>
                  </a:extLst>
                </a:gridCol>
              </a:tblGrid>
              <a:tr h="3478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Date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Ticker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Variation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0445641"/>
                  </a:ext>
                </a:extLst>
              </a:tr>
              <a:tr h="3478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2020-01-01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BBAS3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-0.124659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630381"/>
                  </a:ext>
                </a:extLst>
              </a:tr>
              <a:tr h="3478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2020-01-01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PETR4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-0.058221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826731"/>
                  </a:ext>
                </a:extLst>
              </a:tr>
              <a:tr h="3478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2020-01-01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VALE3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0.005718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666597"/>
                  </a:ext>
                </a:extLst>
              </a:tr>
              <a:tr h="3478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2020-02-01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BBAS3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-0.171589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8392698"/>
                  </a:ext>
                </a:extLst>
              </a:tr>
              <a:tr h="3478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2020-02-01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PETR4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-0.166729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356201"/>
                  </a:ext>
                </a:extLst>
              </a:tr>
              <a:tr h="3478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2020-02-01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VALE3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0.074701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692712"/>
                  </a:ext>
                </a:extLst>
              </a:tr>
            </a:tbl>
          </a:graphicData>
        </a:graphic>
      </p:graphicFrame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6FF93F37-3555-A521-BEDF-CE5CE870FA48}"/>
              </a:ext>
            </a:extLst>
          </p:cNvPr>
          <p:cNvCxnSpPr/>
          <p:nvPr/>
        </p:nvCxnSpPr>
        <p:spPr>
          <a:xfrm>
            <a:off x="8616280" y="4125813"/>
            <a:ext cx="0" cy="6199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D9B102E8-81B4-D37A-77A6-FF16A374D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437312"/>
              </p:ext>
            </p:extLst>
          </p:nvPr>
        </p:nvGraphicFramePr>
        <p:xfrm>
          <a:off x="6095998" y="4750527"/>
          <a:ext cx="5040563" cy="10081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8143">
                  <a:extLst>
                    <a:ext uri="{9D8B030D-6E8A-4147-A177-3AD203B41FA5}">
                      <a16:colId xmlns:a16="http://schemas.microsoft.com/office/drawing/2014/main" val="3941879268"/>
                    </a:ext>
                  </a:extLst>
                </a:gridCol>
                <a:gridCol w="1212073">
                  <a:extLst>
                    <a:ext uri="{9D8B030D-6E8A-4147-A177-3AD203B41FA5}">
                      <a16:colId xmlns:a16="http://schemas.microsoft.com/office/drawing/2014/main" val="1021447522"/>
                    </a:ext>
                  </a:extLst>
                </a:gridCol>
                <a:gridCol w="1198999">
                  <a:extLst>
                    <a:ext uri="{9D8B030D-6E8A-4147-A177-3AD203B41FA5}">
                      <a16:colId xmlns:a16="http://schemas.microsoft.com/office/drawing/2014/main" val="1343326531"/>
                    </a:ext>
                  </a:extLst>
                </a:gridCol>
                <a:gridCol w="981348">
                  <a:extLst>
                    <a:ext uri="{9D8B030D-6E8A-4147-A177-3AD203B41FA5}">
                      <a16:colId xmlns:a16="http://schemas.microsoft.com/office/drawing/2014/main" val="3640667765"/>
                    </a:ext>
                  </a:extLst>
                </a:gridCol>
              </a:tblGrid>
              <a:tr h="33603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Date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BBAS3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PETR4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VALE3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4627641"/>
                  </a:ext>
                </a:extLst>
              </a:tr>
              <a:tr h="33603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2020-01-01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-0.124659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-0.058221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0.005718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434444"/>
                  </a:ext>
                </a:extLst>
              </a:tr>
              <a:tr h="336037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2020-02-01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-0.171589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-0.166729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pt-BR" sz="100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0.074701</a:t>
                      </a: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406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332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0B3DE-5D35-9FA1-579B-B0BBF5ED7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5BAB62-FC5B-117E-370B-16A22FE4D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Preparação dos dados (2/3)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76A89B28-F666-E784-23A6-8990EF836DAB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A7D5AA-148C-6898-0E87-06222C519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16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3C9DDC6C-362E-B2CF-E530-3D6A7A237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4908111" cy="1085043"/>
          </a:xfrm>
        </p:spPr>
        <p:txBody>
          <a:bodyPr>
            <a:normAutofit/>
          </a:bodyPr>
          <a:lstStyle/>
          <a:p>
            <a:pPr algn="just">
              <a:spcBef>
                <a:spcPts val="1400"/>
              </a:spcBef>
            </a:pPr>
            <a:r>
              <a:rPr lang="pt-BR" sz="2400" dirty="0"/>
              <a:t>Vetor de retornos médios </a:t>
            </a:r>
          </a:p>
          <a:p>
            <a:pPr algn="just">
              <a:spcBef>
                <a:spcPts val="1400"/>
              </a:spcBef>
            </a:pPr>
            <a:r>
              <a:rPr lang="pt-BR" sz="2400" dirty="0"/>
              <a:t>Matriz de covariância</a:t>
            </a:r>
          </a:p>
          <a:p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5377299-2C91-3735-D374-7E9D36D37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833" y="1828450"/>
            <a:ext cx="6582294" cy="108504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EE175DC5-F88C-6342-A92B-9DA58F5BFE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437618"/>
              </p:ext>
            </p:extLst>
          </p:nvPr>
        </p:nvGraphicFramePr>
        <p:xfrm>
          <a:off x="2425641" y="3428999"/>
          <a:ext cx="7340718" cy="30638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3453">
                  <a:extLst>
                    <a:ext uri="{9D8B030D-6E8A-4147-A177-3AD203B41FA5}">
                      <a16:colId xmlns:a16="http://schemas.microsoft.com/office/drawing/2014/main" val="542322399"/>
                    </a:ext>
                  </a:extLst>
                </a:gridCol>
                <a:gridCol w="1223453">
                  <a:extLst>
                    <a:ext uri="{9D8B030D-6E8A-4147-A177-3AD203B41FA5}">
                      <a16:colId xmlns:a16="http://schemas.microsoft.com/office/drawing/2014/main" val="1149210613"/>
                    </a:ext>
                  </a:extLst>
                </a:gridCol>
                <a:gridCol w="1223453">
                  <a:extLst>
                    <a:ext uri="{9D8B030D-6E8A-4147-A177-3AD203B41FA5}">
                      <a16:colId xmlns:a16="http://schemas.microsoft.com/office/drawing/2014/main" val="27708184"/>
                    </a:ext>
                  </a:extLst>
                </a:gridCol>
                <a:gridCol w="1223453">
                  <a:extLst>
                    <a:ext uri="{9D8B030D-6E8A-4147-A177-3AD203B41FA5}">
                      <a16:colId xmlns:a16="http://schemas.microsoft.com/office/drawing/2014/main" val="996458405"/>
                    </a:ext>
                  </a:extLst>
                </a:gridCol>
                <a:gridCol w="1223453">
                  <a:extLst>
                    <a:ext uri="{9D8B030D-6E8A-4147-A177-3AD203B41FA5}">
                      <a16:colId xmlns:a16="http://schemas.microsoft.com/office/drawing/2014/main" val="3076494518"/>
                    </a:ext>
                  </a:extLst>
                </a:gridCol>
                <a:gridCol w="1223453">
                  <a:extLst>
                    <a:ext uri="{9D8B030D-6E8A-4147-A177-3AD203B41FA5}">
                      <a16:colId xmlns:a16="http://schemas.microsoft.com/office/drawing/2014/main" val="2336622735"/>
                    </a:ext>
                  </a:extLst>
                </a:gridCol>
              </a:tblGrid>
              <a:tr h="5106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 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BBAS3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ITUB4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PETR4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VALE3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WEGE3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818795"/>
                  </a:ext>
                </a:extLst>
              </a:tr>
              <a:tr h="5106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BBAS3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0.013312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0.007104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0.008844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0.003650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0.002108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740948"/>
                  </a:ext>
                </a:extLst>
              </a:tr>
              <a:tr h="5106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ITUB4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0.007104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0.007615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0.005863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0.002861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0.001790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753883"/>
                  </a:ext>
                </a:extLst>
              </a:tr>
              <a:tr h="5106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PETR4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0.008844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0.005863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0.013272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0.004799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0.001726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624962"/>
                  </a:ext>
                </a:extLst>
              </a:tr>
              <a:tr h="5106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VALE3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0.003650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0.002861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0.004799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0.009789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0.001222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602962"/>
                  </a:ext>
                </a:extLst>
              </a:tr>
              <a:tr h="5106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WEGE3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0.002108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0.001790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0.001726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>
                          <a:solidFill>
                            <a:schemeClr val="bg1"/>
                          </a:solidFill>
                          <a:effectLst/>
                        </a:rPr>
                        <a:t>0.001222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bg1"/>
                          </a:solidFill>
                          <a:effectLst/>
                        </a:rPr>
                        <a:t>0.007556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+mn-ea"/>
                      </a:endParaRPr>
                    </a:p>
                  </a:txBody>
                  <a:tcPr marL="44450" marR="44450" marT="0" marB="0" anchor="ctr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760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5731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C243E-74B7-3467-7402-CC11D2805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C7127C-17C8-26B3-9583-2B907EBF3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Preparação dos dados (3/3)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34D0337A-1BA2-6622-A6E7-EE2148971D3F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DFCE092-C7A1-1141-2D37-5AB670E6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17</a:t>
            </a:fld>
            <a:endParaRPr lang="pt-BR"/>
          </a:p>
        </p:txBody>
      </p:sp>
      <p:pic>
        <p:nvPicPr>
          <p:cNvPr id="10" name="Imagem 9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B1F1A512-D8F9-B772-1545-0F47C777F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4" y="1951066"/>
            <a:ext cx="10306050" cy="3962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00744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D81A3-6FF1-4355-441A-8BA8F3B49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FA8F7-95DB-A18C-7080-628CD72BB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Formulação multiobjetivo do problema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78D4DBBC-C5C2-61C7-F7DD-DF9CC3732418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F25A63-76E1-0AA4-67B9-27ADC59DD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18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9A385167-68AA-96F8-4E6A-BDE8625EB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7505007" cy="1325563"/>
          </a:xfrm>
        </p:spPr>
        <p:txBody>
          <a:bodyPr>
            <a:noAutofit/>
          </a:bodyPr>
          <a:lstStyle/>
          <a:p>
            <a:pPr algn="just">
              <a:spcBef>
                <a:spcPts val="1400"/>
              </a:spcBef>
            </a:pPr>
            <a:r>
              <a:rPr lang="pt-BR" sz="2400" dirty="0"/>
              <a:t>Maximizar o retorno, usando a média dos retornos</a:t>
            </a:r>
          </a:p>
          <a:p>
            <a:pPr algn="just">
              <a:spcBef>
                <a:spcPts val="1400"/>
              </a:spcBef>
            </a:pPr>
            <a:r>
              <a:rPr lang="pt-BR" sz="2400" dirty="0"/>
              <a:t>Minimizar a variância, usando a matriz de covariância</a:t>
            </a:r>
          </a:p>
          <a:p>
            <a:pPr algn="just">
              <a:spcBef>
                <a:spcPts val="1400"/>
              </a:spcBef>
            </a:pPr>
            <a:r>
              <a:rPr lang="pt-BR" sz="2400" dirty="0"/>
              <a:t>Minimizar o </a:t>
            </a:r>
            <a:r>
              <a:rPr lang="pt-BR" sz="2400" dirty="0" err="1"/>
              <a:t>Conditional</a:t>
            </a:r>
            <a:r>
              <a:rPr lang="pt-BR" sz="2400" dirty="0"/>
              <a:t> </a:t>
            </a:r>
            <a:r>
              <a:rPr lang="pt-BR" sz="2400" dirty="0" err="1"/>
              <a:t>Value</a:t>
            </a:r>
            <a:r>
              <a:rPr lang="pt-BR" sz="2400" dirty="0"/>
              <a:t> </a:t>
            </a:r>
            <a:r>
              <a:rPr lang="pt-BR" sz="2400" dirty="0" err="1"/>
              <a:t>at</a:t>
            </a:r>
            <a:r>
              <a:rPr lang="pt-BR" sz="2400" dirty="0"/>
              <a:t> Risk (</a:t>
            </a:r>
            <a:r>
              <a:rPr lang="pt-BR" sz="2400" dirty="0" err="1"/>
              <a:t>CVaR</a:t>
            </a:r>
            <a:r>
              <a:rPr lang="pt-BR" sz="2400" dirty="0"/>
              <a:t>)</a:t>
            </a:r>
          </a:p>
          <a:p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  <p:pic>
        <p:nvPicPr>
          <p:cNvPr id="7" name="Imagem 6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A1C66A24-F12B-EE62-D0CF-9F40BC6330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873" y="3531872"/>
            <a:ext cx="7883957" cy="266776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17113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0BE20-EF53-383A-702F-42DF3BCFE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14687E-F05A-020D-3C12-FEC3F6EAC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Configuração do R-NSGA-II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86553CFB-08EC-A6DE-29B7-7B6DA9A8B02B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4A89D6-CA0A-13D1-6E90-DA756C92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19</a:t>
            </a:fld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Espaço Reservado para Conteúdo 2">
                <a:extLst>
                  <a:ext uri="{FF2B5EF4-FFF2-40B4-BE49-F238E27FC236}">
                    <a16:creationId xmlns:a16="http://schemas.microsoft.com/office/drawing/2014/main" id="{FA26AAC9-20E1-C45E-B7F3-24ADAB927B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873" y="1828450"/>
                <a:ext cx="10674927" cy="438947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pt-BR" sz="2400" b="1" dirty="0"/>
                  <a:t>Como o algoritmo enxerga uma carteira</a:t>
                </a:r>
                <a:endParaRPr lang="pt-BR" sz="2400" dirty="0"/>
              </a:p>
              <a:p>
                <a:r>
                  <a:rPr lang="pt-BR" sz="2400" dirty="0"/>
                  <a:t>Cada indivíduo representa uma carteira de investimentos</a:t>
                </a:r>
              </a:p>
              <a:p>
                <a:r>
                  <a:rPr lang="pt-BR" sz="2400" dirty="0"/>
                  <a:t>Cada cromossomo corresponde a um ativo da carteira</a:t>
                </a:r>
              </a:p>
              <a:p>
                <a:r>
                  <a:rPr lang="pt-BR" sz="2400" dirty="0"/>
                  <a:t>O valor do gene = peso alocado no ativo</a:t>
                </a:r>
              </a:p>
              <a:p>
                <a:pPr marL="0" indent="0">
                  <a:buNone/>
                </a:pPr>
                <a:endParaRPr lang="pt-BR" sz="2400" b="1" dirty="0"/>
              </a:p>
              <a:p>
                <a:pPr marL="0" indent="0">
                  <a:buNone/>
                </a:pPr>
                <a:r>
                  <a:rPr lang="pt-BR" sz="2400" b="1" dirty="0"/>
                  <a:t>Estrutura genética</a:t>
                </a:r>
              </a:p>
              <a:p>
                <a:r>
                  <a:rPr lang="pt-BR" sz="2400" b="1" dirty="0"/>
                  <a:t>Genótipo: </a:t>
                </a:r>
                <a:r>
                  <a:rPr lang="pt-BR" sz="2400" dirty="0"/>
                  <a:t>vetor </a:t>
                </a:r>
                <a14:m>
                  <m:oMath xmlns:m="http://schemas.openxmlformats.org/officeDocument/2006/math">
                    <m:r>
                      <a:rPr lang="pt-BR" sz="2400"/>
                      <m:t>𝑤</m:t>
                    </m:r>
                    <m:r>
                      <a:rPr lang="pt-BR" sz="2400"/>
                      <m:t>=</m:t>
                    </m:r>
                    <m:d>
                      <m:dPr>
                        <m:sepChr m:val=","/>
                        <m:ctrlPr>
                          <a:rPr lang="ar-AE" sz="2400"/>
                        </m:ctrlPr>
                      </m:dPr>
                      <m:e>
                        <m:sSub>
                          <m:sSubPr>
                            <m:ctrlPr>
                              <a:rPr lang="ar-AE" sz="2400"/>
                            </m:ctrlPr>
                          </m:sSubPr>
                          <m:e>
                            <m:r>
                              <a:rPr lang="ar-AE" sz="2400"/>
                              <m:t>𝑤</m:t>
                            </m:r>
                          </m:e>
                          <m:sub>
                            <m:r>
                              <a:rPr lang="ar-AE" sz="2400"/>
                              <m:t>1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2400"/>
                            </m:ctrlPr>
                          </m:sSubPr>
                          <m:e>
                            <m:r>
                              <a:rPr lang="ar-AE" sz="2400"/>
                              <m:t>𝑤</m:t>
                            </m:r>
                          </m:e>
                          <m:sub>
                            <m:r>
                              <a:rPr lang="ar-AE" sz="2400"/>
                              <m:t>2</m:t>
                            </m:r>
                          </m:sub>
                        </m:sSub>
                      </m:e>
                      <m:e>
                        <m:r>
                          <a:rPr lang="ar-AE" sz="2400"/>
                          <m:t>.</m:t>
                        </m:r>
                      </m:e>
                      <m:e>
                        <m:r>
                          <a:rPr lang="ar-AE" sz="2400"/>
                          <m:t>..</m:t>
                        </m:r>
                        <m:sSub>
                          <m:sSubPr>
                            <m:ctrlPr>
                              <a:rPr lang="ar-AE" sz="2400"/>
                            </m:ctrlPr>
                          </m:sSubPr>
                          <m:e>
                            <m:r>
                              <a:rPr lang="ar-AE" sz="2400"/>
                              <m:t>𝑤</m:t>
                            </m:r>
                          </m:e>
                          <m:sub>
                            <m:r>
                              <a:rPr lang="ar-AE" sz="2400"/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ar-AE" sz="2400" dirty="0"/>
              </a:p>
              <a:p>
                <a:r>
                  <a:rPr lang="pt-BR" sz="2400" b="1" dirty="0"/>
                  <a:t>Fenótipo: </a:t>
                </a:r>
                <a:r>
                  <a:rPr lang="pt-BR" sz="2400" dirty="0"/>
                  <a:t>composição real da carteira (percentuais)</a:t>
                </a:r>
              </a:p>
              <a:p>
                <a:pPr marL="0" indent="0">
                  <a:buNone/>
                </a:pPr>
                <a:endParaRPr lang="pt-BR" sz="2400" b="1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  <a:p>
                <a:pPr algn="just">
                  <a:spcBef>
                    <a:spcPts val="1400"/>
                  </a:spcBef>
                </a:pPr>
                <a:endParaRPr lang="pt-BR" sz="2400" dirty="0">
                  <a:highlight>
                    <a:srgbClr val="FFFF00"/>
                  </a:highlight>
                </a:endParaRPr>
              </a:p>
            </p:txBody>
          </p:sp>
        </mc:Choice>
        <mc:Fallback>
          <p:sp>
            <p:nvSpPr>
              <p:cNvPr id="12" name="Espaço Reservado para Conteúdo 2">
                <a:extLst>
                  <a:ext uri="{FF2B5EF4-FFF2-40B4-BE49-F238E27FC236}">
                    <a16:creationId xmlns:a16="http://schemas.microsoft.com/office/drawing/2014/main" id="{FA26AAC9-20E1-C45E-B7F3-24ADAB927B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873" y="1828450"/>
                <a:ext cx="10674927" cy="4389470"/>
              </a:xfrm>
              <a:blipFill>
                <a:blip r:embed="rId2"/>
                <a:stretch>
                  <a:fillRect l="-856" t="-19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845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F551C-17AE-D201-6AB3-1C29C63A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E9C595-C60D-D22F-CAEA-75DCB96F7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Configuração do R-NSGA-II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ED51AEF2-FD2A-9D68-96EB-C51FA6189880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C1C3FF-5E5F-429F-61D0-DEAB26FFC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20</a:t>
            </a:fld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Espaço Reservado para Conteúdo 2">
                <a:extLst>
                  <a:ext uri="{FF2B5EF4-FFF2-40B4-BE49-F238E27FC236}">
                    <a16:creationId xmlns:a16="http://schemas.microsoft.com/office/drawing/2014/main" id="{43EFDE6A-A55F-D930-C476-B7028CAA79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873" y="1828450"/>
                <a:ext cx="10760271" cy="484667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pt-BR" sz="2400" b="1" dirty="0"/>
                  <a:t>Restrições fundamentais</a:t>
                </a:r>
                <a:endParaRPr lang="pt-BR" sz="2400" dirty="0"/>
              </a:p>
              <a:p>
                <a:r>
                  <a:rPr lang="pt-BR" sz="2200" b="1" dirty="0"/>
                  <a:t>Não-negatividade:</a:t>
                </a:r>
                <a:r>
                  <a:rPr lang="pt-BR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sz="2200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sz="22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2200" dirty="0"/>
              </a:p>
              <a:p>
                <a:r>
                  <a:rPr lang="pt-BR" sz="2200" b="1" dirty="0"/>
                  <a:t>Soma unitária:</a:t>
                </a:r>
                <a:r>
                  <a:rPr lang="pt-BR" sz="22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grow m:val="on"/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sz="2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2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ar-A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ar-AE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ar-AE" sz="22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2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2200" dirty="0"/>
              </a:p>
              <a:p>
                <a:r>
                  <a:rPr lang="pt-BR" sz="2200" b="1" dirty="0"/>
                  <a:t>Limites por ativo:</a:t>
                </a:r>
                <a:r>
                  <a:rPr lang="pt-BR" sz="2200" dirty="0"/>
                  <a:t> </a:t>
                </a:r>
                <a14:m>
                  <m:oMath xmlns:m="http://schemas.openxmlformats.org/officeDocument/2006/math">
                    <m:r>
                      <a:rPr lang="pt-BR" sz="220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sz="220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200">
                        <a:latin typeface="Cambria Math" panose="02040503050406030204" pitchFamily="18" charset="0"/>
                      </a:rPr>
                      <m:t>01</m:t>
                    </m:r>
                    <m:r>
                      <a:rPr lang="pt-BR" sz="220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ar-AE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sz="22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22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200">
                        <a:latin typeface="Cambria Math" panose="02040503050406030204" pitchFamily="18" charset="0"/>
                      </a:rPr>
                      <m:t>,</m:t>
                    </m:r>
                    <m:r>
                      <a:rPr lang="ar-AE" sz="220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pt-BR" sz="2200" dirty="0"/>
                  <a:t> (peso mínimo 1% e máximo 30%)</a:t>
                </a:r>
              </a:p>
              <a:p>
                <a:r>
                  <a:rPr lang="pt-BR" sz="2200" b="1" dirty="0"/>
                  <a:t>Cardinalidade:</a:t>
                </a:r>
                <a:r>
                  <a:rPr lang="pt-BR" sz="2200" dirty="0"/>
                  <a:t> máximo de K ativos simultâneos (ativos além de K recebem peso zero)</a:t>
                </a:r>
              </a:p>
              <a:p>
                <a:pPr marL="0" indent="0">
                  <a:buNone/>
                </a:pPr>
                <a:endParaRPr lang="pt-BR" sz="2400" b="1" dirty="0"/>
              </a:p>
              <a:p>
                <a:pPr marL="0" indent="0">
                  <a:buNone/>
                </a:pPr>
                <a:r>
                  <a:rPr lang="pt-BR" sz="2400" b="1" dirty="0"/>
                  <a:t>Pontos de referência:</a:t>
                </a:r>
              </a:p>
              <a:p>
                <a:pPr marL="0" indent="0">
                  <a:buNone/>
                </a:pPr>
                <a:endParaRPr lang="pt-BR" sz="2400" b="1" dirty="0"/>
              </a:p>
              <a:p>
                <a:pPr marL="0" indent="0">
                  <a:buNone/>
                </a:pPr>
                <a:endParaRPr lang="pt-BR" sz="2400" b="1" dirty="0"/>
              </a:p>
              <a:p>
                <a:pPr marL="0" indent="0">
                  <a:buNone/>
                </a:pPr>
                <a:endParaRPr lang="pt-BR" sz="2400" dirty="0"/>
              </a:p>
              <a:p>
                <a:endParaRPr lang="pt-BR" sz="2400" dirty="0"/>
              </a:p>
              <a:p>
                <a:pPr algn="just">
                  <a:spcBef>
                    <a:spcPts val="1400"/>
                  </a:spcBef>
                </a:pPr>
                <a:endParaRPr lang="pt-BR" sz="2400" dirty="0">
                  <a:highlight>
                    <a:srgbClr val="FFFF00"/>
                  </a:highlight>
                </a:endParaRPr>
              </a:p>
            </p:txBody>
          </p:sp>
        </mc:Choice>
        <mc:Fallback>
          <p:sp>
            <p:nvSpPr>
              <p:cNvPr id="12" name="Espaço Reservado para Conteúdo 2">
                <a:extLst>
                  <a:ext uri="{FF2B5EF4-FFF2-40B4-BE49-F238E27FC236}">
                    <a16:creationId xmlns:a16="http://schemas.microsoft.com/office/drawing/2014/main" id="{43EFDE6A-A55F-D930-C476-B7028CAA79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873" y="1828450"/>
                <a:ext cx="10760271" cy="4846670"/>
              </a:xfrm>
              <a:blipFill>
                <a:blip r:embed="rId2"/>
                <a:stretch>
                  <a:fillRect l="-849" t="-17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Espaço Reservado para Conteúdo 6">
            <a:extLst>
              <a:ext uri="{FF2B5EF4-FFF2-40B4-BE49-F238E27FC236}">
                <a16:creationId xmlns:a16="http://schemas.microsoft.com/office/drawing/2014/main" id="{94B56599-4A78-8BFB-0582-3D39497C2C3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9375953"/>
              </p:ext>
            </p:extLst>
          </p:nvPr>
        </p:nvGraphicFramePr>
        <p:xfrm>
          <a:off x="678873" y="4985574"/>
          <a:ext cx="6426014" cy="1323788"/>
        </p:xfrm>
        <a:graphic>
          <a:graphicData uri="http://schemas.openxmlformats.org/drawingml/2006/table">
            <a:tbl>
              <a:tblPr/>
              <a:tblGrid>
                <a:gridCol w="2879981">
                  <a:extLst>
                    <a:ext uri="{9D8B030D-6E8A-4147-A177-3AD203B41FA5}">
                      <a16:colId xmlns:a16="http://schemas.microsoft.com/office/drawing/2014/main" val="1454335986"/>
                    </a:ext>
                  </a:extLst>
                </a:gridCol>
                <a:gridCol w="1182011">
                  <a:extLst>
                    <a:ext uri="{9D8B030D-6E8A-4147-A177-3AD203B41FA5}">
                      <a16:colId xmlns:a16="http://schemas.microsoft.com/office/drawing/2014/main" val="1350493204"/>
                    </a:ext>
                  </a:extLst>
                </a:gridCol>
                <a:gridCol w="1182011">
                  <a:extLst>
                    <a:ext uri="{9D8B030D-6E8A-4147-A177-3AD203B41FA5}">
                      <a16:colId xmlns:a16="http://schemas.microsoft.com/office/drawing/2014/main" val="703036484"/>
                    </a:ext>
                  </a:extLst>
                </a:gridCol>
                <a:gridCol w="1182011">
                  <a:extLst>
                    <a:ext uri="{9D8B030D-6E8A-4147-A177-3AD203B41FA5}">
                      <a16:colId xmlns:a16="http://schemas.microsoft.com/office/drawing/2014/main" val="2397357105"/>
                    </a:ext>
                  </a:extLst>
                </a:gridCol>
              </a:tblGrid>
              <a:tr h="330947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Perfil de risco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Retorno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Variância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CVaR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3909798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Conservador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0.3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0747773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Moderado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0.2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0.2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0.2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3153163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Arrojado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0.05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0.25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ctr" latinLnBrk="0" hangingPunct="1">
                        <a:buNone/>
                      </a:pPr>
                      <a:r>
                        <a:rPr lang="pt-BR" sz="1000" b="0" i="0" u="none" strike="noStrike" kern="1200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0.25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44450" marR="44450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4795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68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7A802-2C5E-3927-4738-7F6D6070F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535991-0C14-8E9C-DF83-65C07E4EB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Cruzamento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4CC125BF-AB6A-EE64-D352-B9FC1ADA9FCA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0D0975-8E6C-3E08-231B-AE35904A6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21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72786E5B-A1F6-9F78-3EEC-419FED7EB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10674927" cy="22542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1800" dirty="0"/>
              <a:t>Combina duas carteiras (pais) gerando novas alocações válidas e diversificadas. Usando SBX adaptado ao simplex</a:t>
            </a:r>
          </a:p>
          <a:p>
            <a:pPr marL="0" indent="0">
              <a:buNone/>
            </a:pPr>
            <a:r>
              <a:rPr lang="pt-BR" sz="1800" dirty="0"/>
              <a:t>Gera </a:t>
            </a:r>
            <a:r>
              <a:rPr lang="pt-BR" sz="1800" b="1" dirty="0"/>
              <a:t>β</a:t>
            </a:r>
            <a:r>
              <a:rPr lang="pt-BR" sz="1800" dirty="0"/>
              <a:t> a partir de u ∈ [0,1]; comportamento do β:</a:t>
            </a:r>
          </a:p>
          <a:p>
            <a:r>
              <a:rPr lang="pt-BR" sz="1800" b="1" dirty="0"/>
              <a:t>β &lt; 1 </a:t>
            </a:r>
            <a:r>
              <a:rPr lang="pt-BR" sz="1800" dirty="0"/>
              <a:t>→ filhos entre os pais (interpolação)</a:t>
            </a:r>
          </a:p>
          <a:p>
            <a:r>
              <a:rPr lang="pt-BR" sz="1800" b="1" dirty="0"/>
              <a:t>β ≈ 1 </a:t>
            </a:r>
            <a:r>
              <a:rPr lang="pt-BR" sz="1800" dirty="0"/>
              <a:t>→ filhos muito semelhantes aos pais</a:t>
            </a:r>
          </a:p>
          <a:p>
            <a:r>
              <a:rPr lang="pt-BR" sz="1800" b="1" dirty="0"/>
              <a:t>β &gt; 1 </a:t>
            </a:r>
            <a:r>
              <a:rPr lang="pt-BR" sz="1800" dirty="0"/>
              <a:t>→ filhos podem extrapolar (ficam além dos pais para alguns genes)</a:t>
            </a:r>
          </a:p>
          <a:p>
            <a:pPr marL="0" indent="0">
              <a:buNone/>
            </a:pPr>
            <a:r>
              <a:rPr lang="pt-BR" sz="1800" dirty="0"/>
              <a:t>Exemplo de um crossover de dois pais com β=1,11:</a:t>
            </a: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CFE6B3AA-FFED-63CB-0174-7C2C70E08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68929"/>
              </p:ext>
            </p:extLst>
          </p:nvPr>
        </p:nvGraphicFramePr>
        <p:xfrm>
          <a:off x="1642935" y="4206240"/>
          <a:ext cx="8906130" cy="2423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0880">
                  <a:extLst>
                    <a:ext uri="{9D8B030D-6E8A-4147-A177-3AD203B41FA5}">
                      <a16:colId xmlns:a16="http://schemas.microsoft.com/office/drawing/2014/main" val="2244813518"/>
                    </a:ext>
                  </a:extLst>
                </a:gridCol>
                <a:gridCol w="1197050">
                  <a:extLst>
                    <a:ext uri="{9D8B030D-6E8A-4147-A177-3AD203B41FA5}">
                      <a16:colId xmlns:a16="http://schemas.microsoft.com/office/drawing/2014/main" val="2892026149"/>
                    </a:ext>
                  </a:extLst>
                </a:gridCol>
                <a:gridCol w="1197050">
                  <a:extLst>
                    <a:ext uri="{9D8B030D-6E8A-4147-A177-3AD203B41FA5}">
                      <a16:colId xmlns:a16="http://schemas.microsoft.com/office/drawing/2014/main" val="436284637"/>
                    </a:ext>
                  </a:extLst>
                </a:gridCol>
                <a:gridCol w="1197050">
                  <a:extLst>
                    <a:ext uri="{9D8B030D-6E8A-4147-A177-3AD203B41FA5}">
                      <a16:colId xmlns:a16="http://schemas.microsoft.com/office/drawing/2014/main" val="1225211418"/>
                    </a:ext>
                  </a:extLst>
                </a:gridCol>
                <a:gridCol w="1197050">
                  <a:extLst>
                    <a:ext uri="{9D8B030D-6E8A-4147-A177-3AD203B41FA5}">
                      <a16:colId xmlns:a16="http://schemas.microsoft.com/office/drawing/2014/main" val="2522023388"/>
                    </a:ext>
                  </a:extLst>
                </a:gridCol>
                <a:gridCol w="1197050">
                  <a:extLst>
                    <a:ext uri="{9D8B030D-6E8A-4147-A177-3AD203B41FA5}">
                      <a16:colId xmlns:a16="http://schemas.microsoft.com/office/drawing/2014/main" val="2906090435"/>
                    </a:ext>
                  </a:extLst>
                </a:gridCol>
              </a:tblGrid>
              <a:tr h="3462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Individuo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BBAS3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PETR4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VALE3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ITUB4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WEGE3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836050"/>
                  </a:ext>
                </a:extLst>
              </a:tr>
              <a:tr h="3462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Pai 1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0.352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0.015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0.456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0.000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0.176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540989"/>
                  </a:ext>
                </a:extLst>
              </a:tr>
              <a:tr h="3462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Pai 2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0.260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0.000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0.083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0.326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0.330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171244"/>
                  </a:ext>
                </a:extLst>
              </a:tr>
              <a:tr h="3462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Filho 1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0.357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0.016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0.477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-0.018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0.167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701437"/>
                  </a:ext>
                </a:extLst>
              </a:tr>
              <a:tr h="3462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Filho 2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0.255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-0.001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0.062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0.344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0.339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979177"/>
                  </a:ext>
                </a:extLst>
              </a:tr>
              <a:tr h="3462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Filho 1 Normalizado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0,384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0.020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0.384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0.000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0.210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319947"/>
                  </a:ext>
                </a:extLst>
              </a:tr>
              <a:tr h="3462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Filho 2 Normalizado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0.278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0.000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0.067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>
                          <a:solidFill>
                            <a:schemeClr val="bg1"/>
                          </a:solidFill>
                          <a:effectLst/>
                        </a:rPr>
                        <a:t>0.327</a:t>
                      </a:r>
                      <a:endParaRPr lang="pt-BR" sz="110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000" dirty="0">
                          <a:solidFill>
                            <a:schemeClr val="bg1"/>
                          </a:solidFill>
                          <a:effectLst/>
                        </a:rPr>
                        <a:t>0.327</a:t>
                      </a:r>
                      <a:endParaRPr lang="pt-BR" sz="1100" dirty="0">
                        <a:solidFill>
                          <a:schemeClr val="bg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135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639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AA76E-B254-08F5-4493-78DD1EF24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2B3CFE-E757-C8D1-8B9E-7268438B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Mutação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6FD705C7-63E9-0DAD-AE53-1E6F2D324C9B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DF277FD-CF96-FEB3-A63F-E7FB38A9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22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954A9358-7874-B5D8-4F47-C6BE6D497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49"/>
            <a:ext cx="10674927" cy="46644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400" b="1" dirty="0"/>
              <a:t>Transferência de Peso </a:t>
            </a:r>
          </a:p>
          <a:p>
            <a:r>
              <a:rPr lang="pt-BR" sz="2200" b="1" dirty="0"/>
              <a:t> </a:t>
            </a:r>
            <a:r>
              <a:rPr lang="pt-BR" sz="2200" dirty="0"/>
              <a:t>Usada quando K ainda não foi atingido, ou com </a:t>
            </a:r>
            <a:r>
              <a:rPr lang="pt-BR" sz="2200" b="1" dirty="0"/>
              <a:t>70%</a:t>
            </a:r>
            <a:r>
              <a:rPr lang="pt-BR" sz="2200" dirty="0"/>
              <a:t> de probabilidade quando K está cheio</a:t>
            </a:r>
          </a:p>
          <a:p>
            <a:r>
              <a:rPr lang="pt-BR" sz="2200" dirty="0"/>
              <a:t>Seleciona </a:t>
            </a:r>
            <a:r>
              <a:rPr lang="pt-BR" sz="2200" b="1" dirty="0"/>
              <a:t>dois ativos</a:t>
            </a:r>
            <a:r>
              <a:rPr lang="pt-BR" sz="2200" dirty="0"/>
              <a:t> com peso positivo.</a:t>
            </a:r>
          </a:p>
          <a:p>
            <a:r>
              <a:rPr lang="it-IT" sz="2200" dirty="0"/>
              <a:t>Calcula </a:t>
            </a:r>
            <a:r>
              <a:rPr lang="it-IT" sz="2200" b="1" dirty="0"/>
              <a:t>delta</a:t>
            </a:r>
            <a:r>
              <a:rPr lang="it-IT" sz="2200" dirty="0"/>
              <a:t> via polynomial mutation.</a:t>
            </a:r>
          </a:p>
          <a:p>
            <a:r>
              <a:rPr lang="pt-BR" sz="2200" dirty="0"/>
              <a:t>Transfere parte do peso do ativo 1 para o ativo 2.</a:t>
            </a:r>
            <a:endParaRPr lang="pt-BR" sz="2200" b="1" dirty="0"/>
          </a:p>
          <a:p>
            <a:endParaRPr lang="pt-BR" sz="2200" b="1" dirty="0"/>
          </a:p>
          <a:p>
            <a:pPr marL="0" indent="0">
              <a:buNone/>
            </a:pPr>
            <a:r>
              <a:rPr lang="pt-BR" sz="2400" b="1" dirty="0"/>
              <a:t>Exemplo:</a:t>
            </a:r>
          </a:p>
          <a:p>
            <a:pPr marL="0" indent="0">
              <a:buNone/>
            </a:pPr>
            <a:r>
              <a:rPr lang="pt-BR" sz="2200" dirty="0"/>
              <a:t>BBAS3 = 0.50 → 0.47</a:t>
            </a:r>
          </a:p>
          <a:p>
            <a:pPr marL="0" indent="0">
              <a:buNone/>
            </a:pPr>
            <a:r>
              <a:rPr lang="pt-BR" sz="2200" dirty="0"/>
              <a:t>VALE3 = 0.20 → 0.23</a:t>
            </a:r>
          </a:p>
          <a:p>
            <a:pPr marL="0" indent="0">
              <a:buNone/>
            </a:pPr>
            <a:r>
              <a:rPr lang="pt-BR" sz="2200" dirty="0"/>
              <a:t>PETR4 permanece = 0.30</a:t>
            </a:r>
          </a:p>
        </p:txBody>
      </p:sp>
    </p:spTree>
    <p:extLst>
      <p:ext uri="{BB962C8B-B14F-4D97-AF65-F5344CB8AC3E}">
        <p14:creationId xmlns:p14="http://schemas.microsoft.com/office/powerpoint/2010/main" val="125094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0BD33-A8A3-712B-BBD1-94DADCD5C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28C4CD-E27C-975F-9ABB-2249F2587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Mutação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547480BE-1708-E4ED-0B23-270D832776A6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69CB8F-F6F8-DDD4-5F99-1F1F8A787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23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B9C0086F-660C-2FC3-5EFC-58EB7188B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10674927" cy="478266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400" b="1" dirty="0"/>
              <a:t>Substituição de Ativo</a:t>
            </a:r>
          </a:p>
          <a:p>
            <a:r>
              <a:rPr lang="pt-BR" sz="2200" dirty="0"/>
              <a:t>Acontece com </a:t>
            </a:r>
            <a:r>
              <a:rPr lang="pt-BR" sz="2200" b="1" dirty="0"/>
              <a:t>30%</a:t>
            </a:r>
            <a:r>
              <a:rPr lang="pt-BR" sz="2200" dirty="0"/>
              <a:t> de probabilidade quando a cardinalidade já atingiu K.</a:t>
            </a:r>
          </a:p>
          <a:p>
            <a:r>
              <a:rPr lang="pt-BR" sz="2200" dirty="0"/>
              <a:t>Identifica o ativo </a:t>
            </a:r>
            <a:r>
              <a:rPr lang="pt-BR" sz="2200" b="1" dirty="0"/>
              <a:t>com menor peso positivo</a:t>
            </a:r>
            <a:r>
              <a:rPr lang="pt-BR" sz="2200" dirty="0"/>
              <a:t>.</a:t>
            </a:r>
          </a:p>
          <a:p>
            <a:r>
              <a:rPr lang="pt-BR" sz="2200" dirty="0"/>
              <a:t>Escolhe um ativo </a:t>
            </a:r>
            <a:r>
              <a:rPr lang="pt-BR" sz="2200" b="1" dirty="0"/>
              <a:t>inativo (peso 0)</a:t>
            </a:r>
            <a:r>
              <a:rPr lang="pt-BR" sz="2200" dirty="0"/>
              <a:t>.</a:t>
            </a:r>
          </a:p>
          <a:p>
            <a:r>
              <a:rPr lang="pt-BR" sz="2200" dirty="0"/>
              <a:t>Transfere </a:t>
            </a:r>
            <a:r>
              <a:rPr lang="pt-BR" sz="2200" b="1" dirty="0"/>
              <a:t>todo o peso</a:t>
            </a:r>
            <a:r>
              <a:rPr lang="pt-BR" sz="2200" dirty="0"/>
              <a:t> do ativo removido para o ativo novo.</a:t>
            </a:r>
          </a:p>
          <a:p>
            <a:pPr marL="0" indent="0">
              <a:buNone/>
            </a:pPr>
            <a:endParaRPr lang="pt-BR" sz="2200" b="1" dirty="0"/>
          </a:p>
          <a:p>
            <a:pPr marL="0" indent="0">
              <a:buNone/>
            </a:pPr>
            <a:r>
              <a:rPr lang="pt-BR" sz="2400" b="1" dirty="0"/>
              <a:t>Exemplo:</a:t>
            </a:r>
          </a:p>
          <a:p>
            <a:pPr marL="0" indent="0">
              <a:buNone/>
            </a:pPr>
            <a:r>
              <a:rPr lang="pt-BR" sz="2200" dirty="0"/>
              <a:t>BBAS3 = 0.55 → 0.55</a:t>
            </a:r>
          </a:p>
          <a:p>
            <a:pPr marL="0" indent="0">
              <a:buNone/>
            </a:pPr>
            <a:r>
              <a:rPr lang="pt-BR" sz="2200" dirty="0"/>
              <a:t>PETR4 = 0.35 → 0.35</a:t>
            </a:r>
          </a:p>
          <a:p>
            <a:pPr marL="0" indent="0">
              <a:buNone/>
            </a:pPr>
            <a:r>
              <a:rPr lang="pt-BR" sz="2200" dirty="0"/>
              <a:t>VALE3 = 0.10 → </a:t>
            </a:r>
            <a:r>
              <a:rPr lang="pt-BR" sz="2200" b="1" dirty="0"/>
              <a:t>0.00</a:t>
            </a:r>
          </a:p>
          <a:p>
            <a:pPr marL="0" indent="0">
              <a:buNone/>
            </a:pPr>
            <a:r>
              <a:rPr lang="pt-BR" sz="2200" dirty="0"/>
              <a:t>ITUB4 = 0.00 → </a:t>
            </a:r>
            <a:r>
              <a:rPr lang="pt-BR" sz="2200" b="1" dirty="0"/>
              <a:t>0.10</a:t>
            </a:r>
          </a:p>
        </p:txBody>
      </p:sp>
    </p:spTree>
    <p:extLst>
      <p:ext uri="{BB962C8B-B14F-4D97-AF65-F5344CB8AC3E}">
        <p14:creationId xmlns:p14="http://schemas.microsoft.com/office/powerpoint/2010/main" val="473457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2DAEE-A186-6442-1B01-E973BBCC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1B0037-A0C3-5951-2425-4EE5C9CD1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Definição dos </a:t>
            </a:r>
            <a:r>
              <a:rPr lang="pt-BR" sz="3600" dirty="0" err="1">
                <a:solidFill>
                  <a:schemeClr val="bg1">
                    <a:lumMod val="50000"/>
                  </a:schemeClr>
                </a:solidFill>
              </a:rPr>
              <a:t>hiperparâmetros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26BBAFA2-16AE-1B06-DFE7-FA85D3F8E88B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C974530-9199-9769-4DDB-3166698F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24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8DEB47BF-2AAA-2D2F-C5F4-1020ED1BF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10449375" cy="4389470"/>
          </a:xfrm>
        </p:spPr>
        <p:txBody>
          <a:bodyPr>
            <a:noAutofit/>
          </a:bodyPr>
          <a:lstStyle/>
          <a:p>
            <a:pPr algn="just">
              <a:spcBef>
                <a:spcPts val="1400"/>
              </a:spcBef>
            </a:pPr>
            <a:r>
              <a:rPr lang="pt-BR" sz="1800" dirty="0"/>
              <a:t>Combinação de tamanho populacional e número de gerações para determinados números de ativos</a:t>
            </a:r>
          </a:p>
          <a:p>
            <a:pPr algn="just">
              <a:spcBef>
                <a:spcPts val="1400"/>
              </a:spcBef>
            </a:pPr>
            <a:r>
              <a:rPr lang="pt-BR" sz="1800" dirty="0" err="1"/>
              <a:t>Hypervolume</a:t>
            </a:r>
            <a:r>
              <a:rPr lang="pt-BR" sz="1800" dirty="0"/>
              <a:t> e spread como métricas</a:t>
            </a:r>
            <a:endParaRPr lang="pt-BR" sz="1800" b="1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  <p:pic>
        <p:nvPicPr>
          <p:cNvPr id="3" name="Imagem 2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9EFBB406-E0AC-C688-D0DC-76A4A2E5E2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812" y="2843784"/>
            <a:ext cx="7057496" cy="364909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836443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F45DA-AE46-A760-A7D4-855D2121C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AECF6D-575A-8691-D8FE-2B901D084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Resultados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DC3D8DD2-FAFA-6251-B58A-93BB64F71EBA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940B26-FE88-E9D7-F975-EC8DDF1F7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25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35BA47C2-3DA2-A9A0-2D68-853198E5E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10449375" cy="4389470"/>
          </a:xfrm>
        </p:spPr>
        <p:txBody>
          <a:bodyPr>
            <a:noAutofit/>
          </a:bodyPr>
          <a:lstStyle/>
          <a:p>
            <a:pPr algn="just">
              <a:spcBef>
                <a:spcPts val="1400"/>
              </a:spcBef>
            </a:pPr>
            <a:r>
              <a:rPr lang="pt-BR" sz="1800" dirty="0"/>
              <a:t>Fronteiras eficientes da última geração</a:t>
            </a:r>
          </a:p>
          <a:p>
            <a:pPr algn="just">
              <a:spcBef>
                <a:spcPts val="1400"/>
              </a:spcBef>
            </a:pPr>
            <a:r>
              <a:rPr lang="pt-BR" sz="1800" dirty="0"/>
              <a:t>Diferença clara entre perfis de risco (conservador, moderado e arrojado)</a:t>
            </a:r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3954624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541F7-3079-C4E9-F18F-C634BB303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45A77728-9DF2-3AA4-BB1C-6A14CAC19432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7721C8-B326-84FF-9E53-328290F17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26</a:t>
            </a:fld>
            <a:endParaRPr lang="pt-BR"/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C69AB183-D240-F0EC-82EE-94017EA179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537275"/>
              </p:ext>
            </p:extLst>
          </p:nvPr>
        </p:nvGraphicFramePr>
        <p:xfrm>
          <a:off x="2561879" y="620688"/>
          <a:ext cx="7200800" cy="561662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663932">
                  <a:extLst>
                    <a:ext uri="{9D8B030D-6E8A-4147-A177-3AD203B41FA5}">
                      <a16:colId xmlns:a16="http://schemas.microsoft.com/office/drawing/2014/main" val="4292970668"/>
                    </a:ext>
                  </a:extLst>
                </a:gridCol>
                <a:gridCol w="3536868">
                  <a:extLst>
                    <a:ext uri="{9D8B030D-6E8A-4147-A177-3AD203B41FA5}">
                      <a16:colId xmlns:a16="http://schemas.microsoft.com/office/drawing/2014/main" val="136555977"/>
                    </a:ext>
                  </a:extLst>
                </a:gridCol>
              </a:tblGrid>
              <a:tr h="247616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pt-BR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pt-BR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2903248"/>
                  </a:ext>
                </a:extLst>
              </a:tr>
              <a:tr h="2319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tx1"/>
                          </a:solidFill>
                          <a:effectLst/>
                        </a:rPr>
                        <a:t>Perfil moderado</a:t>
                      </a:r>
                      <a:endParaRPr lang="pt-BR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effectLst/>
                        </a:rPr>
                        <a:t>Perfil arrojado</a:t>
                      </a:r>
                      <a:endParaRPr lang="pt-BR" sz="12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942118"/>
                  </a:ext>
                </a:extLst>
              </a:tr>
              <a:tr h="267650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pt-BR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pt-BR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673938"/>
                  </a:ext>
                </a:extLst>
              </a:tr>
              <a:tr h="23197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dirty="0">
                          <a:solidFill>
                            <a:schemeClr val="tx1"/>
                          </a:solidFill>
                          <a:effectLst/>
                        </a:rPr>
                        <a:t>Perfil conservador</a:t>
                      </a:r>
                      <a:endParaRPr lang="pt-BR" sz="12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100" b="1" dirty="0">
                          <a:solidFill>
                            <a:schemeClr val="tx1"/>
                          </a:solidFill>
                          <a:effectLst/>
                        </a:rPr>
                        <a:t>Perfil moderado (ampliado)</a:t>
                      </a:r>
                      <a:endParaRPr lang="pt-BR" sz="12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364927"/>
                  </a:ext>
                </a:extLst>
              </a:tr>
            </a:tbl>
          </a:graphicData>
        </a:graphic>
      </p:graphicFrame>
      <p:pic>
        <p:nvPicPr>
          <p:cNvPr id="8" name="Imagem 11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AB0D28D0-F50C-B386-FF1F-5096711DB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4801" y="652400"/>
            <a:ext cx="3040615" cy="2391950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D1B00183-16F2-6096-BBAC-FEB45FF37D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327" y="696032"/>
            <a:ext cx="2835541" cy="2304687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  <p:pic>
        <p:nvPicPr>
          <p:cNvPr id="10" name="Imagem 10">
            <a:extLst>
              <a:ext uri="{FF2B5EF4-FFF2-40B4-BE49-F238E27FC236}">
                <a16:creationId xmlns:a16="http://schemas.microsoft.com/office/drawing/2014/main" id="{7B373F65-9E57-8795-474D-FA5F71036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9911" y="3388737"/>
            <a:ext cx="3145505" cy="2578504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  <p:pic>
        <p:nvPicPr>
          <p:cNvPr id="11" name="Imagem 9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A429442B-7714-A732-9DCC-43B14D045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7536" y="3388737"/>
            <a:ext cx="3129122" cy="2578504"/>
          </a:xfrm>
          <a:prstGeom prst="rect">
            <a:avLst/>
          </a:prstGeom>
          <a:solidFill>
            <a:schemeClr val="bg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5889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0E78F-439D-260A-2862-5EEEB17A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D90C44-8F5B-446D-0894-6A0CD99EB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>
                <a:solidFill>
                  <a:schemeClr val="bg1">
                    <a:lumMod val="50000"/>
                  </a:schemeClr>
                </a:solidFill>
              </a:rPr>
              <a:t>Resultados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BD692AB2-5FE4-1268-6E5D-ADEDFD702E54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3FC35B5-DFE3-9BE6-DA27-ABB79AC66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27</a:t>
            </a:fld>
            <a:endParaRPr lang="pt-BR"/>
          </a:p>
        </p:txBody>
      </p:sp>
      <p:sp>
        <p:nvSpPr>
          <p:cNvPr id="12" name="Espaço Reservado para Conteúdo 2">
            <a:extLst>
              <a:ext uri="{FF2B5EF4-FFF2-40B4-BE49-F238E27FC236}">
                <a16:creationId xmlns:a16="http://schemas.microsoft.com/office/drawing/2014/main" id="{DEF64DB9-58EF-9153-C0F8-7A419BBF5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3" y="1828450"/>
            <a:ext cx="4560639" cy="1893158"/>
          </a:xfrm>
        </p:spPr>
        <p:txBody>
          <a:bodyPr>
            <a:noAutofit/>
          </a:bodyPr>
          <a:lstStyle/>
          <a:p>
            <a:pPr algn="just">
              <a:spcBef>
                <a:spcPts val="1400"/>
              </a:spcBef>
            </a:pPr>
            <a:r>
              <a:rPr lang="pt-BR" sz="1800" dirty="0"/>
              <a:t>Escolha da melhor carteira com base no ASF</a:t>
            </a:r>
          </a:p>
          <a:p>
            <a:pPr algn="just">
              <a:spcBef>
                <a:spcPts val="1400"/>
              </a:spcBef>
            </a:pPr>
            <a:r>
              <a:rPr lang="pt-BR" sz="1800" dirty="0"/>
              <a:t>Quanto mais perto do </a:t>
            </a:r>
            <a:r>
              <a:rPr lang="pt-BR" sz="1800" i="1" dirty="0" err="1"/>
              <a:t>reference</a:t>
            </a:r>
            <a:r>
              <a:rPr lang="pt-BR" sz="1800" i="1" dirty="0"/>
              <a:t> point</a:t>
            </a:r>
            <a:r>
              <a:rPr lang="pt-BR" sz="1800" dirty="0"/>
              <a:t>, mais próximo da escolha ideal pro perfil de rico</a:t>
            </a:r>
          </a:p>
          <a:p>
            <a:pPr algn="just">
              <a:spcBef>
                <a:spcPts val="1400"/>
              </a:spcBef>
            </a:pPr>
            <a:r>
              <a:rPr lang="pt-BR" sz="1800" i="1" dirty="0" err="1"/>
              <a:t>refence</a:t>
            </a:r>
            <a:r>
              <a:rPr lang="pt-BR" sz="1800" i="1" dirty="0"/>
              <a:t> point </a:t>
            </a:r>
            <a:r>
              <a:rPr lang="pt-BR" sz="1800" dirty="0"/>
              <a:t>do perfil conservador: [0.3, 0.05, 0.05]</a:t>
            </a:r>
            <a:endParaRPr lang="ar-AE" sz="1800" dirty="0"/>
          </a:p>
          <a:p>
            <a:pPr algn="just">
              <a:spcBef>
                <a:spcPts val="1400"/>
              </a:spcBef>
            </a:pPr>
            <a:endParaRPr lang="pt-BR" sz="1800" dirty="0"/>
          </a:p>
          <a:p>
            <a:pPr algn="just">
              <a:spcBef>
                <a:spcPts val="1400"/>
              </a:spcBef>
            </a:pPr>
            <a:endParaRPr lang="pt-BR" sz="1800" dirty="0"/>
          </a:p>
          <a:p>
            <a:pPr algn="just">
              <a:spcBef>
                <a:spcPts val="1400"/>
              </a:spcBef>
            </a:pPr>
            <a:endParaRPr lang="pt-BR" sz="1800" dirty="0"/>
          </a:p>
          <a:p>
            <a:pPr algn="just">
              <a:spcBef>
                <a:spcPts val="1400"/>
              </a:spcBef>
            </a:pPr>
            <a:endParaRPr lang="pt-BR" sz="18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CDCD572-9A24-529D-7B87-F61501157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345" y="1690688"/>
            <a:ext cx="6041455" cy="48874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90135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6BA08-94E4-C3E1-CA50-DBD46ADF0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BFF07-A013-D317-EFEA-B813F13B1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Desenvolvimento</a:t>
            </a:r>
            <a:br>
              <a:rPr lang="pt-BR" dirty="0">
                <a:highlight>
                  <a:srgbClr val="FFFF00"/>
                </a:highlight>
              </a:rPr>
            </a:br>
            <a:r>
              <a:rPr lang="pt-BR" sz="3600" dirty="0" err="1">
                <a:solidFill>
                  <a:schemeClr val="bg1">
                    <a:lumMod val="50000"/>
                  </a:schemeClr>
                </a:solidFill>
              </a:rPr>
              <a:t>Backtest</a:t>
            </a:r>
            <a:endParaRPr lang="pt-BR" sz="3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A7F8A7E3-C152-A275-D29A-550AFD53DD1A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FB14F16-5A34-F298-CFEA-F0E37F01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28</a:t>
            </a:fld>
            <a:endParaRPr lang="pt-BR"/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97E70F95-B63E-70BE-AACD-5FD130984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484069"/>
              </p:ext>
            </p:extLst>
          </p:nvPr>
        </p:nvGraphicFramePr>
        <p:xfrm>
          <a:off x="1794192" y="2983386"/>
          <a:ext cx="8352160" cy="3612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49770">
                  <a:extLst>
                    <a:ext uri="{9D8B030D-6E8A-4147-A177-3AD203B41FA5}">
                      <a16:colId xmlns:a16="http://schemas.microsoft.com/office/drawing/2014/main" val="4292970668"/>
                    </a:ext>
                  </a:extLst>
                </a:gridCol>
                <a:gridCol w="4102390">
                  <a:extLst>
                    <a:ext uri="{9D8B030D-6E8A-4147-A177-3AD203B41FA5}">
                      <a16:colId xmlns:a16="http://schemas.microsoft.com/office/drawing/2014/main" val="136555977"/>
                    </a:ext>
                  </a:extLst>
                </a:gridCol>
              </a:tblGrid>
              <a:tr h="339912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pt-BR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pt-BR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2903248"/>
                  </a:ext>
                </a:extLst>
              </a:tr>
              <a:tr h="25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>
                          <a:solidFill>
                            <a:schemeClr val="tx1"/>
                          </a:solidFill>
                          <a:effectLst/>
                          <a:latin typeface="Arial (Corpo)"/>
                          <a:ea typeface="Times New Roman" panose="02020603050405020304" pitchFamily="18" charset="0"/>
                        </a:rPr>
                        <a:t>Carteira arrojada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>
                          <a:effectLst/>
                        </a:rPr>
                        <a:t>Carteira conservadora</a:t>
                      </a:r>
                      <a:endParaRPr lang="pt-BR" sz="14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942118"/>
                  </a:ext>
                </a:extLst>
              </a:tr>
            </a:tbl>
          </a:graphicData>
        </a:graphic>
      </p:graphicFrame>
      <p:pic>
        <p:nvPicPr>
          <p:cNvPr id="15" name="Imagem 14" descr="Gráfico, Gráfico de linhas, Histograma&#10;&#10;O conteúdo gerado por IA pode estar incorreto.">
            <a:extLst>
              <a:ext uri="{FF2B5EF4-FFF2-40B4-BE49-F238E27FC236}">
                <a16:creationId xmlns:a16="http://schemas.microsoft.com/office/drawing/2014/main" id="{823735E6-D397-1924-7AED-FBD2216221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481" y="3192369"/>
            <a:ext cx="3967308" cy="3060741"/>
          </a:xfrm>
          <a:prstGeom prst="rect">
            <a:avLst/>
          </a:prstGeom>
        </p:spPr>
      </p:pic>
      <p:pic>
        <p:nvPicPr>
          <p:cNvPr id="17" name="Imagem 16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9F41B094-6BC9-9BEC-3EF5-E119A6205D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192368"/>
            <a:ext cx="3953736" cy="3060742"/>
          </a:xfrm>
          <a:prstGeom prst="rect">
            <a:avLst/>
          </a:prstGeom>
        </p:spPr>
      </p:pic>
      <p:sp>
        <p:nvSpPr>
          <p:cNvPr id="18" name="Espaço Reservado para Conteúdo 2">
            <a:extLst>
              <a:ext uri="{FF2B5EF4-FFF2-40B4-BE49-F238E27FC236}">
                <a16:creationId xmlns:a16="http://schemas.microsoft.com/office/drawing/2014/main" id="{3C222B80-9867-7040-4756-57F57FB60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289" y="1690687"/>
            <a:ext cx="4560639" cy="1167095"/>
          </a:xfrm>
        </p:spPr>
        <p:txBody>
          <a:bodyPr>
            <a:noAutofit/>
          </a:bodyPr>
          <a:lstStyle/>
          <a:p>
            <a:pPr algn="just">
              <a:spcBef>
                <a:spcPts val="1400"/>
              </a:spcBef>
            </a:pPr>
            <a:r>
              <a:rPr lang="pt-BR" sz="1800" b="1" dirty="0"/>
              <a:t>Ibovespa: </a:t>
            </a:r>
            <a:r>
              <a:rPr lang="pt-BR" sz="1800" dirty="0"/>
              <a:t>156,42%</a:t>
            </a:r>
          </a:p>
          <a:p>
            <a:pPr algn="just">
              <a:spcBef>
                <a:spcPts val="1400"/>
              </a:spcBef>
            </a:pPr>
            <a:r>
              <a:rPr lang="pt-BR" sz="1800" b="1" dirty="0"/>
              <a:t>Carteira arrojada: </a:t>
            </a:r>
            <a:r>
              <a:rPr lang="pt-BR" sz="1800" dirty="0"/>
              <a:t>408,90%</a:t>
            </a:r>
          </a:p>
          <a:p>
            <a:pPr algn="just">
              <a:spcBef>
                <a:spcPts val="1400"/>
              </a:spcBef>
            </a:pPr>
            <a:r>
              <a:rPr lang="pt-BR" sz="1800" b="1" dirty="0"/>
              <a:t>Carteira conservadora: </a:t>
            </a:r>
            <a:r>
              <a:rPr lang="pt-BR" sz="1800" dirty="0"/>
              <a:t>432, 94% </a:t>
            </a:r>
          </a:p>
          <a:p>
            <a:pPr algn="just">
              <a:spcBef>
                <a:spcPts val="1400"/>
              </a:spcBef>
            </a:pPr>
            <a:endParaRPr lang="pt-BR" sz="1800" dirty="0"/>
          </a:p>
          <a:p>
            <a:pPr marL="0" indent="0">
              <a:buNone/>
            </a:pPr>
            <a:endParaRPr lang="pt-BR" sz="2400" dirty="0"/>
          </a:p>
          <a:p>
            <a:endParaRPr lang="pt-BR" sz="2400" dirty="0"/>
          </a:p>
          <a:p>
            <a:pPr algn="just">
              <a:spcBef>
                <a:spcPts val="1400"/>
              </a:spcBef>
            </a:pPr>
            <a:endParaRPr lang="pt-BR" sz="24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95260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2176-71D3-2FDB-ED45-C08BBE0A6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756E92-A549-9069-30DF-56A8E92AB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766218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Demonstração</a:t>
            </a:r>
            <a:endParaRPr lang="pt-BR" sz="3800" dirty="0"/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E9527DC1-9261-062D-AAB0-86E91BBFAE17}"/>
              </a:ext>
            </a:extLst>
          </p:cNvPr>
          <p:cNvSpPr/>
          <p:nvPr/>
        </p:nvSpPr>
        <p:spPr>
          <a:xfrm>
            <a:off x="1399504" y="6753253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04A299-D957-5DD0-7C63-25E214E2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492875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80580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38A0FA-C780-42E0-8795-CA1825163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1338"/>
            <a:ext cx="10515600" cy="2056588"/>
          </a:xfrm>
        </p:spPr>
        <p:txBody>
          <a:bodyPr>
            <a:normAutofit/>
          </a:bodyPr>
          <a:lstStyle/>
          <a:p>
            <a:pPr algn="ctr"/>
            <a:r>
              <a:rPr lang="pt-BR" sz="6000" b="1" dirty="0"/>
              <a:t>Muito obrigado!</a:t>
            </a:r>
            <a:endParaRPr lang="pt-BR" sz="4900" dirty="0"/>
          </a:p>
        </p:txBody>
      </p:sp>
      <p:sp>
        <p:nvSpPr>
          <p:cNvPr id="5" name="Retângulo: Cantos Superiores Arredondados 4">
            <a:extLst>
              <a:ext uri="{FF2B5EF4-FFF2-40B4-BE49-F238E27FC236}">
                <a16:creationId xmlns:a16="http://schemas.microsoft.com/office/drawing/2014/main" id="{5EAE89C7-C9A4-4D03-ABCD-CBF7CA673DDF}"/>
              </a:ext>
            </a:extLst>
          </p:cNvPr>
          <p:cNvSpPr/>
          <p:nvPr/>
        </p:nvSpPr>
        <p:spPr>
          <a:xfrm>
            <a:off x="1399504" y="6766132"/>
            <a:ext cx="9392991" cy="104747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3E19B60-A7B8-4C54-BAF1-D661FCCE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895" y="6505754"/>
            <a:ext cx="2743200" cy="365125"/>
          </a:xfrm>
        </p:spPr>
        <p:txBody>
          <a:bodyPr/>
          <a:lstStyle/>
          <a:p>
            <a:fld id="{7288BBA3-2AF6-4638-8DDB-B8126A63A035}" type="slidenum">
              <a:rPr lang="pt-BR" smtClean="0"/>
              <a:t>30</a:t>
            </a:fld>
            <a:endParaRPr lang="pt-BR"/>
          </a:p>
        </p:txBody>
      </p:sp>
      <p:sp>
        <p:nvSpPr>
          <p:cNvPr id="8" name="Retângulo: Cantos Superiores Arredondados 7">
            <a:extLst>
              <a:ext uri="{FF2B5EF4-FFF2-40B4-BE49-F238E27FC236}">
                <a16:creationId xmlns:a16="http://schemas.microsoft.com/office/drawing/2014/main" id="{A1D91FF8-5898-4C3F-8AEF-A9A9DD5C3C14}"/>
              </a:ext>
            </a:extLst>
          </p:cNvPr>
          <p:cNvSpPr/>
          <p:nvPr/>
        </p:nvSpPr>
        <p:spPr>
          <a:xfrm>
            <a:off x="4624066" y="3056896"/>
            <a:ext cx="2943865" cy="45719"/>
          </a:xfrm>
          <a:prstGeom prst="round2Same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13593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7694</TotalTime>
  <Words>1457</Words>
  <Application>Microsoft Office PowerPoint</Application>
  <PresentationFormat>Widescreen</PresentationFormat>
  <Paragraphs>371</Paragraphs>
  <Slides>30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7" baseType="lpstr">
      <vt:lpstr>Arial</vt:lpstr>
      <vt:lpstr>Arial (Corpo)</vt:lpstr>
      <vt:lpstr>Calibri</vt:lpstr>
      <vt:lpstr>Calibri Light</vt:lpstr>
      <vt:lpstr>Cambria Math</vt:lpstr>
      <vt:lpstr>Times New Roman</vt:lpstr>
      <vt:lpstr>Tema do Office</vt:lpstr>
      <vt:lpstr>Otimização de Portfólios Personalizados com Algoritmo Genético Multiobjetivo</vt:lpstr>
      <vt:lpstr>Roteiro</vt:lpstr>
      <vt:lpstr>Introdução (1/2)</vt:lpstr>
      <vt:lpstr>Introdução (2/2)</vt:lpstr>
      <vt:lpstr>Objetivos (1/2)</vt:lpstr>
      <vt:lpstr>Objetivos (2/2)</vt:lpstr>
      <vt:lpstr>Desenvolvimento Modelo de Otimização</vt:lpstr>
      <vt:lpstr>Desenvolvimento Modelo de Otimização</vt:lpstr>
      <vt:lpstr>Desenvolvimento Modelo de Otimização</vt:lpstr>
      <vt:lpstr>Desenvolvimento Banco de dados</vt:lpstr>
      <vt:lpstr>Desenvolvimento Banco de dados</vt:lpstr>
      <vt:lpstr>Desenvolvimento Extração de dados (1/2)</vt:lpstr>
      <vt:lpstr>Desenvolvimento Extração de dados (2/2)</vt:lpstr>
      <vt:lpstr>Desenvolvimento Implementação do AGMO</vt:lpstr>
      <vt:lpstr>Desenvolvimento Preparação dos dados (1/3)</vt:lpstr>
      <vt:lpstr>Desenvolvimento Preparação dos dados (2/3)</vt:lpstr>
      <vt:lpstr>Desenvolvimento Preparação dos dados (3/3)</vt:lpstr>
      <vt:lpstr>Desenvolvimento Formulação multiobjetivo do problema</vt:lpstr>
      <vt:lpstr>Desenvolvimento Configuração do R-NSGA-II</vt:lpstr>
      <vt:lpstr>Desenvolvimento Configuração do R-NSGA-II</vt:lpstr>
      <vt:lpstr>Desenvolvimento Cruzamento</vt:lpstr>
      <vt:lpstr>Desenvolvimento Mutação</vt:lpstr>
      <vt:lpstr>Desenvolvimento Mutação</vt:lpstr>
      <vt:lpstr>Desenvolvimento Definição dos hiperparâmetros</vt:lpstr>
      <vt:lpstr>Desenvolvimento Resultados</vt:lpstr>
      <vt:lpstr>Apresentação do PowerPoint</vt:lpstr>
      <vt:lpstr>Desenvolvimento Resultados</vt:lpstr>
      <vt:lpstr>Desenvolvimento Backtest</vt:lpstr>
      <vt:lpstr>Demonstração</vt:lpstr>
      <vt:lpstr>Muito 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Juan Carlos Jacintho</dc:creator>
  <cp:lastModifiedBy>Bruno Ferrari Vincensi</cp:lastModifiedBy>
  <cp:revision>158</cp:revision>
  <dcterms:created xsi:type="dcterms:W3CDTF">2018-10-06T14:09:27Z</dcterms:created>
  <dcterms:modified xsi:type="dcterms:W3CDTF">2025-12-08T02:19:56Z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c28577e-0e52-49e2-b52e-02bb75ccb8f1_Enabled">
    <vt:lpwstr>true</vt:lpwstr>
  </property>
  <property fmtid="{D5CDD505-2E9C-101B-9397-08002B2CF9AE}" pid="3" name="MSIP_Label_8c28577e-0e52-49e2-b52e-02bb75ccb8f1_SetDate">
    <vt:lpwstr>2024-05-23T13:20:22Z</vt:lpwstr>
  </property>
  <property fmtid="{D5CDD505-2E9C-101B-9397-08002B2CF9AE}" pid="4" name="MSIP_Label_8c28577e-0e52-49e2-b52e-02bb75ccb8f1_Method">
    <vt:lpwstr>Standard</vt:lpwstr>
  </property>
  <property fmtid="{D5CDD505-2E9C-101B-9397-08002B2CF9AE}" pid="5" name="MSIP_Label_8c28577e-0e52-49e2-b52e-02bb75ccb8f1_Name">
    <vt:lpwstr>defa4170-0d19-0005-0004-bc88714345d2</vt:lpwstr>
  </property>
  <property fmtid="{D5CDD505-2E9C-101B-9397-08002B2CF9AE}" pid="6" name="MSIP_Label_8c28577e-0e52-49e2-b52e-02bb75ccb8f1_SiteId">
    <vt:lpwstr>0c2d222a-ecda-4b70-960a-acef6ced3052</vt:lpwstr>
  </property>
  <property fmtid="{D5CDD505-2E9C-101B-9397-08002B2CF9AE}" pid="7" name="MSIP_Label_8c28577e-0e52-49e2-b52e-02bb75ccb8f1_ActionId">
    <vt:lpwstr>6ba84654-57a9-4fe4-9506-168f768f8603</vt:lpwstr>
  </property>
  <property fmtid="{D5CDD505-2E9C-101B-9397-08002B2CF9AE}" pid="8" name="MSIP_Label_8c28577e-0e52-49e2-b52e-02bb75ccb8f1_ContentBits">
    <vt:lpwstr>0</vt:lpwstr>
  </property>
</Properties>
</file>